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sldIdLst>
    <p:sldId id="279" r:id="rId2"/>
    <p:sldId id="256" r:id="rId3"/>
    <p:sldId id="271" r:id="rId4"/>
    <p:sldId id="257" r:id="rId5"/>
    <p:sldId id="272" r:id="rId6"/>
    <p:sldId id="258" r:id="rId7"/>
    <p:sldId id="273" r:id="rId8"/>
    <p:sldId id="275" r:id="rId9"/>
    <p:sldId id="276" r:id="rId10"/>
    <p:sldId id="259" r:id="rId11"/>
    <p:sldId id="260" r:id="rId12"/>
    <p:sldId id="261" r:id="rId13"/>
    <p:sldId id="262" r:id="rId14"/>
    <p:sldId id="277" r:id="rId15"/>
    <p:sldId id="263" r:id="rId16"/>
    <p:sldId id="278" r:id="rId17"/>
    <p:sldId id="264"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BA00"/>
    <a:srgbClr val="C9C081"/>
    <a:srgbClr val="88E961"/>
    <a:srgbClr val="FFB900"/>
    <a:srgbClr val="00A4EF"/>
    <a:srgbClr val="F25022"/>
    <a:srgbClr val="323130"/>
    <a:srgbClr val="005A9E"/>
    <a:srgbClr val="7CB9CE"/>
    <a:srgbClr val="3F2A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B1D05C-29A2-4B23-8796-DF9EC02987E1}" type="doc">
      <dgm:prSet loTypeId="urn:microsoft.com/office/officeart/2011/layout/TabList" loCatId="list" qsTypeId="urn:microsoft.com/office/officeart/2005/8/quickstyle/simple1" qsCatId="simple" csTypeId="urn:microsoft.com/office/officeart/2005/8/colors/accent3_2" csCatId="accent3" phldr="1"/>
      <dgm:spPr/>
      <dgm:t>
        <a:bodyPr/>
        <a:lstStyle/>
        <a:p>
          <a:endParaRPr lang="en-IN"/>
        </a:p>
      </dgm:t>
    </dgm:pt>
    <dgm:pt modelId="{135F56DA-4B6E-4A62-809B-D89F14AD57ED}">
      <dgm:prSet phldrT="[Text]" custT="1"/>
      <dgm:spPr/>
      <dgm:t>
        <a:bodyPr/>
        <a:lstStyle/>
        <a:p>
          <a:r>
            <a:rPr lang="en-US" sz="900" dirty="0"/>
            <a:t>Purchase Date</a:t>
          </a:r>
          <a:endParaRPr lang="en-IN" sz="900" dirty="0"/>
        </a:p>
      </dgm:t>
    </dgm:pt>
    <dgm:pt modelId="{1D9911D8-C73D-476A-A9C4-1CBA659E3D24}" type="parTrans" cxnId="{EFEFC200-D10C-4260-BF6B-5F055AE88842}">
      <dgm:prSet/>
      <dgm:spPr/>
      <dgm:t>
        <a:bodyPr/>
        <a:lstStyle/>
        <a:p>
          <a:endParaRPr lang="en-IN" sz="1050"/>
        </a:p>
      </dgm:t>
    </dgm:pt>
    <dgm:pt modelId="{5B560F72-45EB-4303-95FC-19989F4DF150}" type="sibTrans" cxnId="{EFEFC200-D10C-4260-BF6B-5F055AE88842}">
      <dgm:prSet/>
      <dgm:spPr/>
      <dgm:t>
        <a:bodyPr/>
        <a:lstStyle/>
        <a:p>
          <a:endParaRPr lang="en-IN" sz="1050"/>
        </a:p>
      </dgm:t>
    </dgm:pt>
    <dgm:pt modelId="{9258B1AA-7C0F-4D27-BDAF-593151DD2AFE}">
      <dgm:prSet phldrT="[Text]" custT="1"/>
      <dgm:spPr/>
      <dgm:t>
        <a:bodyPr/>
        <a:lstStyle/>
        <a:p>
          <a:r>
            <a:rPr lang="en-US" sz="900" dirty="0"/>
            <a:t>Customer ID</a:t>
          </a:r>
          <a:endParaRPr lang="en-IN" sz="900" dirty="0"/>
        </a:p>
      </dgm:t>
    </dgm:pt>
    <dgm:pt modelId="{F100BAD0-1C33-47BD-A631-5D42E0CF49C6}" type="parTrans" cxnId="{F40C5C8B-9A97-409B-AD7F-6753DE8D4E50}">
      <dgm:prSet/>
      <dgm:spPr/>
      <dgm:t>
        <a:bodyPr/>
        <a:lstStyle/>
        <a:p>
          <a:endParaRPr lang="en-IN" sz="1050"/>
        </a:p>
      </dgm:t>
    </dgm:pt>
    <dgm:pt modelId="{31477538-D029-44C2-83F2-D8E9B997E774}" type="sibTrans" cxnId="{F40C5C8B-9A97-409B-AD7F-6753DE8D4E50}">
      <dgm:prSet/>
      <dgm:spPr/>
      <dgm:t>
        <a:bodyPr/>
        <a:lstStyle/>
        <a:p>
          <a:endParaRPr lang="en-IN" sz="1050"/>
        </a:p>
      </dgm:t>
    </dgm:pt>
    <dgm:pt modelId="{FCF184A6-24CA-439F-A932-1085FD0B763B}">
      <dgm:prSet phldrT="[Text]" custT="1"/>
      <dgm:spPr/>
      <dgm:t>
        <a:bodyPr/>
        <a:lstStyle/>
        <a:p>
          <a:r>
            <a:rPr lang="en-US" sz="900" dirty="0">
              <a:solidFill>
                <a:schemeClr val="bg1"/>
              </a:solidFill>
            </a:rPr>
            <a:t>Unique Identifier a assigned to each customer (Str)</a:t>
          </a:r>
          <a:endParaRPr lang="en-IN" sz="900" dirty="0">
            <a:solidFill>
              <a:schemeClr val="bg1"/>
            </a:solidFill>
          </a:endParaRPr>
        </a:p>
      </dgm:t>
    </dgm:pt>
    <dgm:pt modelId="{C3A623C7-FE1F-400E-A688-DD082F6ECFF8}" type="parTrans" cxnId="{A2B60440-A941-40C0-9FD1-330666C7A0CA}">
      <dgm:prSet/>
      <dgm:spPr/>
      <dgm:t>
        <a:bodyPr/>
        <a:lstStyle/>
        <a:p>
          <a:endParaRPr lang="en-IN" sz="1050"/>
        </a:p>
      </dgm:t>
    </dgm:pt>
    <dgm:pt modelId="{0B03AB89-114D-4E26-920B-0A1CA4800F6D}" type="sibTrans" cxnId="{A2B60440-A941-40C0-9FD1-330666C7A0CA}">
      <dgm:prSet/>
      <dgm:spPr/>
      <dgm:t>
        <a:bodyPr/>
        <a:lstStyle/>
        <a:p>
          <a:endParaRPr lang="en-IN" sz="1050"/>
        </a:p>
      </dgm:t>
    </dgm:pt>
    <dgm:pt modelId="{0D336921-D3F7-4284-BB27-47F4985DA7C0}">
      <dgm:prSet phldrT="[Text]" custT="1"/>
      <dgm:spPr/>
      <dgm:t>
        <a:bodyPr/>
        <a:lstStyle/>
        <a:p>
          <a:r>
            <a:rPr lang="en-US" sz="900" dirty="0">
              <a:solidFill>
                <a:schemeClr val="bg1"/>
              </a:solidFill>
            </a:rPr>
            <a:t>Gender of the Customer (Boolean)</a:t>
          </a:r>
          <a:endParaRPr lang="en-IN" sz="900" dirty="0">
            <a:solidFill>
              <a:schemeClr val="bg1"/>
            </a:solidFill>
          </a:endParaRPr>
        </a:p>
      </dgm:t>
    </dgm:pt>
    <dgm:pt modelId="{3D1CF036-13D3-4ED6-8D74-CC9511E362B7}" type="parTrans" cxnId="{C86FF457-4464-4339-93DC-A9E8CAAA0DF8}">
      <dgm:prSet/>
      <dgm:spPr/>
      <dgm:t>
        <a:bodyPr/>
        <a:lstStyle/>
        <a:p>
          <a:endParaRPr lang="en-IN" sz="1050"/>
        </a:p>
      </dgm:t>
    </dgm:pt>
    <dgm:pt modelId="{EBFD7A5B-7C63-4C97-8282-DFE70252082D}" type="sibTrans" cxnId="{C86FF457-4464-4339-93DC-A9E8CAAA0DF8}">
      <dgm:prSet/>
      <dgm:spPr/>
      <dgm:t>
        <a:bodyPr/>
        <a:lstStyle/>
        <a:p>
          <a:endParaRPr lang="en-IN" sz="1050"/>
        </a:p>
      </dgm:t>
    </dgm:pt>
    <dgm:pt modelId="{5881648F-3C80-428A-A82C-BD949F8A0424}">
      <dgm:prSet phldrT="[Text]" custT="1"/>
      <dgm:spPr/>
      <dgm:t>
        <a:bodyPr/>
        <a:lstStyle/>
        <a:p>
          <a:r>
            <a:rPr lang="en-US" sz="900" dirty="0"/>
            <a:t>Age</a:t>
          </a:r>
          <a:endParaRPr lang="en-IN" sz="900" dirty="0"/>
        </a:p>
      </dgm:t>
    </dgm:pt>
    <dgm:pt modelId="{C3E8F8B2-96F9-4E51-95D1-BAF21F633BAC}" type="parTrans" cxnId="{FB4DC63C-EE9F-49CD-AA10-26F9033DD332}">
      <dgm:prSet/>
      <dgm:spPr/>
      <dgm:t>
        <a:bodyPr/>
        <a:lstStyle/>
        <a:p>
          <a:endParaRPr lang="en-IN" sz="1050"/>
        </a:p>
      </dgm:t>
    </dgm:pt>
    <dgm:pt modelId="{23EAD9AE-4D44-4BA0-AB58-9B31737546FD}" type="sibTrans" cxnId="{FB4DC63C-EE9F-49CD-AA10-26F9033DD332}">
      <dgm:prSet/>
      <dgm:spPr/>
      <dgm:t>
        <a:bodyPr/>
        <a:lstStyle/>
        <a:p>
          <a:endParaRPr lang="en-IN" sz="1050"/>
        </a:p>
      </dgm:t>
    </dgm:pt>
    <dgm:pt modelId="{0179438F-20AA-473D-8DF8-29E153793383}">
      <dgm:prSet phldrT="[Text]" custT="1"/>
      <dgm:spPr/>
      <dgm:t>
        <a:bodyPr/>
        <a:lstStyle/>
        <a:p>
          <a:r>
            <a:rPr lang="en-US" sz="900" dirty="0"/>
            <a:t>Product Category</a:t>
          </a:r>
          <a:endParaRPr lang="en-IN" sz="900" dirty="0"/>
        </a:p>
      </dgm:t>
    </dgm:pt>
    <dgm:pt modelId="{0ECA88A0-1AB8-4DCE-B6E1-4C1E26981439}" type="parTrans" cxnId="{9CFEFF8E-F2F2-47A0-8456-3BD332F49E90}">
      <dgm:prSet/>
      <dgm:spPr/>
      <dgm:t>
        <a:bodyPr/>
        <a:lstStyle/>
        <a:p>
          <a:endParaRPr lang="en-IN" sz="1050"/>
        </a:p>
      </dgm:t>
    </dgm:pt>
    <dgm:pt modelId="{DEC495C1-21D4-40D8-8FE1-57A7C6415E5F}" type="sibTrans" cxnId="{9CFEFF8E-F2F2-47A0-8456-3BD332F49E90}">
      <dgm:prSet/>
      <dgm:spPr/>
      <dgm:t>
        <a:bodyPr/>
        <a:lstStyle/>
        <a:p>
          <a:endParaRPr lang="en-IN" sz="1050"/>
        </a:p>
      </dgm:t>
    </dgm:pt>
    <dgm:pt modelId="{18F1367A-7B13-4AA5-9F63-4C7E2D3FCD03}">
      <dgm:prSet phldrT="[Text]" custT="1"/>
      <dgm:spPr/>
      <dgm:t>
        <a:bodyPr/>
        <a:lstStyle/>
        <a:p>
          <a:r>
            <a:rPr lang="en-US" sz="900" dirty="0"/>
            <a:t>Payment Method</a:t>
          </a:r>
          <a:endParaRPr lang="en-IN" sz="900" dirty="0"/>
        </a:p>
      </dgm:t>
    </dgm:pt>
    <dgm:pt modelId="{BD7634C3-FDDB-4722-89FB-6ABFA677FD60}" type="parTrans" cxnId="{6120985E-BF7E-4660-ACAC-54427682170B}">
      <dgm:prSet/>
      <dgm:spPr/>
      <dgm:t>
        <a:bodyPr/>
        <a:lstStyle/>
        <a:p>
          <a:endParaRPr lang="en-IN" sz="1050"/>
        </a:p>
      </dgm:t>
    </dgm:pt>
    <dgm:pt modelId="{AD02C9B0-F3B9-44B2-B07A-0235DA00E896}" type="sibTrans" cxnId="{6120985E-BF7E-4660-ACAC-54427682170B}">
      <dgm:prSet/>
      <dgm:spPr/>
      <dgm:t>
        <a:bodyPr/>
        <a:lstStyle/>
        <a:p>
          <a:endParaRPr lang="en-IN" sz="1050"/>
        </a:p>
      </dgm:t>
    </dgm:pt>
    <dgm:pt modelId="{BD72CB0E-03DF-47F3-9867-A3F031D35C39}">
      <dgm:prSet phldrT="[Text]" custT="1"/>
      <dgm:spPr/>
      <dgm:t>
        <a:bodyPr/>
        <a:lstStyle/>
        <a:p>
          <a:r>
            <a:rPr lang="en-US" sz="900" dirty="0">
              <a:solidFill>
                <a:schemeClr val="bg1"/>
              </a:solidFill>
            </a:rPr>
            <a:t>Date On Which the Transaction was completed (Date &amp; Time)</a:t>
          </a:r>
          <a:endParaRPr lang="en-IN" sz="900" dirty="0">
            <a:solidFill>
              <a:schemeClr val="bg1"/>
            </a:solidFill>
          </a:endParaRPr>
        </a:p>
      </dgm:t>
    </dgm:pt>
    <dgm:pt modelId="{DD4E7F06-C05E-4E6F-9A3B-295B4A8F3CBD}" type="parTrans" cxnId="{9B5C5DA5-BBF0-43FF-B131-8DCF8298B043}">
      <dgm:prSet/>
      <dgm:spPr/>
      <dgm:t>
        <a:bodyPr/>
        <a:lstStyle/>
        <a:p>
          <a:endParaRPr lang="en-IN" sz="1050"/>
        </a:p>
      </dgm:t>
    </dgm:pt>
    <dgm:pt modelId="{E58267A0-2F8D-43FA-8AAD-4FCEF1C29ACB}" type="sibTrans" cxnId="{9B5C5DA5-BBF0-43FF-B131-8DCF8298B043}">
      <dgm:prSet/>
      <dgm:spPr/>
      <dgm:t>
        <a:bodyPr/>
        <a:lstStyle/>
        <a:p>
          <a:endParaRPr lang="en-IN" sz="1050"/>
        </a:p>
      </dgm:t>
    </dgm:pt>
    <dgm:pt modelId="{637C2E06-BA35-4CC3-991F-4AB9A77B2D15}">
      <dgm:prSet phldrT="[Text]" custT="1"/>
      <dgm:spPr/>
      <dgm:t>
        <a:bodyPr/>
        <a:lstStyle/>
        <a:p>
          <a:r>
            <a:rPr lang="en-US" sz="900" dirty="0"/>
            <a:t>Gender</a:t>
          </a:r>
          <a:endParaRPr lang="en-IN" sz="900" dirty="0"/>
        </a:p>
      </dgm:t>
    </dgm:pt>
    <dgm:pt modelId="{E0467849-C8D4-4EE5-A33D-63FDE6B5835C}" type="parTrans" cxnId="{A4CBA136-43E4-47B2-83DE-1333C83F84EA}">
      <dgm:prSet/>
      <dgm:spPr/>
      <dgm:t>
        <a:bodyPr/>
        <a:lstStyle/>
        <a:p>
          <a:endParaRPr lang="en-IN" sz="1050"/>
        </a:p>
      </dgm:t>
    </dgm:pt>
    <dgm:pt modelId="{EF272D1E-123B-434B-8782-529854AE8B84}" type="sibTrans" cxnId="{A4CBA136-43E4-47B2-83DE-1333C83F84EA}">
      <dgm:prSet/>
      <dgm:spPr/>
      <dgm:t>
        <a:bodyPr/>
        <a:lstStyle/>
        <a:p>
          <a:endParaRPr lang="en-IN" sz="1050"/>
        </a:p>
      </dgm:t>
    </dgm:pt>
    <dgm:pt modelId="{DEB5734B-6A66-4C0A-A0DF-7287162FC4F2}">
      <dgm:prSet phldrT="[Text]" custT="1"/>
      <dgm:spPr/>
      <dgm:t>
        <a:bodyPr/>
        <a:lstStyle/>
        <a:p>
          <a:r>
            <a:rPr lang="en-US" sz="900" dirty="0">
              <a:solidFill>
                <a:schemeClr val="bg1"/>
              </a:solidFill>
            </a:rPr>
            <a:t>Country where the Transaction occurred (Str)</a:t>
          </a:r>
          <a:endParaRPr lang="en-IN" sz="900" dirty="0">
            <a:solidFill>
              <a:schemeClr val="bg1"/>
            </a:solidFill>
          </a:endParaRPr>
        </a:p>
      </dgm:t>
    </dgm:pt>
    <dgm:pt modelId="{1498676E-165A-4BC2-B70C-C732E6EB9C21}" type="parTrans" cxnId="{59111CAA-3DAC-4511-8661-C18A27BCE2CA}">
      <dgm:prSet/>
      <dgm:spPr/>
      <dgm:t>
        <a:bodyPr/>
        <a:lstStyle/>
        <a:p>
          <a:endParaRPr lang="en-IN" sz="1050"/>
        </a:p>
      </dgm:t>
    </dgm:pt>
    <dgm:pt modelId="{875A9329-6D9E-4993-98E8-D2F45A0B95DF}" type="sibTrans" cxnId="{59111CAA-3DAC-4511-8661-C18A27BCE2CA}">
      <dgm:prSet/>
      <dgm:spPr/>
      <dgm:t>
        <a:bodyPr/>
        <a:lstStyle/>
        <a:p>
          <a:endParaRPr lang="en-IN" sz="1050"/>
        </a:p>
      </dgm:t>
    </dgm:pt>
    <dgm:pt modelId="{BBCD852B-B770-48B8-B64F-6A32E39CFD83}">
      <dgm:prSet phldrT="[Text]" custT="1"/>
      <dgm:spPr/>
      <dgm:t>
        <a:bodyPr/>
        <a:lstStyle/>
        <a:p>
          <a:r>
            <a:rPr lang="en-US" sz="900" dirty="0">
              <a:solidFill>
                <a:schemeClr val="bg1"/>
              </a:solidFill>
            </a:rPr>
            <a:t>Age of the Customer at time of Purchase (Int)</a:t>
          </a:r>
          <a:endParaRPr lang="en-IN" sz="900" dirty="0">
            <a:solidFill>
              <a:schemeClr val="bg1"/>
            </a:solidFill>
          </a:endParaRPr>
        </a:p>
      </dgm:t>
    </dgm:pt>
    <dgm:pt modelId="{0160D0D8-4BF8-494A-B91C-4860AF26D96F}" type="parTrans" cxnId="{82C3021C-9372-456E-A663-6481D08EF63B}">
      <dgm:prSet/>
      <dgm:spPr/>
      <dgm:t>
        <a:bodyPr/>
        <a:lstStyle/>
        <a:p>
          <a:endParaRPr lang="en-IN" sz="1050"/>
        </a:p>
      </dgm:t>
    </dgm:pt>
    <dgm:pt modelId="{4022440D-1247-4BD3-A160-B7ADD997D142}" type="sibTrans" cxnId="{82C3021C-9372-456E-A663-6481D08EF63B}">
      <dgm:prSet/>
      <dgm:spPr/>
      <dgm:t>
        <a:bodyPr/>
        <a:lstStyle/>
        <a:p>
          <a:endParaRPr lang="en-IN" sz="1050"/>
        </a:p>
      </dgm:t>
    </dgm:pt>
    <dgm:pt modelId="{F8DE408D-3DB2-4C61-91C0-9D83842093C6}">
      <dgm:prSet phldrT="[Text]" custT="1"/>
      <dgm:spPr/>
      <dgm:t>
        <a:bodyPr/>
        <a:lstStyle/>
        <a:p>
          <a:r>
            <a:rPr lang="en-US" sz="900" dirty="0"/>
            <a:t>Location</a:t>
          </a:r>
          <a:endParaRPr lang="en-IN" sz="900" dirty="0"/>
        </a:p>
      </dgm:t>
    </dgm:pt>
    <dgm:pt modelId="{563AF7CE-0812-4C9F-B3BC-719C820129D0}" type="parTrans" cxnId="{71D5068E-B74E-43BC-853D-B534DB755561}">
      <dgm:prSet/>
      <dgm:spPr/>
      <dgm:t>
        <a:bodyPr/>
        <a:lstStyle/>
        <a:p>
          <a:endParaRPr lang="en-IN" sz="1050"/>
        </a:p>
      </dgm:t>
    </dgm:pt>
    <dgm:pt modelId="{7BFFF0E1-CA3F-42C2-8C5E-7BEAF4717C5E}" type="sibTrans" cxnId="{71D5068E-B74E-43BC-853D-B534DB755561}">
      <dgm:prSet/>
      <dgm:spPr/>
      <dgm:t>
        <a:bodyPr/>
        <a:lstStyle/>
        <a:p>
          <a:endParaRPr lang="en-IN" sz="1050"/>
        </a:p>
      </dgm:t>
    </dgm:pt>
    <dgm:pt modelId="{F57F8E3D-1414-4087-A873-A8A926D0B72A}">
      <dgm:prSet phldrT="[Text]" custT="1"/>
      <dgm:spPr/>
      <dgm:t>
        <a:bodyPr/>
        <a:lstStyle/>
        <a:p>
          <a:r>
            <a:rPr lang="en-US" sz="900" dirty="0">
              <a:solidFill>
                <a:schemeClr val="bg1"/>
              </a:solidFill>
            </a:rPr>
            <a:t>Category of Product Purchased (Str)</a:t>
          </a:r>
          <a:endParaRPr lang="en-IN" sz="900" dirty="0">
            <a:solidFill>
              <a:schemeClr val="bg1"/>
            </a:solidFill>
          </a:endParaRPr>
        </a:p>
      </dgm:t>
    </dgm:pt>
    <dgm:pt modelId="{4961CD50-1FED-4948-A7C7-B1EBC2FECFC2}" type="parTrans" cxnId="{F5B6A700-3694-49AC-85B5-1E276F2E9493}">
      <dgm:prSet/>
      <dgm:spPr/>
      <dgm:t>
        <a:bodyPr/>
        <a:lstStyle/>
        <a:p>
          <a:endParaRPr lang="en-IN" sz="1050"/>
        </a:p>
      </dgm:t>
    </dgm:pt>
    <dgm:pt modelId="{F9178FC5-0497-488C-839A-42A3EF37F031}" type="sibTrans" cxnId="{F5B6A700-3694-49AC-85B5-1E276F2E9493}">
      <dgm:prSet/>
      <dgm:spPr/>
      <dgm:t>
        <a:bodyPr/>
        <a:lstStyle/>
        <a:p>
          <a:endParaRPr lang="en-IN" sz="1050"/>
        </a:p>
      </dgm:t>
    </dgm:pt>
    <dgm:pt modelId="{E6FD5B02-4801-4A9A-903F-5763531D5CBD}">
      <dgm:prSet phldrT="[Text]" custT="1"/>
      <dgm:spPr/>
      <dgm:t>
        <a:bodyPr/>
        <a:lstStyle/>
        <a:p>
          <a:r>
            <a:rPr lang="en-US" sz="900" dirty="0"/>
            <a:t>Device Used</a:t>
          </a:r>
          <a:endParaRPr lang="en-IN" sz="900" dirty="0"/>
        </a:p>
      </dgm:t>
    </dgm:pt>
    <dgm:pt modelId="{C5EDFE01-24CA-4CF4-82D9-0973B42EACB6}" type="parTrans" cxnId="{9E0E979F-BA24-4493-8877-703724CB3873}">
      <dgm:prSet/>
      <dgm:spPr/>
      <dgm:t>
        <a:bodyPr/>
        <a:lstStyle/>
        <a:p>
          <a:endParaRPr lang="en-IN" sz="1050"/>
        </a:p>
      </dgm:t>
    </dgm:pt>
    <dgm:pt modelId="{295B2104-8483-4DB0-852A-F5FB49E4EE85}" type="sibTrans" cxnId="{9E0E979F-BA24-4493-8877-703724CB3873}">
      <dgm:prSet/>
      <dgm:spPr/>
      <dgm:t>
        <a:bodyPr/>
        <a:lstStyle/>
        <a:p>
          <a:endParaRPr lang="en-IN" sz="1050"/>
        </a:p>
      </dgm:t>
    </dgm:pt>
    <dgm:pt modelId="{1DDD346E-8D6F-477D-846F-1DB83964B515}">
      <dgm:prSet phldrT="[Text]" custT="1"/>
      <dgm:spPr/>
      <dgm:t>
        <a:bodyPr/>
        <a:lstStyle/>
        <a:p>
          <a:r>
            <a:rPr lang="en-US" sz="900" dirty="0">
              <a:solidFill>
                <a:schemeClr val="bg1"/>
              </a:solidFill>
            </a:rPr>
            <a:t>Device used to complete the purchase (Str)</a:t>
          </a:r>
          <a:endParaRPr lang="en-IN" sz="900" dirty="0">
            <a:solidFill>
              <a:schemeClr val="bg1"/>
            </a:solidFill>
          </a:endParaRPr>
        </a:p>
      </dgm:t>
    </dgm:pt>
    <dgm:pt modelId="{2885E4A8-CAED-418E-AF3C-46B1ACB87E3C}" type="parTrans" cxnId="{7F888B6D-BB8B-49EA-B0F5-D07BFE613D9B}">
      <dgm:prSet/>
      <dgm:spPr/>
      <dgm:t>
        <a:bodyPr/>
        <a:lstStyle/>
        <a:p>
          <a:endParaRPr lang="en-IN" sz="1050"/>
        </a:p>
      </dgm:t>
    </dgm:pt>
    <dgm:pt modelId="{C062D46C-5B1E-49C9-97AA-D4EA18E1245C}" type="sibTrans" cxnId="{7F888B6D-BB8B-49EA-B0F5-D07BFE613D9B}">
      <dgm:prSet/>
      <dgm:spPr/>
      <dgm:t>
        <a:bodyPr/>
        <a:lstStyle/>
        <a:p>
          <a:endParaRPr lang="en-IN" sz="1050"/>
        </a:p>
      </dgm:t>
    </dgm:pt>
    <dgm:pt modelId="{D8AF10FF-AA56-4B57-96F3-F8AB7E8B449C}">
      <dgm:prSet phldrT="[Text]" custT="1"/>
      <dgm:spPr/>
      <dgm:t>
        <a:bodyPr/>
        <a:lstStyle/>
        <a:p>
          <a:r>
            <a:rPr lang="en-US" sz="900" dirty="0"/>
            <a:t>Returning Customer</a:t>
          </a:r>
          <a:endParaRPr lang="en-IN" sz="900" dirty="0"/>
        </a:p>
      </dgm:t>
    </dgm:pt>
    <dgm:pt modelId="{F572435C-9B1C-4143-9D0B-BCC4E0154331}" type="parTrans" cxnId="{5F99A914-EF58-473F-B884-E4BB7A81F84B}">
      <dgm:prSet/>
      <dgm:spPr/>
      <dgm:t>
        <a:bodyPr/>
        <a:lstStyle/>
        <a:p>
          <a:endParaRPr lang="en-IN" sz="1050"/>
        </a:p>
      </dgm:t>
    </dgm:pt>
    <dgm:pt modelId="{7757CA96-7167-45AA-A4A1-2A18C7E43C6A}" type="sibTrans" cxnId="{5F99A914-EF58-473F-B884-E4BB7A81F84B}">
      <dgm:prSet/>
      <dgm:spPr/>
      <dgm:t>
        <a:bodyPr/>
        <a:lstStyle/>
        <a:p>
          <a:endParaRPr lang="en-IN" sz="1050"/>
        </a:p>
      </dgm:t>
    </dgm:pt>
    <dgm:pt modelId="{A20865BA-BD88-4C78-9046-CB98E034702A}">
      <dgm:prSet phldrT="[Text]" custT="1"/>
      <dgm:spPr/>
      <dgm:t>
        <a:bodyPr/>
        <a:lstStyle/>
        <a:p>
          <a:r>
            <a:rPr lang="en-US" sz="900" dirty="0">
              <a:solidFill>
                <a:schemeClr val="bg1"/>
              </a:solidFill>
            </a:rPr>
            <a:t>Method used for Payment (Str)</a:t>
          </a:r>
          <a:endParaRPr lang="en-IN" sz="900" dirty="0">
            <a:solidFill>
              <a:schemeClr val="bg1"/>
            </a:solidFill>
          </a:endParaRPr>
        </a:p>
      </dgm:t>
    </dgm:pt>
    <dgm:pt modelId="{9B4D2040-01FD-4DA6-AC36-4B7EDCEAFF0E}" type="parTrans" cxnId="{6C95080C-87B1-4F8C-873E-9434A2A48013}">
      <dgm:prSet/>
      <dgm:spPr/>
      <dgm:t>
        <a:bodyPr/>
        <a:lstStyle/>
        <a:p>
          <a:endParaRPr lang="en-IN" sz="1050"/>
        </a:p>
      </dgm:t>
    </dgm:pt>
    <dgm:pt modelId="{FFFEA650-2189-4BE0-ABB3-5E75BC5DA841}" type="sibTrans" cxnId="{6C95080C-87B1-4F8C-873E-9434A2A48013}">
      <dgm:prSet/>
      <dgm:spPr/>
      <dgm:t>
        <a:bodyPr/>
        <a:lstStyle/>
        <a:p>
          <a:endParaRPr lang="en-IN" sz="1050"/>
        </a:p>
      </dgm:t>
    </dgm:pt>
    <dgm:pt modelId="{3E8334A6-54F7-4E5E-A2A7-4B3ACDC546DB}">
      <dgm:prSet phldrT="[Text]" custT="1"/>
      <dgm:spPr/>
      <dgm:t>
        <a:bodyPr/>
        <a:lstStyle/>
        <a:p>
          <a:r>
            <a:rPr lang="en-US" sz="900" dirty="0"/>
            <a:t>Purchase Amount</a:t>
          </a:r>
          <a:endParaRPr lang="en-IN" sz="900" dirty="0"/>
        </a:p>
      </dgm:t>
    </dgm:pt>
    <dgm:pt modelId="{18471A25-35D9-478C-8C3A-3032257B130A}" type="parTrans" cxnId="{6CFBD751-A3B0-4776-8446-2A51A44BF784}">
      <dgm:prSet/>
      <dgm:spPr/>
      <dgm:t>
        <a:bodyPr/>
        <a:lstStyle/>
        <a:p>
          <a:endParaRPr lang="en-IN" sz="1050"/>
        </a:p>
      </dgm:t>
    </dgm:pt>
    <dgm:pt modelId="{A9AFE181-7568-41D6-AEFB-D88F0CB93404}" type="sibTrans" cxnId="{6CFBD751-A3B0-4776-8446-2A51A44BF784}">
      <dgm:prSet/>
      <dgm:spPr/>
      <dgm:t>
        <a:bodyPr/>
        <a:lstStyle/>
        <a:p>
          <a:endParaRPr lang="en-IN" sz="1050"/>
        </a:p>
      </dgm:t>
    </dgm:pt>
    <dgm:pt modelId="{288E60C7-1CBA-4BDE-8D6D-7D2A4ED81E55}">
      <dgm:prSet phldrT="[Text]" custT="1"/>
      <dgm:spPr/>
      <dgm:t>
        <a:bodyPr/>
        <a:lstStyle/>
        <a:p>
          <a:r>
            <a:rPr lang="en-US" sz="900" dirty="0">
              <a:solidFill>
                <a:schemeClr val="bg1"/>
              </a:solidFill>
            </a:rPr>
            <a:t>Indicates whether the customer is a repeat buyer (Boolean)</a:t>
          </a:r>
          <a:endParaRPr lang="en-IN" sz="900" dirty="0">
            <a:solidFill>
              <a:schemeClr val="bg1"/>
            </a:solidFill>
          </a:endParaRPr>
        </a:p>
      </dgm:t>
    </dgm:pt>
    <dgm:pt modelId="{DECC7467-CCF9-467C-BC59-375DE7799B22}" type="parTrans" cxnId="{BE1562D1-05B4-4D1C-803E-D097DDA47BDD}">
      <dgm:prSet/>
      <dgm:spPr/>
      <dgm:t>
        <a:bodyPr/>
        <a:lstStyle/>
        <a:p>
          <a:endParaRPr lang="en-IN" sz="1050"/>
        </a:p>
      </dgm:t>
    </dgm:pt>
    <dgm:pt modelId="{EB02698B-D280-4A06-94FD-CB2C57CD473A}" type="sibTrans" cxnId="{BE1562D1-05B4-4D1C-803E-D097DDA47BDD}">
      <dgm:prSet/>
      <dgm:spPr/>
      <dgm:t>
        <a:bodyPr/>
        <a:lstStyle/>
        <a:p>
          <a:endParaRPr lang="en-IN" sz="1050"/>
        </a:p>
      </dgm:t>
    </dgm:pt>
    <dgm:pt modelId="{3CF62E9B-1127-4706-B247-7D6E5D5EBC4B}">
      <dgm:prSet phldrT="[Text]" custT="1"/>
      <dgm:spPr/>
      <dgm:t>
        <a:bodyPr/>
        <a:lstStyle/>
        <a:p>
          <a:r>
            <a:rPr lang="en-US" sz="900" dirty="0">
              <a:solidFill>
                <a:schemeClr val="bg1"/>
              </a:solidFill>
            </a:rPr>
            <a:t>Total monetary value of the Transaction (Target Variables) (Decimal)</a:t>
          </a:r>
          <a:endParaRPr lang="en-IN" sz="900" dirty="0">
            <a:solidFill>
              <a:schemeClr val="bg1"/>
            </a:solidFill>
          </a:endParaRPr>
        </a:p>
      </dgm:t>
    </dgm:pt>
    <dgm:pt modelId="{83B0C030-8A76-4A73-8066-CE2F2DDDF9D5}" type="parTrans" cxnId="{B4494B82-D066-4947-9C70-A1AD458AFA45}">
      <dgm:prSet/>
      <dgm:spPr/>
      <dgm:t>
        <a:bodyPr/>
        <a:lstStyle/>
        <a:p>
          <a:endParaRPr lang="en-IN" sz="1050"/>
        </a:p>
      </dgm:t>
    </dgm:pt>
    <dgm:pt modelId="{9DD887B3-8F11-40F8-A070-85197C044880}" type="sibTrans" cxnId="{B4494B82-D066-4947-9C70-A1AD458AFA45}">
      <dgm:prSet/>
      <dgm:spPr/>
      <dgm:t>
        <a:bodyPr/>
        <a:lstStyle/>
        <a:p>
          <a:endParaRPr lang="en-IN" sz="1050"/>
        </a:p>
      </dgm:t>
    </dgm:pt>
    <dgm:pt modelId="{25E993F7-0BF7-45D0-9848-9E7DE18C6461}" type="pres">
      <dgm:prSet presAssocID="{03B1D05C-29A2-4B23-8796-DF9EC02987E1}" presName="Name0" presStyleCnt="0">
        <dgm:presLayoutVars>
          <dgm:chMax/>
          <dgm:chPref val="3"/>
          <dgm:dir/>
          <dgm:animOne val="branch"/>
          <dgm:animLvl val="lvl"/>
        </dgm:presLayoutVars>
      </dgm:prSet>
      <dgm:spPr/>
    </dgm:pt>
    <dgm:pt modelId="{B51D131A-B77B-480D-AD77-3509CE164219}" type="pres">
      <dgm:prSet presAssocID="{135F56DA-4B6E-4A62-809B-D89F14AD57ED}" presName="composite" presStyleCnt="0"/>
      <dgm:spPr/>
    </dgm:pt>
    <dgm:pt modelId="{5A964942-216B-46A8-B4C0-0D9416D759B3}" type="pres">
      <dgm:prSet presAssocID="{135F56DA-4B6E-4A62-809B-D89F14AD57ED}" presName="FirstChild" presStyleLbl="revTx" presStyleIdx="0" presStyleCnt="10">
        <dgm:presLayoutVars>
          <dgm:chMax val="0"/>
          <dgm:chPref val="0"/>
          <dgm:bulletEnabled val="1"/>
        </dgm:presLayoutVars>
      </dgm:prSet>
      <dgm:spPr/>
    </dgm:pt>
    <dgm:pt modelId="{8B64FAD4-3317-4456-911F-3F740EF24A6D}" type="pres">
      <dgm:prSet presAssocID="{135F56DA-4B6E-4A62-809B-D89F14AD57ED}" presName="Parent" presStyleLbl="alignNode1" presStyleIdx="0" presStyleCnt="10" custLinFactNeighborX="0" custLinFactNeighborY="-2">
        <dgm:presLayoutVars>
          <dgm:chMax val="3"/>
          <dgm:chPref val="3"/>
          <dgm:bulletEnabled val="1"/>
        </dgm:presLayoutVars>
      </dgm:prSet>
      <dgm:spPr/>
    </dgm:pt>
    <dgm:pt modelId="{FA6540F9-3836-4611-BE0A-58D23A58A4A1}" type="pres">
      <dgm:prSet presAssocID="{135F56DA-4B6E-4A62-809B-D89F14AD57ED}" presName="Accent" presStyleLbl="parChTrans1D1" presStyleIdx="0" presStyleCnt="10"/>
      <dgm:spPr/>
    </dgm:pt>
    <dgm:pt modelId="{9A7FDC6B-7222-4540-B63A-A1700EBE9DCD}" type="pres">
      <dgm:prSet presAssocID="{5B560F72-45EB-4303-95FC-19989F4DF150}" presName="sibTrans" presStyleCnt="0"/>
      <dgm:spPr/>
    </dgm:pt>
    <dgm:pt modelId="{57F7413A-1CA9-473B-B09A-C70F8E5DA044}" type="pres">
      <dgm:prSet presAssocID="{9258B1AA-7C0F-4D27-BDAF-593151DD2AFE}" presName="composite" presStyleCnt="0"/>
      <dgm:spPr/>
    </dgm:pt>
    <dgm:pt modelId="{7F211E56-3D96-44B5-9CEC-B4B3BBD50C3E}" type="pres">
      <dgm:prSet presAssocID="{9258B1AA-7C0F-4D27-BDAF-593151DD2AFE}" presName="FirstChild" presStyleLbl="revTx" presStyleIdx="1" presStyleCnt="10">
        <dgm:presLayoutVars>
          <dgm:chMax val="0"/>
          <dgm:chPref val="0"/>
          <dgm:bulletEnabled val="1"/>
        </dgm:presLayoutVars>
      </dgm:prSet>
      <dgm:spPr/>
    </dgm:pt>
    <dgm:pt modelId="{7CA142B2-BD41-477E-B03A-AC96203D59A2}" type="pres">
      <dgm:prSet presAssocID="{9258B1AA-7C0F-4D27-BDAF-593151DD2AFE}" presName="Parent" presStyleLbl="alignNode1" presStyleIdx="1" presStyleCnt="10" custLinFactNeighborX="0" custLinFactNeighborY="-321">
        <dgm:presLayoutVars>
          <dgm:chMax val="3"/>
          <dgm:chPref val="3"/>
          <dgm:bulletEnabled val="1"/>
        </dgm:presLayoutVars>
      </dgm:prSet>
      <dgm:spPr/>
    </dgm:pt>
    <dgm:pt modelId="{0610649F-5D64-403A-8EDF-E18DF13B98FB}" type="pres">
      <dgm:prSet presAssocID="{9258B1AA-7C0F-4D27-BDAF-593151DD2AFE}" presName="Accent" presStyleLbl="parChTrans1D1" presStyleIdx="1" presStyleCnt="10"/>
      <dgm:spPr/>
    </dgm:pt>
    <dgm:pt modelId="{8FD97F5E-7296-4B2C-A127-117A5DF25BEA}" type="pres">
      <dgm:prSet presAssocID="{31477538-D029-44C2-83F2-D8E9B997E774}" presName="sibTrans" presStyleCnt="0"/>
      <dgm:spPr/>
    </dgm:pt>
    <dgm:pt modelId="{404EF381-1089-4BE1-81CD-D74D31E2AA28}" type="pres">
      <dgm:prSet presAssocID="{637C2E06-BA35-4CC3-991F-4AB9A77B2D15}" presName="composite" presStyleCnt="0"/>
      <dgm:spPr/>
    </dgm:pt>
    <dgm:pt modelId="{DBBD8FB1-F5A3-417F-B9E8-A23AA75B25E3}" type="pres">
      <dgm:prSet presAssocID="{637C2E06-BA35-4CC3-991F-4AB9A77B2D15}" presName="FirstChild" presStyleLbl="revTx" presStyleIdx="2" presStyleCnt="10">
        <dgm:presLayoutVars>
          <dgm:chMax val="0"/>
          <dgm:chPref val="0"/>
          <dgm:bulletEnabled val="1"/>
        </dgm:presLayoutVars>
      </dgm:prSet>
      <dgm:spPr/>
    </dgm:pt>
    <dgm:pt modelId="{ECCCFBAC-3CCC-48DC-80F6-CC6E93825298}" type="pres">
      <dgm:prSet presAssocID="{637C2E06-BA35-4CC3-991F-4AB9A77B2D15}" presName="Parent" presStyleLbl="alignNode1" presStyleIdx="2" presStyleCnt="10" custLinFactNeighborX="0" custLinFactNeighborY="-321">
        <dgm:presLayoutVars>
          <dgm:chMax val="3"/>
          <dgm:chPref val="3"/>
          <dgm:bulletEnabled val="1"/>
        </dgm:presLayoutVars>
      </dgm:prSet>
      <dgm:spPr/>
    </dgm:pt>
    <dgm:pt modelId="{46AC2CDE-2B1E-417C-B0CF-4328B6464B9C}" type="pres">
      <dgm:prSet presAssocID="{637C2E06-BA35-4CC3-991F-4AB9A77B2D15}" presName="Accent" presStyleLbl="parChTrans1D1" presStyleIdx="2" presStyleCnt="10"/>
      <dgm:spPr/>
    </dgm:pt>
    <dgm:pt modelId="{F27F5FFD-2D98-4087-9DA5-FF4F23F35492}" type="pres">
      <dgm:prSet presAssocID="{EF272D1E-123B-434B-8782-529854AE8B84}" presName="sibTrans" presStyleCnt="0"/>
      <dgm:spPr/>
    </dgm:pt>
    <dgm:pt modelId="{9D697943-D113-4E00-A481-F4BF2BC1A9B1}" type="pres">
      <dgm:prSet presAssocID="{5881648F-3C80-428A-A82C-BD949F8A0424}" presName="composite" presStyleCnt="0"/>
      <dgm:spPr/>
    </dgm:pt>
    <dgm:pt modelId="{5568315D-D734-4F6B-8835-BBA69583B16C}" type="pres">
      <dgm:prSet presAssocID="{5881648F-3C80-428A-A82C-BD949F8A0424}" presName="FirstChild" presStyleLbl="revTx" presStyleIdx="3" presStyleCnt="10">
        <dgm:presLayoutVars>
          <dgm:chMax val="0"/>
          <dgm:chPref val="0"/>
          <dgm:bulletEnabled val="1"/>
        </dgm:presLayoutVars>
      </dgm:prSet>
      <dgm:spPr/>
    </dgm:pt>
    <dgm:pt modelId="{34C64DDC-B6B5-4678-BFC3-E43F37FDEF2A}" type="pres">
      <dgm:prSet presAssocID="{5881648F-3C80-428A-A82C-BD949F8A0424}" presName="Parent" presStyleLbl="alignNode1" presStyleIdx="3" presStyleCnt="10" custLinFactNeighborX="0" custLinFactNeighborY="-321">
        <dgm:presLayoutVars>
          <dgm:chMax val="3"/>
          <dgm:chPref val="3"/>
          <dgm:bulletEnabled val="1"/>
        </dgm:presLayoutVars>
      </dgm:prSet>
      <dgm:spPr/>
    </dgm:pt>
    <dgm:pt modelId="{83407BF4-AA8B-4922-950F-7A4FA8123B01}" type="pres">
      <dgm:prSet presAssocID="{5881648F-3C80-428A-A82C-BD949F8A0424}" presName="Accent" presStyleLbl="parChTrans1D1" presStyleIdx="3" presStyleCnt="10"/>
      <dgm:spPr/>
    </dgm:pt>
    <dgm:pt modelId="{709372B1-AD78-4E84-A3C5-A6A7292E6888}" type="pres">
      <dgm:prSet presAssocID="{23EAD9AE-4D44-4BA0-AB58-9B31737546FD}" presName="sibTrans" presStyleCnt="0"/>
      <dgm:spPr/>
    </dgm:pt>
    <dgm:pt modelId="{EDFDCCCA-D31B-467A-AFFB-2A58971D0FAC}" type="pres">
      <dgm:prSet presAssocID="{F8DE408D-3DB2-4C61-91C0-9D83842093C6}" presName="composite" presStyleCnt="0"/>
      <dgm:spPr/>
    </dgm:pt>
    <dgm:pt modelId="{B5A00382-2AA1-443A-B230-A4482A099639}" type="pres">
      <dgm:prSet presAssocID="{F8DE408D-3DB2-4C61-91C0-9D83842093C6}" presName="FirstChild" presStyleLbl="revTx" presStyleIdx="4" presStyleCnt="10">
        <dgm:presLayoutVars>
          <dgm:chMax val="0"/>
          <dgm:chPref val="0"/>
          <dgm:bulletEnabled val="1"/>
        </dgm:presLayoutVars>
      </dgm:prSet>
      <dgm:spPr/>
    </dgm:pt>
    <dgm:pt modelId="{9906599C-649C-44C9-BA0A-E6643C2F5ED4}" type="pres">
      <dgm:prSet presAssocID="{F8DE408D-3DB2-4C61-91C0-9D83842093C6}" presName="Parent" presStyleLbl="alignNode1" presStyleIdx="4" presStyleCnt="10" custLinFactNeighborX="0" custLinFactNeighborY="-321">
        <dgm:presLayoutVars>
          <dgm:chMax val="3"/>
          <dgm:chPref val="3"/>
          <dgm:bulletEnabled val="1"/>
        </dgm:presLayoutVars>
      </dgm:prSet>
      <dgm:spPr/>
    </dgm:pt>
    <dgm:pt modelId="{37F6F67A-B206-427F-9516-4B15D46B0A8C}" type="pres">
      <dgm:prSet presAssocID="{F8DE408D-3DB2-4C61-91C0-9D83842093C6}" presName="Accent" presStyleLbl="parChTrans1D1" presStyleIdx="4" presStyleCnt="10"/>
      <dgm:spPr/>
    </dgm:pt>
    <dgm:pt modelId="{95718B47-A0BC-42BD-B6F6-7F33211F7C70}" type="pres">
      <dgm:prSet presAssocID="{7BFFF0E1-CA3F-42C2-8C5E-7BEAF4717C5E}" presName="sibTrans" presStyleCnt="0"/>
      <dgm:spPr/>
    </dgm:pt>
    <dgm:pt modelId="{39C7D8A5-FB6B-4842-951A-F715EFD6EC5C}" type="pres">
      <dgm:prSet presAssocID="{0179438F-20AA-473D-8DF8-29E153793383}" presName="composite" presStyleCnt="0"/>
      <dgm:spPr/>
    </dgm:pt>
    <dgm:pt modelId="{28A2BCE4-40AB-4EB8-90C1-C940282BD546}" type="pres">
      <dgm:prSet presAssocID="{0179438F-20AA-473D-8DF8-29E153793383}" presName="FirstChild" presStyleLbl="revTx" presStyleIdx="5" presStyleCnt="10">
        <dgm:presLayoutVars>
          <dgm:chMax val="0"/>
          <dgm:chPref val="0"/>
          <dgm:bulletEnabled val="1"/>
        </dgm:presLayoutVars>
      </dgm:prSet>
      <dgm:spPr/>
    </dgm:pt>
    <dgm:pt modelId="{0B9ECE68-BE89-4E9B-913C-06DB938E6DE2}" type="pres">
      <dgm:prSet presAssocID="{0179438F-20AA-473D-8DF8-29E153793383}" presName="Parent" presStyleLbl="alignNode1" presStyleIdx="5" presStyleCnt="10" custLinFactNeighborX="0" custLinFactNeighborY="-321">
        <dgm:presLayoutVars>
          <dgm:chMax val="3"/>
          <dgm:chPref val="3"/>
          <dgm:bulletEnabled val="1"/>
        </dgm:presLayoutVars>
      </dgm:prSet>
      <dgm:spPr/>
    </dgm:pt>
    <dgm:pt modelId="{269349C4-F09C-48D5-8616-8A7DF7892735}" type="pres">
      <dgm:prSet presAssocID="{0179438F-20AA-473D-8DF8-29E153793383}" presName="Accent" presStyleLbl="parChTrans1D1" presStyleIdx="5" presStyleCnt="10"/>
      <dgm:spPr/>
    </dgm:pt>
    <dgm:pt modelId="{BFDC8097-666A-464B-BA0A-EFF216C386F7}" type="pres">
      <dgm:prSet presAssocID="{DEC495C1-21D4-40D8-8FE1-57A7C6415E5F}" presName="sibTrans" presStyleCnt="0"/>
      <dgm:spPr/>
    </dgm:pt>
    <dgm:pt modelId="{E1F760E3-5D69-4B0F-A905-3D82B0A41075}" type="pres">
      <dgm:prSet presAssocID="{E6FD5B02-4801-4A9A-903F-5763531D5CBD}" presName="composite" presStyleCnt="0"/>
      <dgm:spPr/>
    </dgm:pt>
    <dgm:pt modelId="{908E2CA0-42D6-49F4-8174-1CFDC434A291}" type="pres">
      <dgm:prSet presAssocID="{E6FD5B02-4801-4A9A-903F-5763531D5CBD}" presName="FirstChild" presStyleLbl="revTx" presStyleIdx="6" presStyleCnt="10">
        <dgm:presLayoutVars>
          <dgm:chMax val="0"/>
          <dgm:chPref val="0"/>
          <dgm:bulletEnabled val="1"/>
        </dgm:presLayoutVars>
      </dgm:prSet>
      <dgm:spPr/>
    </dgm:pt>
    <dgm:pt modelId="{E835FBDE-3368-4D65-9FC8-C7AA4E44D54A}" type="pres">
      <dgm:prSet presAssocID="{E6FD5B02-4801-4A9A-903F-5763531D5CBD}" presName="Parent" presStyleLbl="alignNode1" presStyleIdx="6" presStyleCnt="10" custLinFactNeighborX="0" custLinFactNeighborY="-321">
        <dgm:presLayoutVars>
          <dgm:chMax val="3"/>
          <dgm:chPref val="3"/>
          <dgm:bulletEnabled val="1"/>
        </dgm:presLayoutVars>
      </dgm:prSet>
      <dgm:spPr/>
    </dgm:pt>
    <dgm:pt modelId="{6CD54816-EA63-46FF-B53E-A2959AC35E40}" type="pres">
      <dgm:prSet presAssocID="{E6FD5B02-4801-4A9A-903F-5763531D5CBD}" presName="Accent" presStyleLbl="parChTrans1D1" presStyleIdx="6" presStyleCnt="10"/>
      <dgm:spPr/>
    </dgm:pt>
    <dgm:pt modelId="{67C6C8D3-F0DF-47D4-BD67-AA010C2AD69F}" type="pres">
      <dgm:prSet presAssocID="{295B2104-8483-4DB0-852A-F5FB49E4EE85}" presName="sibTrans" presStyleCnt="0"/>
      <dgm:spPr/>
    </dgm:pt>
    <dgm:pt modelId="{993E2D66-856C-4AA3-81D7-AFB3A3DB2245}" type="pres">
      <dgm:prSet presAssocID="{18F1367A-7B13-4AA5-9F63-4C7E2D3FCD03}" presName="composite" presStyleCnt="0"/>
      <dgm:spPr/>
    </dgm:pt>
    <dgm:pt modelId="{DB4E24D1-BC69-46C6-9F79-F431CCEC49DA}" type="pres">
      <dgm:prSet presAssocID="{18F1367A-7B13-4AA5-9F63-4C7E2D3FCD03}" presName="FirstChild" presStyleLbl="revTx" presStyleIdx="7" presStyleCnt="10">
        <dgm:presLayoutVars>
          <dgm:chMax val="0"/>
          <dgm:chPref val="0"/>
          <dgm:bulletEnabled val="1"/>
        </dgm:presLayoutVars>
      </dgm:prSet>
      <dgm:spPr/>
    </dgm:pt>
    <dgm:pt modelId="{87257E5A-338B-47C0-8DF6-3C479BCC6DAA}" type="pres">
      <dgm:prSet presAssocID="{18F1367A-7B13-4AA5-9F63-4C7E2D3FCD03}" presName="Parent" presStyleLbl="alignNode1" presStyleIdx="7" presStyleCnt="10" custLinFactNeighborX="0" custLinFactNeighborY="-321">
        <dgm:presLayoutVars>
          <dgm:chMax val="3"/>
          <dgm:chPref val="3"/>
          <dgm:bulletEnabled val="1"/>
        </dgm:presLayoutVars>
      </dgm:prSet>
      <dgm:spPr/>
    </dgm:pt>
    <dgm:pt modelId="{80CA69D9-1182-4D04-AA6D-4165674F7587}" type="pres">
      <dgm:prSet presAssocID="{18F1367A-7B13-4AA5-9F63-4C7E2D3FCD03}" presName="Accent" presStyleLbl="parChTrans1D1" presStyleIdx="7" presStyleCnt="10"/>
      <dgm:spPr/>
    </dgm:pt>
    <dgm:pt modelId="{97DF5F48-68F9-42E1-8F63-8F2777DD0BEE}" type="pres">
      <dgm:prSet presAssocID="{AD02C9B0-F3B9-44B2-B07A-0235DA00E896}" presName="sibTrans" presStyleCnt="0"/>
      <dgm:spPr/>
    </dgm:pt>
    <dgm:pt modelId="{7EFF6E9E-F75E-44FB-9D1C-A3413DE13064}" type="pres">
      <dgm:prSet presAssocID="{D8AF10FF-AA56-4B57-96F3-F8AB7E8B449C}" presName="composite" presStyleCnt="0"/>
      <dgm:spPr/>
    </dgm:pt>
    <dgm:pt modelId="{0FB38301-1A73-48A9-BE7B-513B0FFF6F89}" type="pres">
      <dgm:prSet presAssocID="{D8AF10FF-AA56-4B57-96F3-F8AB7E8B449C}" presName="FirstChild" presStyleLbl="revTx" presStyleIdx="8" presStyleCnt="10">
        <dgm:presLayoutVars>
          <dgm:chMax val="0"/>
          <dgm:chPref val="0"/>
          <dgm:bulletEnabled val="1"/>
        </dgm:presLayoutVars>
      </dgm:prSet>
      <dgm:spPr/>
    </dgm:pt>
    <dgm:pt modelId="{AE385091-19F2-4721-B75E-1E153C28AA00}" type="pres">
      <dgm:prSet presAssocID="{D8AF10FF-AA56-4B57-96F3-F8AB7E8B449C}" presName="Parent" presStyleLbl="alignNode1" presStyleIdx="8" presStyleCnt="10" custLinFactNeighborX="0" custLinFactNeighborY="-1">
        <dgm:presLayoutVars>
          <dgm:chMax val="3"/>
          <dgm:chPref val="3"/>
          <dgm:bulletEnabled val="1"/>
        </dgm:presLayoutVars>
      </dgm:prSet>
      <dgm:spPr/>
    </dgm:pt>
    <dgm:pt modelId="{FA700A85-5E17-4835-825D-6EA0BE513D34}" type="pres">
      <dgm:prSet presAssocID="{D8AF10FF-AA56-4B57-96F3-F8AB7E8B449C}" presName="Accent" presStyleLbl="parChTrans1D1" presStyleIdx="8" presStyleCnt="10"/>
      <dgm:spPr/>
    </dgm:pt>
    <dgm:pt modelId="{5567A658-D6C5-4747-8F04-CD0E6FBD19D5}" type="pres">
      <dgm:prSet presAssocID="{7757CA96-7167-45AA-A4A1-2A18C7E43C6A}" presName="sibTrans" presStyleCnt="0"/>
      <dgm:spPr/>
    </dgm:pt>
    <dgm:pt modelId="{3C60ABFB-F688-4D74-AF12-1C27CBE61C47}" type="pres">
      <dgm:prSet presAssocID="{3E8334A6-54F7-4E5E-A2A7-4B3ACDC546DB}" presName="composite" presStyleCnt="0"/>
      <dgm:spPr/>
    </dgm:pt>
    <dgm:pt modelId="{D837A77E-071B-483E-8ECE-A454240B57EA}" type="pres">
      <dgm:prSet presAssocID="{3E8334A6-54F7-4E5E-A2A7-4B3ACDC546DB}" presName="FirstChild" presStyleLbl="revTx" presStyleIdx="9" presStyleCnt="10">
        <dgm:presLayoutVars>
          <dgm:chMax val="0"/>
          <dgm:chPref val="0"/>
          <dgm:bulletEnabled val="1"/>
        </dgm:presLayoutVars>
      </dgm:prSet>
      <dgm:spPr/>
    </dgm:pt>
    <dgm:pt modelId="{64F7605C-5737-41EF-8FFF-6751F190BF92}" type="pres">
      <dgm:prSet presAssocID="{3E8334A6-54F7-4E5E-A2A7-4B3ACDC546DB}" presName="Parent" presStyleLbl="alignNode1" presStyleIdx="9" presStyleCnt="10" custLinFactNeighborX="0" custLinFactNeighborY="-1">
        <dgm:presLayoutVars>
          <dgm:chMax val="3"/>
          <dgm:chPref val="3"/>
          <dgm:bulletEnabled val="1"/>
        </dgm:presLayoutVars>
      </dgm:prSet>
      <dgm:spPr/>
    </dgm:pt>
    <dgm:pt modelId="{CD57DFB3-5799-41D9-8F10-65D96911B654}" type="pres">
      <dgm:prSet presAssocID="{3E8334A6-54F7-4E5E-A2A7-4B3ACDC546DB}" presName="Accent" presStyleLbl="parChTrans1D1" presStyleIdx="9" presStyleCnt="10"/>
      <dgm:spPr/>
    </dgm:pt>
  </dgm:ptLst>
  <dgm:cxnLst>
    <dgm:cxn modelId="{F5B6A700-3694-49AC-85B5-1E276F2E9493}" srcId="{0179438F-20AA-473D-8DF8-29E153793383}" destId="{F57F8E3D-1414-4087-A873-A8A926D0B72A}" srcOrd="0" destOrd="0" parTransId="{4961CD50-1FED-4948-A7C7-B1EBC2FECFC2}" sibTransId="{F9178FC5-0497-488C-839A-42A3EF37F031}"/>
    <dgm:cxn modelId="{EFEFC200-D10C-4260-BF6B-5F055AE88842}" srcId="{03B1D05C-29A2-4B23-8796-DF9EC02987E1}" destId="{135F56DA-4B6E-4A62-809B-D89F14AD57ED}" srcOrd="0" destOrd="0" parTransId="{1D9911D8-C73D-476A-A9C4-1CBA659E3D24}" sibTransId="{5B560F72-45EB-4303-95FC-19989F4DF150}"/>
    <dgm:cxn modelId="{D20ECE02-D588-40D5-A28B-8A8DFE24B2B6}" type="presOf" srcId="{E6FD5B02-4801-4A9A-903F-5763531D5CBD}" destId="{E835FBDE-3368-4D65-9FC8-C7AA4E44D54A}" srcOrd="0" destOrd="0" presId="urn:microsoft.com/office/officeart/2011/layout/TabList"/>
    <dgm:cxn modelId="{6C95080C-87B1-4F8C-873E-9434A2A48013}" srcId="{18F1367A-7B13-4AA5-9F63-4C7E2D3FCD03}" destId="{A20865BA-BD88-4C78-9046-CB98E034702A}" srcOrd="0" destOrd="0" parTransId="{9B4D2040-01FD-4DA6-AC36-4B7EDCEAFF0E}" sibTransId="{FFFEA650-2189-4BE0-ABB3-5E75BC5DA841}"/>
    <dgm:cxn modelId="{5F99A914-EF58-473F-B884-E4BB7A81F84B}" srcId="{03B1D05C-29A2-4B23-8796-DF9EC02987E1}" destId="{D8AF10FF-AA56-4B57-96F3-F8AB7E8B449C}" srcOrd="8" destOrd="0" parTransId="{F572435C-9B1C-4143-9D0B-BCC4E0154331}" sibTransId="{7757CA96-7167-45AA-A4A1-2A18C7E43C6A}"/>
    <dgm:cxn modelId="{82C3021C-9372-456E-A663-6481D08EF63B}" srcId="{5881648F-3C80-428A-A82C-BD949F8A0424}" destId="{BBCD852B-B770-48B8-B64F-6A32E39CFD83}" srcOrd="0" destOrd="0" parTransId="{0160D0D8-4BF8-494A-B91C-4860AF26D96F}" sibTransId="{4022440D-1247-4BD3-A160-B7ADD997D142}"/>
    <dgm:cxn modelId="{6981B824-8CB0-45FF-BB86-A6D30C6D44D0}" type="presOf" srcId="{03B1D05C-29A2-4B23-8796-DF9EC02987E1}" destId="{25E993F7-0BF7-45D0-9848-9E7DE18C6461}" srcOrd="0" destOrd="0" presId="urn:microsoft.com/office/officeart/2011/layout/TabList"/>
    <dgm:cxn modelId="{A4CBA136-43E4-47B2-83DE-1333C83F84EA}" srcId="{03B1D05C-29A2-4B23-8796-DF9EC02987E1}" destId="{637C2E06-BA35-4CC3-991F-4AB9A77B2D15}" srcOrd="2" destOrd="0" parTransId="{E0467849-C8D4-4EE5-A33D-63FDE6B5835C}" sibTransId="{EF272D1E-123B-434B-8782-529854AE8B84}"/>
    <dgm:cxn modelId="{85D21739-E9BA-486E-9963-308196A5CE37}" type="presOf" srcId="{F57F8E3D-1414-4087-A873-A8A926D0B72A}" destId="{28A2BCE4-40AB-4EB8-90C1-C940282BD546}" srcOrd="0" destOrd="0" presId="urn:microsoft.com/office/officeart/2011/layout/TabList"/>
    <dgm:cxn modelId="{FB4DC63C-EE9F-49CD-AA10-26F9033DD332}" srcId="{03B1D05C-29A2-4B23-8796-DF9EC02987E1}" destId="{5881648F-3C80-428A-A82C-BD949F8A0424}" srcOrd="3" destOrd="0" parTransId="{C3E8F8B2-96F9-4E51-95D1-BAF21F633BAC}" sibTransId="{23EAD9AE-4D44-4BA0-AB58-9B31737546FD}"/>
    <dgm:cxn modelId="{5E8F2C3E-7364-48B4-B03E-CFA72A6825C7}" type="presOf" srcId="{135F56DA-4B6E-4A62-809B-D89F14AD57ED}" destId="{8B64FAD4-3317-4456-911F-3F740EF24A6D}" srcOrd="0" destOrd="0" presId="urn:microsoft.com/office/officeart/2011/layout/TabList"/>
    <dgm:cxn modelId="{A2B60440-A941-40C0-9FD1-330666C7A0CA}" srcId="{9258B1AA-7C0F-4D27-BDAF-593151DD2AFE}" destId="{FCF184A6-24CA-439F-A932-1085FD0B763B}" srcOrd="0" destOrd="0" parTransId="{C3A623C7-FE1F-400E-A688-DD082F6ECFF8}" sibTransId="{0B03AB89-114D-4E26-920B-0A1CA4800F6D}"/>
    <dgm:cxn modelId="{6120985E-BF7E-4660-ACAC-54427682170B}" srcId="{03B1D05C-29A2-4B23-8796-DF9EC02987E1}" destId="{18F1367A-7B13-4AA5-9F63-4C7E2D3FCD03}" srcOrd="7" destOrd="0" parTransId="{BD7634C3-FDDB-4722-89FB-6ABFA677FD60}" sibTransId="{AD02C9B0-F3B9-44B2-B07A-0235DA00E896}"/>
    <dgm:cxn modelId="{88316444-A70E-4005-8EFC-22135E686253}" type="presOf" srcId="{9258B1AA-7C0F-4D27-BDAF-593151DD2AFE}" destId="{7CA142B2-BD41-477E-B03A-AC96203D59A2}" srcOrd="0" destOrd="0" presId="urn:microsoft.com/office/officeart/2011/layout/TabList"/>
    <dgm:cxn modelId="{4CE24A45-3752-4093-B537-CB10E702D6D0}" type="presOf" srcId="{BBCD852B-B770-48B8-B64F-6A32E39CFD83}" destId="{5568315D-D734-4F6B-8835-BBA69583B16C}" srcOrd="0" destOrd="0" presId="urn:microsoft.com/office/officeart/2011/layout/TabList"/>
    <dgm:cxn modelId="{32F4FA45-5939-47E9-B4AD-86F0917D69ED}" type="presOf" srcId="{0D336921-D3F7-4284-BB27-47F4985DA7C0}" destId="{DBBD8FB1-F5A3-417F-B9E8-A23AA75B25E3}" srcOrd="0" destOrd="0" presId="urn:microsoft.com/office/officeart/2011/layout/TabList"/>
    <dgm:cxn modelId="{DB0E204C-18BC-419D-B441-45E7578803B7}" type="presOf" srcId="{F8DE408D-3DB2-4C61-91C0-9D83842093C6}" destId="{9906599C-649C-44C9-BA0A-E6643C2F5ED4}" srcOrd="0" destOrd="0" presId="urn:microsoft.com/office/officeart/2011/layout/TabList"/>
    <dgm:cxn modelId="{7F888B6D-BB8B-49EA-B0F5-D07BFE613D9B}" srcId="{E6FD5B02-4801-4A9A-903F-5763531D5CBD}" destId="{1DDD346E-8D6F-477D-846F-1DB83964B515}" srcOrd="0" destOrd="0" parTransId="{2885E4A8-CAED-418E-AF3C-46B1ACB87E3C}" sibTransId="{C062D46C-5B1E-49C9-97AA-D4EA18E1245C}"/>
    <dgm:cxn modelId="{6CFBD751-A3B0-4776-8446-2A51A44BF784}" srcId="{03B1D05C-29A2-4B23-8796-DF9EC02987E1}" destId="{3E8334A6-54F7-4E5E-A2A7-4B3ACDC546DB}" srcOrd="9" destOrd="0" parTransId="{18471A25-35D9-478C-8C3A-3032257B130A}" sibTransId="{A9AFE181-7568-41D6-AEFB-D88F0CB93404}"/>
    <dgm:cxn modelId="{C86FF457-4464-4339-93DC-A9E8CAAA0DF8}" srcId="{637C2E06-BA35-4CC3-991F-4AB9A77B2D15}" destId="{0D336921-D3F7-4284-BB27-47F4985DA7C0}" srcOrd="0" destOrd="0" parTransId="{3D1CF036-13D3-4ED6-8D74-CC9511E362B7}" sibTransId="{EBFD7A5B-7C63-4C97-8282-DFE70252082D}"/>
    <dgm:cxn modelId="{06425F5A-6D4E-44F1-9ECD-0B69168ED5CF}" type="presOf" srcId="{5881648F-3C80-428A-A82C-BD949F8A0424}" destId="{34C64DDC-B6B5-4678-BFC3-E43F37FDEF2A}" srcOrd="0" destOrd="0" presId="urn:microsoft.com/office/officeart/2011/layout/TabList"/>
    <dgm:cxn modelId="{A14A4981-496B-48CD-9030-E35D6267BAC9}" type="presOf" srcId="{BD72CB0E-03DF-47F3-9867-A3F031D35C39}" destId="{5A964942-216B-46A8-B4C0-0D9416D759B3}" srcOrd="0" destOrd="0" presId="urn:microsoft.com/office/officeart/2011/layout/TabList"/>
    <dgm:cxn modelId="{8B4DE681-13F0-4E92-9083-0AFFB7EA45F6}" type="presOf" srcId="{288E60C7-1CBA-4BDE-8D6D-7D2A4ED81E55}" destId="{0FB38301-1A73-48A9-BE7B-513B0FFF6F89}" srcOrd="0" destOrd="0" presId="urn:microsoft.com/office/officeart/2011/layout/TabList"/>
    <dgm:cxn modelId="{B4494B82-D066-4947-9C70-A1AD458AFA45}" srcId="{3E8334A6-54F7-4E5E-A2A7-4B3ACDC546DB}" destId="{3CF62E9B-1127-4706-B247-7D6E5D5EBC4B}" srcOrd="0" destOrd="0" parTransId="{83B0C030-8A76-4A73-8066-CE2F2DDDF9D5}" sibTransId="{9DD887B3-8F11-40F8-A070-85197C044880}"/>
    <dgm:cxn modelId="{F561758A-CA5C-4714-ACC6-16C51AEF82A4}" type="presOf" srcId="{3CF62E9B-1127-4706-B247-7D6E5D5EBC4B}" destId="{D837A77E-071B-483E-8ECE-A454240B57EA}" srcOrd="0" destOrd="0" presId="urn:microsoft.com/office/officeart/2011/layout/TabList"/>
    <dgm:cxn modelId="{F40C5C8B-9A97-409B-AD7F-6753DE8D4E50}" srcId="{03B1D05C-29A2-4B23-8796-DF9EC02987E1}" destId="{9258B1AA-7C0F-4D27-BDAF-593151DD2AFE}" srcOrd="1" destOrd="0" parTransId="{F100BAD0-1C33-47BD-A631-5D42E0CF49C6}" sibTransId="{31477538-D029-44C2-83F2-D8E9B997E774}"/>
    <dgm:cxn modelId="{FED2098C-9447-4B9F-8550-571B17F56D7B}" type="presOf" srcId="{FCF184A6-24CA-439F-A932-1085FD0B763B}" destId="{7F211E56-3D96-44B5-9CEC-B4B3BBD50C3E}" srcOrd="0" destOrd="0" presId="urn:microsoft.com/office/officeart/2011/layout/TabList"/>
    <dgm:cxn modelId="{71D5068E-B74E-43BC-853D-B534DB755561}" srcId="{03B1D05C-29A2-4B23-8796-DF9EC02987E1}" destId="{F8DE408D-3DB2-4C61-91C0-9D83842093C6}" srcOrd="4" destOrd="0" parTransId="{563AF7CE-0812-4C9F-B3BC-719C820129D0}" sibTransId="{7BFFF0E1-CA3F-42C2-8C5E-7BEAF4717C5E}"/>
    <dgm:cxn modelId="{9CFEFF8E-F2F2-47A0-8456-3BD332F49E90}" srcId="{03B1D05C-29A2-4B23-8796-DF9EC02987E1}" destId="{0179438F-20AA-473D-8DF8-29E153793383}" srcOrd="5" destOrd="0" parTransId="{0ECA88A0-1AB8-4DCE-B6E1-4C1E26981439}" sibTransId="{DEC495C1-21D4-40D8-8FE1-57A7C6415E5F}"/>
    <dgm:cxn modelId="{C7CF5194-3803-4225-A603-7817D2D4896F}" type="presOf" srcId="{DEB5734B-6A66-4C0A-A0DF-7287162FC4F2}" destId="{B5A00382-2AA1-443A-B230-A4482A099639}" srcOrd="0" destOrd="0" presId="urn:microsoft.com/office/officeart/2011/layout/TabList"/>
    <dgm:cxn modelId="{9E0E979F-BA24-4493-8877-703724CB3873}" srcId="{03B1D05C-29A2-4B23-8796-DF9EC02987E1}" destId="{E6FD5B02-4801-4A9A-903F-5763531D5CBD}" srcOrd="6" destOrd="0" parTransId="{C5EDFE01-24CA-4CF4-82D9-0973B42EACB6}" sibTransId="{295B2104-8483-4DB0-852A-F5FB49E4EE85}"/>
    <dgm:cxn modelId="{9B5C5DA5-BBF0-43FF-B131-8DCF8298B043}" srcId="{135F56DA-4B6E-4A62-809B-D89F14AD57ED}" destId="{BD72CB0E-03DF-47F3-9867-A3F031D35C39}" srcOrd="0" destOrd="0" parTransId="{DD4E7F06-C05E-4E6F-9A3B-295B4A8F3CBD}" sibTransId="{E58267A0-2F8D-43FA-8AAD-4FCEF1C29ACB}"/>
    <dgm:cxn modelId="{59111CAA-3DAC-4511-8661-C18A27BCE2CA}" srcId="{F8DE408D-3DB2-4C61-91C0-9D83842093C6}" destId="{DEB5734B-6A66-4C0A-A0DF-7287162FC4F2}" srcOrd="0" destOrd="0" parTransId="{1498676E-165A-4BC2-B70C-C732E6EB9C21}" sibTransId="{875A9329-6D9E-4993-98E8-D2F45A0B95DF}"/>
    <dgm:cxn modelId="{E36508B2-A349-4093-A098-A8D6A3FB6815}" type="presOf" srcId="{3E8334A6-54F7-4E5E-A2A7-4B3ACDC546DB}" destId="{64F7605C-5737-41EF-8FFF-6751F190BF92}" srcOrd="0" destOrd="0" presId="urn:microsoft.com/office/officeart/2011/layout/TabList"/>
    <dgm:cxn modelId="{D75B12C3-7F9A-41F1-8A4F-03155DD325DA}" type="presOf" srcId="{18F1367A-7B13-4AA5-9F63-4C7E2D3FCD03}" destId="{87257E5A-338B-47C0-8DF6-3C479BCC6DAA}" srcOrd="0" destOrd="0" presId="urn:microsoft.com/office/officeart/2011/layout/TabList"/>
    <dgm:cxn modelId="{BE1562D1-05B4-4D1C-803E-D097DDA47BDD}" srcId="{D8AF10FF-AA56-4B57-96F3-F8AB7E8B449C}" destId="{288E60C7-1CBA-4BDE-8D6D-7D2A4ED81E55}" srcOrd="0" destOrd="0" parTransId="{DECC7467-CCF9-467C-BC59-375DE7799B22}" sibTransId="{EB02698B-D280-4A06-94FD-CB2C57CD473A}"/>
    <dgm:cxn modelId="{0F57FDE0-7314-4B55-89EA-284E7DA27631}" type="presOf" srcId="{A20865BA-BD88-4C78-9046-CB98E034702A}" destId="{DB4E24D1-BC69-46C6-9F79-F431CCEC49DA}" srcOrd="0" destOrd="0" presId="urn:microsoft.com/office/officeart/2011/layout/TabList"/>
    <dgm:cxn modelId="{C3CFF0E1-E9D6-42EC-A90D-8272885C43D0}" type="presOf" srcId="{D8AF10FF-AA56-4B57-96F3-F8AB7E8B449C}" destId="{AE385091-19F2-4721-B75E-1E153C28AA00}" srcOrd="0" destOrd="0" presId="urn:microsoft.com/office/officeart/2011/layout/TabList"/>
    <dgm:cxn modelId="{35CB47EC-CBB0-4E59-84D3-15E39F878043}" type="presOf" srcId="{0179438F-20AA-473D-8DF8-29E153793383}" destId="{0B9ECE68-BE89-4E9B-913C-06DB938E6DE2}" srcOrd="0" destOrd="0" presId="urn:microsoft.com/office/officeart/2011/layout/TabList"/>
    <dgm:cxn modelId="{3D6BC1F6-6DAB-427D-A667-09FA8D847174}" type="presOf" srcId="{1DDD346E-8D6F-477D-846F-1DB83964B515}" destId="{908E2CA0-42D6-49F4-8174-1CFDC434A291}" srcOrd="0" destOrd="0" presId="urn:microsoft.com/office/officeart/2011/layout/TabList"/>
    <dgm:cxn modelId="{5B8FC1FC-6FE5-4013-9DFA-4A9D55CF0824}" type="presOf" srcId="{637C2E06-BA35-4CC3-991F-4AB9A77B2D15}" destId="{ECCCFBAC-3CCC-48DC-80F6-CC6E93825298}" srcOrd="0" destOrd="0" presId="urn:microsoft.com/office/officeart/2011/layout/TabList"/>
    <dgm:cxn modelId="{5401815E-D456-401E-874A-8528CEE1386C}" type="presParOf" srcId="{25E993F7-0BF7-45D0-9848-9E7DE18C6461}" destId="{B51D131A-B77B-480D-AD77-3509CE164219}" srcOrd="0" destOrd="0" presId="urn:microsoft.com/office/officeart/2011/layout/TabList"/>
    <dgm:cxn modelId="{726C8B6A-DE80-468F-8524-B3D1A105B58E}" type="presParOf" srcId="{B51D131A-B77B-480D-AD77-3509CE164219}" destId="{5A964942-216B-46A8-B4C0-0D9416D759B3}" srcOrd="0" destOrd="0" presId="urn:microsoft.com/office/officeart/2011/layout/TabList"/>
    <dgm:cxn modelId="{D80FE84F-CB46-4172-A152-05C82BA9EA93}" type="presParOf" srcId="{B51D131A-B77B-480D-AD77-3509CE164219}" destId="{8B64FAD4-3317-4456-911F-3F740EF24A6D}" srcOrd="1" destOrd="0" presId="urn:microsoft.com/office/officeart/2011/layout/TabList"/>
    <dgm:cxn modelId="{4CBEF74E-B7FC-4C64-917D-3C81949237A4}" type="presParOf" srcId="{B51D131A-B77B-480D-AD77-3509CE164219}" destId="{FA6540F9-3836-4611-BE0A-58D23A58A4A1}" srcOrd="2" destOrd="0" presId="urn:microsoft.com/office/officeart/2011/layout/TabList"/>
    <dgm:cxn modelId="{12BA2BDD-D6CD-403E-AA30-4CD1163945B2}" type="presParOf" srcId="{25E993F7-0BF7-45D0-9848-9E7DE18C6461}" destId="{9A7FDC6B-7222-4540-B63A-A1700EBE9DCD}" srcOrd="1" destOrd="0" presId="urn:microsoft.com/office/officeart/2011/layout/TabList"/>
    <dgm:cxn modelId="{261B4E01-D21F-47BE-B819-A149B593EAF0}" type="presParOf" srcId="{25E993F7-0BF7-45D0-9848-9E7DE18C6461}" destId="{57F7413A-1CA9-473B-B09A-C70F8E5DA044}" srcOrd="2" destOrd="0" presId="urn:microsoft.com/office/officeart/2011/layout/TabList"/>
    <dgm:cxn modelId="{06D4FDE1-54FF-46D1-9207-5CC9CB6F028B}" type="presParOf" srcId="{57F7413A-1CA9-473B-B09A-C70F8E5DA044}" destId="{7F211E56-3D96-44B5-9CEC-B4B3BBD50C3E}" srcOrd="0" destOrd="0" presId="urn:microsoft.com/office/officeart/2011/layout/TabList"/>
    <dgm:cxn modelId="{CAB59339-CF6E-4705-A50D-CCDA711A0B5A}" type="presParOf" srcId="{57F7413A-1CA9-473B-B09A-C70F8E5DA044}" destId="{7CA142B2-BD41-477E-B03A-AC96203D59A2}" srcOrd="1" destOrd="0" presId="urn:microsoft.com/office/officeart/2011/layout/TabList"/>
    <dgm:cxn modelId="{74B9F191-C5DF-4370-9238-2ABB69E0534F}" type="presParOf" srcId="{57F7413A-1CA9-473B-B09A-C70F8E5DA044}" destId="{0610649F-5D64-403A-8EDF-E18DF13B98FB}" srcOrd="2" destOrd="0" presId="urn:microsoft.com/office/officeart/2011/layout/TabList"/>
    <dgm:cxn modelId="{AD425078-0756-4E32-8C82-4DC50DBB20AF}" type="presParOf" srcId="{25E993F7-0BF7-45D0-9848-9E7DE18C6461}" destId="{8FD97F5E-7296-4B2C-A127-117A5DF25BEA}" srcOrd="3" destOrd="0" presId="urn:microsoft.com/office/officeart/2011/layout/TabList"/>
    <dgm:cxn modelId="{3AB393B0-4DED-49A7-9BF0-87F8092418B8}" type="presParOf" srcId="{25E993F7-0BF7-45D0-9848-9E7DE18C6461}" destId="{404EF381-1089-4BE1-81CD-D74D31E2AA28}" srcOrd="4" destOrd="0" presId="urn:microsoft.com/office/officeart/2011/layout/TabList"/>
    <dgm:cxn modelId="{5C647A18-79D4-4918-B010-6C544C46F78B}" type="presParOf" srcId="{404EF381-1089-4BE1-81CD-D74D31E2AA28}" destId="{DBBD8FB1-F5A3-417F-B9E8-A23AA75B25E3}" srcOrd="0" destOrd="0" presId="urn:microsoft.com/office/officeart/2011/layout/TabList"/>
    <dgm:cxn modelId="{CE5A9E11-B864-4F67-8879-5BC757E6A1E8}" type="presParOf" srcId="{404EF381-1089-4BE1-81CD-D74D31E2AA28}" destId="{ECCCFBAC-3CCC-48DC-80F6-CC6E93825298}" srcOrd="1" destOrd="0" presId="urn:microsoft.com/office/officeart/2011/layout/TabList"/>
    <dgm:cxn modelId="{C88CFACD-F186-42EF-A38C-3A86AF9D3093}" type="presParOf" srcId="{404EF381-1089-4BE1-81CD-D74D31E2AA28}" destId="{46AC2CDE-2B1E-417C-B0CF-4328B6464B9C}" srcOrd="2" destOrd="0" presId="urn:microsoft.com/office/officeart/2011/layout/TabList"/>
    <dgm:cxn modelId="{2C80A247-D817-4FEA-AEFE-8622AF5D8CD2}" type="presParOf" srcId="{25E993F7-0BF7-45D0-9848-9E7DE18C6461}" destId="{F27F5FFD-2D98-4087-9DA5-FF4F23F35492}" srcOrd="5" destOrd="0" presId="urn:microsoft.com/office/officeart/2011/layout/TabList"/>
    <dgm:cxn modelId="{690C8D0C-B4F6-4EEC-9EC6-B8E39723333C}" type="presParOf" srcId="{25E993F7-0BF7-45D0-9848-9E7DE18C6461}" destId="{9D697943-D113-4E00-A481-F4BF2BC1A9B1}" srcOrd="6" destOrd="0" presId="urn:microsoft.com/office/officeart/2011/layout/TabList"/>
    <dgm:cxn modelId="{CEFA7BEA-542F-4A88-BE9E-AC42070A8CEC}" type="presParOf" srcId="{9D697943-D113-4E00-A481-F4BF2BC1A9B1}" destId="{5568315D-D734-4F6B-8835-BBA69583B16C}" srcOrd="0" destOrd="0" presId="urn:microsoft.com/office/officeart/2011/layout/TabList"/>
    <dgm:cxn modelId="{6CD6A546-0B07-4C88-8CA0-B01BB75056E9}" type="presParOf" srcId="{9D697943-D113-4E00-A481-F4BF2BC1A9B1}" destId="{34C64DDC-B6B5-4678-BFC3-E43F37FDEF2A}" srcOrd="1" destOrd="0" presId="urn:microsoft.com/office/officeart/2011/layout/TabList"/>
    <dgm:cxn modelId="{9E08D8DB-AB5F-405C-B15C-082EA5D04810}" type="presParOf" srcId="{9D697943-D113-4E00-A481-F4BF2BC1A9B1}" destId="{83407BF4-AA8B-4922-950F-7A4FA8123B01}" srcOrd="2" destOrd="0" presId="urn:microsoft.com/office/officeart/2011/layout/TabList"/>
    <dgm:cxn modelId="{736C7E9D-D582-4A9E-BD69-8606907DCB7C}" type="presParOf" srcId="{25E993F7-0BF7-45D0-9848-9E7DE18C6461}" destId="{709372B1-AD78-4E84-A3C5-A6A7292E6888}" srcOrd="7" destOrd="0" presId="urn:microsoft.com/office/officeart/2011/layout/TabList"/>
    <dgm:cxn modelId="{9380CA87-6ECF-4631-9BB6-786C9E802024}" type="presParOf" srcId="{25E993F7-0BF7-45D0-9848-9E7DE18C6461}" destId="{EDFDCCCA-D31B-467A-AFFB-2A58971D0FAC}" srcOrd="8" destOrd="0" presId="urn:microsoft.com/office/officeart/2011/layout/TabList"/>
    <dgm:cxn modelId="{7A2AC1D4-4812-48B6-9B66-0D48D7C79DD5}" type="presParOf" srcId="{EDFDCCCA-D31B-467A-AFFB-2A58971D0FAC}" destId="{B5A00382-2AA1-443A-B230-A4482A099639}" srcOrd="0" destOrd="0" presId="urn:microsoft.com/office/officeart/2011/layout/TabList"/>
    <dgm:cxn modelId="{66EFDE61-16B9-4658-9DC1-700689A07AA4}" type="presParOf" srcId="{EDFDCCCA-D31B-467A-AFFB-2A58971D0FAC}" destId="{9906599C-649C-44C9-BA0A-E6643C2F5ED4}" srcOrd="1" destOrd="0" presId="urn:microsoft.com/office/officeart/2011/layout/TabList"/>
    <dgm:cxn modelId="{4921FFEC-F77D-41BE-9CAB-40CF9351DF0C}" type="presParOf" srcId="{EDFDCCCA-D31B-467A-AFFB-2A58971D0FAC}" destId="{37F6F67A-B206-427F-9516-4B15D46B0A8C}" srcOrd="2" destOrd="0" presId="urn:microsoft.com/office/officeart/2011/layout/TabList"/>
    <dgm:cxn modelId="{FE32F714-329C-4C64-9EBF-FD7E4C96B670}" type="presParOf" srcId="{25E993F7-0BF7-45D0-9848-9E7DE18C6461}" destId="{95718B47-A0BC-42BD-B6F6-7F33211F7C70}" srcOrd="9" destOrd="0" presId="urn:microsoft.com/office/officeart/2011/layout/TabList"/>
    <dgm:cxn modelId="{7552A5AA-B69A-4074-85FD-4038D3ACFAF2}" type="presParOf" srcId="{25E993F7-0BF7-45D0-9848-9E7DE18C6461}" destId="{39C7D8A5-FB6B-4842-951A-F715EFD6EC5C}" srcOrd="10" destOrd="0" presId="urn:microsoft.com/office/officeart/2011/layout/TabList"/>
    <dgm:cxn modelId="{2B488DA7-6033-4CDC-AA6F-94DC1A951ACC}" type="presParOf" srcId="{39C7D8A5-FB6B-4842-951A-F715EFD6EC5C}" destId="{28A2BCE4-40AB-4EB8-90C1-C940282BD546}" srcOrd="0" destOrd="0" presId="urn:microsoft.com/office/officeart/2011/layout/TabList"/>
    <dgm:cxn modelId="{033D9ED3-B8B1-484A-BF49-FB2F9924F6AF}" type="presParOf" srcId="{39C7D8A5-FB6B-4842-951A-F715EFD6EC5C}" destId="{0B9ECE68-BE89-4E9B-913C-06DB938E6DE2}" srcOrd="1" destOrd="0" presId="urn:microsoft.com/office/officeart/2011/layout/TabList"/>
    <dgm:cxn modelId="{3D4DEC81-621A-4706-8EA2-77A5707DA79C}" type="presParOf" srcId="{39C7D8A5-FB6B-4842-951A-F715EFD6EC5C}" destId="{269349C4-F09C-48D5-8616-8A7DF7892735}" srcOrd="2" destOrd="0" presId="urn:microsoft.com/office/officeart/2011/layout/TabList"/>
    <dgm:cxn modelId="{5A41626F-B62D-455F-AFCB-FB40EBCD1180}" type="presParOf" srcId="{25E993F7-0BF7-45D0-9848-9E7DE18C6461}" destId="{BFDC8097-666A-464B-BA0A-EFF216C386F7}" srcOrd="11" destOrd="0" presId="urn:microsoft.com/office/officeart/2011/layout/TabList"/>
    <dgm:cxn modelId="{6F84358B-13AF-4EC0-936F-2394A6AD6DA7}" type="presParOf" srcId="{25E993F7-0BF7-45D0-9848-9E7DE18C6461}" destId="{E1F760E3-5D69-4B0F-A905-3D82B0A41075}" srcOrd="12" destOrd="0" presId="urn:microsoft.com/office/officeart/2011/layout/TabList"/>
    <dgm:cxn modelId="{85F560DF-CEA6-45EE-8429-F404E9267ED6}" type="presParOf" srcId="{E1F760E3-5D69-4B0F-A905-3D82B0A41075}" destId="{908E2CA0-42D6-49F4-8174-1CFDC434A291}" srcOrd="0" destOrd="0" presId="urn:microsoft.com/office/officeart/2011/layout/TabList"/>
    <dgm:cxn modelId="{086F9065-606E-4439-AFCE-6B06F61D1278}" type="presParOf" srcId="{E1F760E3-5D69-4B0F-A905-3D82B0A41075}" destId="{E835FBDE-3368-4D65-9FC8-C7AA4E44D54A}" srcOrd="1" destOrd="0" presId="urn:microsoft.com/office/officeart/2011/layout/TabList"/>
    <dgm:cxn modelId="{DC9A9AA7-0C38-42F2-B658-7CC2D9D80FA9}" type="presParOf" srcId="{E1F760E3-5D69-4B0F-A905-3D82B0A41075}" destId="{6CD54816-EA63-46FF-B53E-A2959AC35E40}" srcOrd="2" destOrd="0" presId="urn:microsoft.com/office/officeart/2011/layout/TabList"/>
    <dgm:cxn modelId="{927CF812-7456-46F4-9BE3-F42926881863}" type="presParOf" srcId="{25E993F7-0BF7-45D0-9848-9E7DE18C6461}" destId="{67C6C8D3-F0DF-47D4-BD67-AA010C2AD69F}" srcOrd="13" destOrd="0" presId="urn:microsoft.com/office/officeart/2011/layout/TabList"/>
    <dgm:cxn modelId="{2AEC1A82-6375-4591-B3D3-7947C60EF29D}" type="presParOf" srcId="{25E993F7-0BF7-45D0-9848-9E7DE18C6461}" destId="{993E2D66-856C-4AA3-81D7-AFB3A3DB2245}" srcOrd="14" destOrd="0" presId="urn:microsoft.com/office/officeart/2011/layout/TabList"/>
    <dgm:cxn modelId="{449DE3B9-11AB-4AD5-8F24-016B52FAF16E}" type="presParOf" srcId="{993E2D66-856C-4AA3-81D7-AFB3A3DB2245}" destId="{DB4E24D1-BC69-46C6-9F79-F431CCEC49DA}" srcOrd="0" destOrd="0" presId="urn:microsoft.com/office/officeart/2011/layout/TabList"/>
    <dgm:cxn modelId="{E08487C7-6785-4E98-97E7-00F2EAD16C2C}" type="presParOf" srcId="{993E2D66-856C-4AA3-81D7-AFB3A3DB2245}" destId="{87257E5A-338B-47C0-8DF6-3C479BCC6DAA}" srcOrd="1" destOrd="0" presId="urn:microsoft.com/office/officeart/2011/layout/TabList"/>
    <dgm:cxn modelId="{295A3C10-D0D4-4225-8E80-2C9CE144D7A5}" type="presParOf" srcId="{993E2D66-856C-4AA3-81D7-AFB3A3DB2245}" destId="{80CA69D9-1182-4D04-AA6D-4165674F7587}" srcOrd="2" destOrd="0" presId="urn:microsoft.com/office/officeart/2011/layout/TabList"/>
    <dgm:cxn modelId="{3B67BB2D-9D84-4E44-B9E5-01DE850BEE89}" type="presParOf" srcId="{25E993F7-0BF7-45D0-9848-9E7DE18C6461}" destId="{97DF5F48-68F9-42E1-8F63-8F2777DD0BEE}" srcOrd="15" destOrd="0" presId="urn:microsoft.com/office/officeart/2011/layout/TabList"/>
    <dgm:cxn modelId="{134DAF39-3FED-4EE5-9DFD-52304CEBC04F}" type="presParOf" srcId="{25E993F7-0BF7-45D0-9848-9E7DE18C6461}" destId="{7EFF6E9E-F75E-44FB-9D1C-A3413DE13064}" srcOrd="16" destOrd="0" presId="urn:microsoft.com/office/officeart/2011/layout/TabList"/>
    <dgm:cxn modelId="{8FDE86F4-F86A-4EB6-9CDA-68E37E360084}" type="presParOf" srcId="{7EFF6E9E-F75E-44FB-9D1C-A3413DE13064}" destId="{0FB38301-1A73-48A9-BE7B-513B0FFF6F89}" srcOrd="0" destOrd="0" presId="urn:microsoft.com/office/officeart/2011/layout/TabList"/>
    <dgm:cxn modelId="{7B94C80C-EBBA-4ABC-AC57-BF3F45B43A3C}" type="presParOf" srcId="{7EFF6E9E-F75E-44FB-9D1C-A3413DE13064}" destId="{AE385091-19F2-4721-B75E-1E153C28AA00}" srcOrd="1" destOrd="0" presId="urn:microsoft.com/office/officeart/2011/layout/TabList"/>
    <dgm:cxn modelId="{5C6CFFDE-F38E-493E-9481-F39E4F6D5D5A}" type="presParOf" srcId="{7EFF6E9E-F75E-44FB-9D1C-A3413DE13064}" destId="{FA700A85-5E17-4835-825D-6EA0BE513D34}" srcOrd="2" destOrd="0" presId="urn:microsoft.com/office/officeart/2011/layout/TabList"/>
    <dgm:cxn modelId="{C4A8EEA2-1CC7-4774-B1AA-01C1EBC95EEA}" type="presParOf" srcId="{25E993F7-0BF7-45D0-9848-9E7DE18C6461}" destId="{5567A658-D6C5-4747-8F04-CD0E6FBD19D5}" srcOrd="17" destOrd="0" presId="urn:microsoft.com/office/officeart/2011/layout/TabList"/>
    <dgm:cxn modelId="{66C93813-9D57-4E37-9428-76F2FB8C14CB}" type="presParOf" srcId="{25E993F7-0BF7-45D0-9848-9E7DE18C6461}" destId="{3C60ABFB-F688-4D74-AF12-1C27CBE61C47}" srcOrd="18" destOrd="0" presId="urn:microsoft.com/office/officeart/2011/layout/TabList"/>
    <dgm:cxn modelId="{BC4CA696-A100-478E-BBB5-96C454DE1D4B}" type="presParOf" srcId="{3C60ABFB-F688-4D74-AF12-1C27CBE61C47}" destId="{D837A77E-071B-483E-8ECE-A454240B57EA}" srcOrd="0" destOrd="0" presId="urn:microsoft.com/office/officeart/2011/layout/TabList"/>
    <dgm:cxn modelId="{12A545E2-30BB-47D5-AF0E-873C1248A262}" type="presParOf" srcId="{3C60ABFB-F688-4D74-AF12-1C27CBE61C47}" destId="{64F7605C-5737-41EF-8FFF-6751F190BF92}" srcOrd="1" destOrd="0" presId="urn:microsoft.com/office/officeart/2011/layout/TabList"/>
    <dgm:cxn modelId="{0DB25AC5-967F-4636-9C05-A4A556E6E82A}" type="presParOf" srcId="{3C60ABFB-F688-4D74-AF12-1C27CBE61C47}" destId="{CD57DFB3-5799-41D9-8F10-65D96911B654}" srcOrd="2" destOrd="0" presId="urn:microsoft.com/office/officeart/2011/layout/TabList"/>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7DFB3-5799-41D9-8F10-65D96911B654}">
      <dsp:nvSpPr>
        <dsp:cNvPr id="0" name=""/>
        <dsp:cNvSpPr/>
      </dsp:nvSpPr>
      <dsp:spPr>
        <a:xfrm>
          <a:off x="0" y="5543993"/>
          <a:ext cx="3704272" cy="0"/>
        </a:xfrm>
        <a:prstGeom prst="line">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700A85-5E17-4835-825D-6EA0BE513D34}">
      <dsp:nvSpPr>
        <dsp:cNvPr id="0" name=""/>
        <dsp:cNvSpPr/>
      </dsp:nvSpPr>
      <dsp:spPr>
        <a:xfrm>
          <a:off x="0" y="4986942"/>
          <a:ext cx="3704272" cy="0"/>
        </a:xfrm>
        <a:prstGeom prst="line">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CA69D9-1182-4D04-AA6D-4165674F7587}">
      <dsp:nvSpPr>
        <dsp:cNvPr id="0" name=""/>
        <dsp:cNvSpPr/>
      </dsp:nvSpPr>
      <dsp:spPr>
        <a:xfrm>
          <a:off x="0" y="4429890"/>
          <a:ext cx="3704272" cy="0"/>
        </a:xfrm>
        <a:prstGeom prst="line">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D54816-EA63-46FF-B53E-A2959AC35E40}">
      <dsp:nvSpPr>
        <dsp:cNvPr id="0" name=""/>
        <dsp:cNvSpPr/>
      </dsp:nvSpPr>
      <dsp:spPr>
        <a:xfrm>
          <a:off x="0" y="3872839"/>
          <a:ext cx="3704272" cy="0"/>
        </a:xfrm>
        <a:prstGeom prst="line">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9349C4-F09C-48D5-8616-8A7DF7892735}">
      <dsp:nvSpPr>
        <dsp:cNvPr id="0" name=""/>
        <dsp:cNvSpPr/>
      </dsp:nvSpPr>
      <dsp:spPr>
        <a:xfrm>
          <a:off x="0" y="3315788"/>
          <a:ext cx="3704272" cy="0"/>
        </a:xfrm>
        <a:prstGeom prst="line">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F6F67A-B206-427F-9516-4B15D46B0A8C}">
      <dsp:nvSpPr>
        <dsp:cNvPr id="0" name=""/>
        <dsp:cNvSpPr/>
      </dsp:nvSpPr>
      <dsp:spPr>
        <a:xfrm>
          <a:off x="0" y="2758736"/>
          <a:ext cx="3704272" cy="0"/>
        </a:xfrm>
        <a:prstGeom prst="line">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407BF4-AA8B-4922-950F-7A4FA8123B01}">
      <dsp:nvSpPr>
        <dsp:cNvPr id="0" name=""/>
        <dsp:cNvSpPr/>
      </dsp:nvSpPr>
      <dsp:spPr>
        <a:xfrm>
          <a:off x="0" y="2201685"/>
          <a:ext cx="3704272" cy="0"/>
        </a:xfrm>
        <a:prstGeom prst="line">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AC2CDE-2B1E-417C-B0CF-4328B6464B9C}">
      <dsp:nvSpPr>
        <dsp:cNvPr id="0" name=""/>
        <dsp:cNvSpPr/>
      </dsp:nvSpPr>
      <dsp:spPr>
        <a:xfrm>
          <a:off x="0" y="1644634"/>
          <a:ext cx="3704272" cy="0"/>
        </a:xfrm>
        <a:prstGeom prst="line">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10649F-5D64-403A-8EDF-E18DF13B98FB}">
      <dsp:nvSpPr>
        <dsp:cNvPr id="0" name=""/>
        <dsp:cNvSpPr/>
      </dsp:nvSpPr>
      <dsp:spPr>
        <a:xfrm>
          <a:off x="0" y="1087582"/>
          <a:ext cx="3704272" cy="0"/>
        </a:xfrm>
        <a:prstGeom prst="line">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6540F9-3836-4611-BE0A-58D23A58A4A1}">
      <dsp:nvSpPr>
        <dsp:cNvPr id="0" name=""/>
        <dsp:cNvSpPr/>
      </dsp:nvSpPr>
      <dsp:spPr>
        <a:xfrm>
          <a:off x="0" y="530531"/>
          <a:ext cx="3704272" cy="0"/>
        </a:xfrm>
        <a:prstGeom prst="line">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964942-216B-46A8-B4C0-0D9416D759B3}">
      <dsp:nvSpPr>
        <dsp:cNvPr id="0" name=""/>
        <dsp:cNvSpPr/>
      </dsp:nvSpPr>
      <dsp:spPr>
        <a:xfrm>
          <a:off x="963110" y="6"/>
          <a:ext cx="2741161" cy="530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 tIns="17145" rIns="17145" bIns="17145" numCol="1" spcCol="1270" anchor="b" anchorCtr="0">
          <a:noAutofit/>
        </a:bodyPr>
        <a:lstStyle/>
        <a:p>
          <a:pPr marL="0" lvl="0" indent="0" algn="l" defTabSz="400050">
            <a:lnSpc>
              <a:spcPct val="90000"/>
            </a:lnSpc>
            <a:spcBef>
              <a:spcPct val="0"/>
            </a:spcBef>
            <a:spcAft>
              <a:spcPct val="35000"/>
            </a:spcAft>
            <a:buNone/>
          </a:pPr>
          <a:r>
            <a:rPr lang="en-US" sz="900" kern="1200" dirty="0">
              <a:solidFill>
                <a:schemeClr val="bg1"/>
              </a:solidFill>
            </a:rPr>
            <a:t>Date On Which the Transaction was completed (Date &amp; Time)</a:t>
          </a:r>
          <a:endParaRPr lang="en-IN" sz="900" kern="1200" dirty="0">
            <a:solidFill>
              <a:schemeClr val="bg1"/>
            </a:solidFill>
          </a:endParaRPr>
        </a:p>
      </dsp:txBody>
      <dsp:txXfrm>
        <a:off x="963110" y="6"/>
        <a:ext cx="2741161" cy="530525"/>
      </dsp:txXfrm>
    </dsp:sp>
    <dsp:sp modelId="{8B64FAD4-3317-4456-911F-3F740EF24A6D}">
      <dsp:nvSpPr>
        <dsp:cNvPr id="0" name=""/>
        <dsp:cNvSpPr/>
      </dsp:nvSpPr>
      <dsp:spPr>
        <a:xfrm>
          <a:off x="0" y="0"/>
          <a:ext cx="963110" cy="530525"/>
        </a:xfrm>
        <a:prstGeom prst="round2SameRect">
          <a:avLst>
            <a:gd name="adj1" fmla="val 16670"/>
            <a:gd name="adj2" fmla="val 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400050">
            <a:lnSpc>
              <a:spcPct val="90000"/>
            </a:lnSpc>
            <a:spcBef>
              <a:spcPct val="0"/>
            </a:spcBef>
            <a:spcAft>
              <a:spcPct val="35000"/>
            </a:spcAft>
            <a:buNone/>
          </a:pPr>
          <a:r>
            <a:rPr lang="en-US" sz="900" kern="1200" dirty="0"/>
            <a:t>Purchase Date</a:t>
          </a:r>
          <a:endParaRPr lang="en-IN" sz="900" kern="1200" dirty="0"/>
        </a:p>
      </dsp:txBody>
      <dsp:txXfrm>
        <a:off x="25903" y="25903"/>
        <a:ext cx="911304" cy="504622"/>
      </dsp:txXfrm>
    </dsp:sp>
    <dsp:sp modelId="{7F211E56-3D96-44B5-9CEC-B4B3BBD50C3E}">
      <dsp:nvSpPr>
        <dsp:cNvPr id="0" name=""/>
        <dsp:cNvSpPr/>
      </dsp:nvSpPr>
      <dsp:spPr>
        <a:xfrm>
          <a:off x="963110" y="557057"/>
          <a:ext cx="2741161" cy="530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 tIns="17145" rIns="17145" bIns="17145" numCol="1" spcCol="1270" anchor="b" anchorCtr="0">
          <a:noAutofit/>
        </a:bodyPr>
        <a:lstStyle/>
        <a:p>
          <a:pPr marL="0" lvl="0" indent="0" algn="l" defTabSz="400050">
            <a:lnSpc>
              <a:spcPct val="90000"/>
            </a:lnSpc>
            <a:spcBef>
              <a:spcPct val="0"/>
            </a:spcBef>
            <a:spcAft>
              <a:spcPct val="35000"/>
            </a:spcAft>
            <a:buNone/>
          </a:pPr>
          <a:r>
            <a:rPr lang="en-US" sz="900" kern="1200" dirty="0">
              <a:solidFill>
                <a:schemeClr val="bg1"/>
              </a:solidFill>
            </a:rPr>
            <a:t>Unique Identifier a assigned to each customer (Str)</a:t>
          </a:r>
          <a:endParaRPr lang="en-IN" sz="900" kern="1200" dirty="0">
            <a:solidFill>
              <a:schemeClr val="bg1"/>
            </a:solidFill>
          </a:endParaRPr>
        </a:p>
      </dsp:txBody>
      <dsp:txXfrm>
        <a:off x="963110" y="557057"/>
        <a:ext cx="2741161" cy="530525"/>
      </dsp:txXfrm>
    </dsp:sp>
    <dsp:sp modelId="{7CA142B2-BD41-477E-B03A-AC96203D59A2}">
      <dsp:nvSpPr>
        <dsp:cNvPr id="0" name=""/>
        <dsp:cNvSpPr/>
      </dsp:nvSpPr>
      <dsp:spPr>
        <a:xfrm>
          <a:off x="0" y="555354"/>
          <a:ext cx="963110" cy="530525"/>
        </a:xfrm>
        <a:prstGeom prst="round2SameRect">
          <a:avLst>
            <a:gd name="adj1" fmla="val 16670"/>
            <a:gd name="adj2" fmla="val 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400050">
            <a:lnSpc>
              <a:spcPct val="90000"/>
            </a:lnSpc>
            <a:spcBef>
              <a:spcPct val="0"/>
            </a:spcBef>
            <a:spcAft>
              <a:spcPct val="35000"/>
            </a:spcAft>
            <a:buNone/>
          </a:pPr>
          <a:r>
            <a:rPr lang="en-US" sz="900" kern="1200" dirty="0"/>
            <a:t>Customer ID</a:t>
          </a:r>
          <a:endParaRPr lang="en-IN" sz="900" kern="1200" dirty="0"/>
        </a:p>
      </dsp:txBody>
      <dsp:txXfrm>
        <a:off x="25903" y="581257"/>
        <a:ext cx="911304" cy="504622"/>
      </dsp:txXfrm>
    </dsp:sp>
    <dsp:sp modelId="{DBBD8FB1-F5A3-417F-B9E8-A23AA75B25E3}">
      <dsp:nvSpPr>
        <dsp:cNvPr id="0" name=""/>
        <dsp:cNvSpPr/>
      </dsp:nvSpPr>
      <dsp:spPr>
        <a:xfrm>
          <a:off x="963110" y="1114109"/>
          <a:ext cx="2741161" cy="530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 tIns="17145" rIns="17145" bIns="17145" numCol="1" spcCol="1270" anchor="b" anchorCtr="0">
          <a:noAutofit/>
        </a:bodyPr>
        <a:lstStyle/>
        <a:p>
          <a:pPr marL="0" lvl="0" indent="0" algn="l" defTabSz="400050">
            <a:lnSpc>
              <a:spcPct val="90000"/>
            </a:lnSpc>
            <a:spcBef>
              <a:spcPct val="0"/>
            </a:spcBef>
            <a:spcAft>
              <a:spcPct val="35000"/>
            </a:spcAft>
            <a:buNone/>
          </a:pPr>
          <a:r>
            <a:rPr lang="en-US" sz="900" kern="1200" dirty="0">
              <a:solidFill>
                <a:schemeClr val="bg1"/>
              </a:solidFill>
            </a:rPr>
            <a:t>Gender of the Customer (Boolean)</a:t>
          </a:r>
          <a:endParaRPr lang="en-IN" sz="900" kern="1200" dirty="0">
            <a:solidFill>
              <a:schemeClr val="bg1"/>
            </a:solidFill>
          </a:endParaRPr>
        </a:p>
      </dsp:txBody>
      <dsp:txXfrm>
        <a:off x="963110" y="1114109"/>
        <a:ext cx="2741161" cy="530525"/>
      </dsp:txXfrm>
    </dsp:sp>
    <dsp:sp modelId="{ECCCFBAC-3CCC-48DC-80F6-CC6E93825298}">
      <dsp:nvSpPr>
        <dsp:cNvPr id="0" name=""/>
        <dsp:cNvSpPr/>
      </dsp:nvSpPr>
      <dsp:spPr>
        <a:xfrm>
          <a:off x="0" y="1112406"/>
          <a:ext cx="963110" cy="530525"/>
        </a:xfrm>
        <a:prstGeom prst="round2SameRect">
          <a:avLst>
            <a:gd name="adj1" fmla="val 16670"/>
            <a:gd name="adj2" fmla="val 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400050">
            <a:lnSpc>
              <a:spcPct val="90000"/>
            </a:lnSpc>
            <a:spcBef>
              <a:spcPct val="0"/>
            </a:spcBef>
            <a:spcAft>
              <a:spcPct val="35000"/>
            </a:spcAft>
            <a:buNone/>
          </a:pPr>
          <a:r>
            <a:rPr lang="en-US" sz="900" kern="1200" dirty="0"/>
            <a:t>Gender</a:t>
          </a:r>
          <a:endParaRPr lang="en-IN" sz="900" kern="1200" dirty="0"/>
        </a:p>
      </dsp:txBody>
      <dsp:txXfrm>
        <a:off x="25903" y="1138309"/>
        <a:ext cx="911304" cy="504622"/>
      </dsp:txXfrm>
    </dsp:sp>
    <dsp:sp modelId="{5568315D-D734-4F6B-8835-BBA69583B16C}">
      <dsp:nvSpPr>
        <dsp:cNvPr id="0" name=""/>
        <dsp:cNvSpPr/>
      </dsp:nvSpPr>
      <dsp:spPr>
        <a:xfrm>
          <a:off x="963110" y="1671160"/>
          <a:ext cx="2741161" cy="530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 tIns="17145" rIns="17145" bIns="17145" numCol="1" spcCol="1270" anchor="b" anchorCtr="0">
          <a:noAutofit/>
        </a:bodyPr>
        <a:lstStyle/>
        <a:p>
          <a:pPr marL="0" lvl="0" indent="0" algn="l" defTabSz="400050">
            <a:lnSpc>
              <a:spcPct val="90000"/>
            </a:lnSpc>
            <a:spcBef>
              <a:spcPct val="0"/>
            </a:spcBef>
            <a:spcAft>
              <a:spcPct val="35000"/>
            </a:spcAft>
            <a:buNone/>
          </a:pPr>
          <a:r>
            <a:rPr lang="en-US" sz="900" kern="1200" dirty="0">
              <a:solidFill>
                <a:schemeClr val="bg1"/>
              </a:solidFill>
            </a:rPr>
            <a:t>Age of the Customer at time of Purchase (Int)</a:t>
          </a:r>
          <a:endParaRPr lang="en-IN" sz="900" kern="1200" dirty="0">
            <a:solidFill>
              <a:schemeClr val="bg1"/>
            </a:solidFill>
          </a:endParaRPr>
        </a:p>
      </dsp:txBody>
      <dsp:txXfrm>
        <a:off x="963110" y="1671160"/>
        <a:ext cx="2741161" cy="530525"/>
      </dsp:txXfrm>
    </dsp:sp>
    <dsp:sp modelId="{34C64DDC-B6B5-4678-BFC3-E43F37FDEF2A}">
      <dsp:nvSpPr>
        <dsp:cNvPr id="0" name=""/>
        <dsp:cNvSpPr/>
      </dsp:nvSpPr>
      <dsp:spPr>
        <a:xfrm>
          <a:off x="0" y="1669457"/>
          <a:ext cx="963110" cy="530525"/>
        </a:xfrm>
        <a:prstGeom prst="round2SameRect">
          <a:avLst>
            <a:gd name="adj1" fmla="val 16670"/>
            <a:gd name="adj2" fmla="val 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400050">
            <a:lnSpc>
              <a:spcPct val="90000"/>
            </a:lnSpc>
            <a:spcBef>
              <a:spcPct val="0"/>
            </a:spcBef>
            <a:spcAft>
              <a:spcPct val="35000"/>
            </a:spcAft>
            <a:buNone/>
          </a:pPr>
          <a:r>
            <a:rPr lang="en-US" sz="900" kern="1200" dirty="0"/>
            <a:t>Age</a:t>
          </a:r>
          <a:endParaRPr lang="en-IN" sz="900" kern="1200" dirty="0"/>
        </a:p>
      </dsp:txBody>
      <dsp:txXfrm>
        <a:off x="25903" y="1695360"/>
        <a:ext cx="911304" cy="504622"/>
      </dsp:txXfrm>
    </dsp:sp>
    <dsp:sp modelId="{B5A00382-2AA1-443A-B230-A4482A099639}">
      <dsp:nvSpPr>
        <dsp:cNvPr id="0" name=""/>
        <dsp:cNvSpPr/>
      </dsp:nvSpPr>
      <dsp:spPr>
        <a:xfrm>
          <a:off x="963110" y="2228211"/>
          <a:ext cx="2741161" cy="530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 tIns="17145" rIns="17145" bIns="17145" numCol="1" spcCol="1270" anchor="b" anchorCtr="0">
          <a:noAutofit/>
        </a:bodyPr>
        <a:lstStyle/>
        <a:p>
          <a:pPr marL="0" lvl="0" indent="0" algn="l" defTabSz="400050">
            <a:lnSpc>
              <a:spcPct val="90000"/>
            </a:lnSpc>
            <a:spcBef>
              <a:spcPct val="0"/>
            </a:spcBef>
            <a:spcAft>
              <a:spcPct val="35000"/>
            </a:spcAft>
            <a:buNone/>
          </a:pPr>
          <a:r>
            <a:rPr lang="en-US" sz="900" kern="1200" dirty="0">
              <a:solidFill>
                <a:schemeClr val="bg1"/>
              </a:solidFill>
            </a:rPr>
            <a:t>Country where the Transaction occurred (Str)</a:t>
          </a:r>
          <a:endParaRPr lang="en-IN" sz="900" kern="1200" dirty="0">
            <a:solidFill>
              <a:schemeClr val="bg1"/>
            </a:solidFill>
          </a:endParaRPr>
        </a:p>
      </dsp:txBody>
      <dsp:txXfrm>
        <a:off x="963110" y="2228211"/>
        <a:ext cx="2741161" cy="530525"/>
      </dsp:txXfrm>
    </dsp:sp>
    <dsp:sp modelId="{9906599C-649C-44C9-BA0A-E6643C2F5ED4}">
      <dsp:nvSpPr>
        <dsp:cNvPr id="0" name=""/>
        <dsp:cNvSpPr/>
      </dsp:nvSpPr>
      <dsp:spPr>
        <a:xfrm>
          <a:off x="0" y="2226508"/>
          <a:ext cx="963110" cy="530525"/>
        </a:xfrm>
        <a:prstGeom prst="round2SameRect">
          <a:avLst>
            <a:gd name="adj1" fmla="val 16670"/>
            <a:gd name="adj2" fmla="val 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400050">
            <a:lnSpc>
              <a:spcPct val="90000"/>
            </a:lnSpc>
            <a:spcBef>
              <a:spcPct val="0"/>
            </a:spcBef>
            <a:spcAft>
              <a:spcPct val="35000"/>
            </a:spcAft>
            <a:buNone/>
          </a:pPr>
          <a:r>
            <a:rPr lang="en-US" sz="900" kern="1200" dirty="0"/>
            <a:t>Location</a:t>
          </a:r>
          <a:endParaRPr lang="en-IN" sz="900" kern="1200" dirty="0"/>
        </a:p>
      </dsp:txBody>
      <dsp:txXfrm>
        <a:off x="25903" y="2252411"/>
        <a:ext cx="911304" cy="504622"/>
      </dsp:txXfrm>
    </dsp:sp>
    <dsp:sp modelId="{28A2BCE4-40AB-4EB8-90C1-C940282BD546}">
      <dsp:nvSpPr>
        <dsp:cNvPr id="0" name=""/>
        <dsp:cNvSpPr/>
      </dsp:nvSpPr>
      <dsp:spPr>
        <a:xfrm>
          <a:off x="963110" y="2785263"/>
          <a:ext cx="2741161" cy="530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 tIns="17145" rIns="17145" bIns="17145" numCol="1" spcCol="1270" anchor="b" anchorCtr="0">
          <a:noAutofit/>
        </a:bodyPr>
        <a:lstStyle/>
        <a:p>
          <a:pPr marL="0" lvl="0" indent="0" algn="l" defTabSz="400050">
            <a:lnSpc>
              <a:spcPct val="90000"/>
            </a:lnSpc>
            <a:spcBef>
              <a:spcPct val="0"/>
            </a:spcBef>
            <a:spcAft>
              <a:spcPct val="35000"/>
            </a:spcAft>
            <a:buNone/>
          </a:pPr>
          <a:r>
            <a:rPr lang="en-US" sz="900" kern="1200" dirty="0">
              <a:solidFill>
                <a:schemeClr val="bg1"/>
              </a:solidFill>
            </a:rPr>
            <a:t>Category of Product Purchased (Str)</a:t>
          </a:r>
          <a:endParaRPr lang="en-IN" sz="900" kern="1200" dirty="0">
            <a:solidFill>
              <a:schemeClr val="bg1"/>
            </a:solidFill>
          </a:endParaRPr>
        </a:p>
      </dsp:txBody>
      <dsp:txXfrm>
        <a:off x="963110" y="2785263"/>
        <a:ext cx="2741161" cy="530525"/>
      </dsp:txXfrm>
    </dsp:sp>
    <dsp:sp modelId="{0B9ECE68-BE89-4E9B-913C-06DB938E6DE2}">
      <dsp:nvSpPr>
        <dsp:cNvPr id="0" name=""/>
        <dsp:cNvSpPr/>
      </dsp:nvSpPr>
      <dsp:spPr>
        <a:xfrm>
          <a:off x="0" y="2783560"/>
          <a:ext cx="963110" cy="530525"/>
        </a:xfrm>
        <a:prstGeom prst="round2SameRect">
          <a:avLst>
            <a:gd name="adj1" fmla="val 16670"/>
            <a:gd name="adj2" fmla="val 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400050">
            <a:lnSpc>
              <a:spcPct val="90000"/>
            </a:lnSpc>
            <a:spcBef>
              <a:spcPct val="0"/>
            </a:spcBef>
            <a:spcAft>
              <a:spcPct val="35000"/>
            </a:spcAft>
            <a:buNone/>
          </a:pPr>
          <a:r>
            <a:rPr lang="en-US" sz="900" kern="1200" dirty="0"/>
            <a:t>Product Category</a:t>
          </a:r>
          <a:endParaRPr lang="en-IN" sz="900" kern="1200" dirty="0"/>
        </a:p>
      </dsp:txBody>
      <dsp:txXfrm>
        <a:off x="25903" y="2809463"/>
        <a:ext cx="911304" cy="504622"/>
      </dsp:txXfrm>
    </dsp:sp>
    <dsp:sp modelId="{908E2CA0-42D6-49F4-8174-1CFDC434A291}">
      <dsp:nvSpPr>
        <dsp:cNvPr id="0" name=""/>
        <dsp:cNvSpPr/>
      </dsp:nvSpPr>
      <dsp:spPr>
        <a:xfrm>
          <a:off x="963110" y="3342314"/>
          <a:ext cx="2741161" cy="530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 tIns="17145" rIns="17145" bIns="17145" numCol="1" spcCol="1270" anchor="b" anchorCtr="0">
          <a:noAutofit/>
        </a:bodyPr>
        <a:lstStyle/>
        <a:p>
          <a:pPr marL="0" lvl="0" indent="0" algn="l" defTabSz="400050">
            <a:lnSpc>
              <a:spcPct val="90000"/>
            </a:lnSpc>
            <a:spcBef>
              <a:spcPct val="0"/>
            </a:spcBef>
            <a:spcAft>
              <a:spcPct val="35000"/>
            </a:spcAft>
            <a:buNone/>
          </a:pPr>
          <a:r>
            <a:rPr lang="en-US" sz="900" kern="1200" dirty="0">
              <a:solidFill>
                <a:schemeClr val="bg1"/>
              </a:solidFill>
            </a:rPr>
            <a:t>Device used to complete the purchase (Str)</a:t>
          </a:r>
          <a:endParaRPr lang="en-IN" sz="900" kern="1200" dirty="0">
            <a:solidFill>
              <a:schemeClr val="bg1"/>
            </a:solidFill>
          </a:endParaRPr>
        </a:p>
      </dsp:txBody>
      <dsp:txXfrm>
        <a:off x="963110" y="3342314"/>
        <a:ext cx="2741161" cy="530525"/>
      </dsp:txXfrm>
    </dsp:sp>
    <dsp:sp modelId="{E835FBDE-3368-4D65-9FC8-C7AA4E44D54A}">
      <dsp:nvSpPr>
        <dsp:cNvPr id="0" name=""/>
        <dsp:cNvSpPr/>
      </dsp:nvSpPr>
      <dsp:spPr>
        <a:xfrm>
          <a:off x="0" y="3340611"/>
          <a:ext cx="963110" cy="530525"/>
        </a:xfrm>
        <a:prstGeom prst="round2SameRect">
          <a:avLst>
            <a:gd name="adj1" fmla="val 16670"/>
            <a:gd name="adj2" fmla="val 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400050">
            <a:lnSpc>
              <a:spcPct val="90000"/>
            </a:lnSpc>
            <a:spcBef>
              <a:spcPct val="0"/>
            </a:spcBef>
            <a:spcAft>
              <a:spcPct val="35000"/>
            </a:spcAft>
            <a:buNone/>
          </a:pPr>
          <a:r>
            <a:rPr lang="en-US" sz="900" kern="1200" dirty="0"/>
            <a:t>Device Used</a:t>
          </a:r>
          <a:endParaRPr lang="en-IN" sz="900" kern="1200" dirty="0"/>
        </a:p>
      </dsp:txBody>
      <dsp:txXfrm>
        <a:off x="25903" y="3366514"/>
        <a:ext cx="911304" cy="504622"/>
      </dsp:txXfrm>
    </dsp:sp>
    <dsp:sp modelId="{DB4E24D1-BC69-46C6-9F79-F431CCEC49DA}">
      <dsp:nvSpPr>
        <dsp:cNvPr id="0" name=""/>
        <dsp:cNvSpPr/>
      </dsp:nvSpPr>
      <dsp:spPr>
        <a:xfrm>
          <a:off x="963110" y="3899365"/>
          <a:ext cx="2741161" cy="530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 tIns="17145" rIns="17145" bIns="17145" numCol="1" spcCol="1270" anchor="b" anchorCtr="0">
          <a:noAutofit/>
        </a:bodyPr>
        <a:lstStyle/>
        <a:p>
          <a:pPr marL="0" lvl="0" indent="0" algn="l" defTabSz="400050">
            <a:lnSpc>
              <a:spcPct val="90000"/>
            </a:lnSpc>
            <a:spcBef>
              <a:spcPct val="0"/>
            </a:spcBef>
            <a:spcAft>
              <a:spcPct val="35000"/>
            </a:spcAft>
            <a:buNone/>
          </a:pPr>
          <a:r>
            <a:rPr lang="en-US" sz="900" kern="1200" dirty="0">
              <a:solidFill>
                <a:schemeClr val="bg1"/>
              </a:solidFill>
            </a:rPr>
            <a:t>Method used for Payment (Str)</a:t>
          </a:r>
          <a:endParaRPr lang="en-IN" sz="900" kern="1200" dirty="0">
            <a:solidFill>
              <a:schemeClr val="bg1"/>
            </a:solidFill>
          </a:endParaRPr>
        </a:p>
      </dsp:txBody>
      <dsp:txXfrm>
        <a:off x="963110" y="3899365"/>
        <a:ext cx="2741161" cy="530525"/>
      </dsp:txXfrm>
    </dsp:sp>
    <dsp:sp modelId="{87257E5A-338B-47C0-8DF6-3C479BCC6DAA}">
      <dsp:nvSpPr>
        <dsp:cNvPr id="0" name=""/>
        <dsp:cNvSpPr/>
      </dsp:nvSpPr>
      <dsp:spPr>
        <a:xfrm>
          <a:off x="0" y="3897662"/>
          <a:ext cx="963110" cy="530525"/>
        </a:xfrm>
        <a:prstGeom prst="round2SameRect">
          <a:avLst>
            <a:gd name="adj1" fmla="val 16670"/>
            <a:gd name="adj2" fmla="val 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400050">
            <a:lnSpc>
              <a:spcPct val="90000"/>
            </a:lnSpc>
            <a:spcBef>
              <a:spcPct val="0"/>
            </a:spcBef>
            <a:spcAft>
              <a:spcPct val="35000"/>
            </a:spcAft>
            <a:buNone/>
          </a:pPr>
          <a:r>
            <a:rPr lang="en-US" sz="900" kern="1200" dirty="0"/>
            <a:t>Payment Method</a:t>
          </a:r>
          <a:endParaRPr lang="en-IN" sz="900" kern="1200" dirty="0"/>
        </a:p>
      </dsp:txBody>
      <dsp:txXfrm>
        <a:off x="25903" y="3923565"/>
        <a:ext cx="911304" cy="504622"/>
      </dsp:txXfrm>
    </dsp:sp>
    <dsp:sp modelId="{0FB38301-1A73-48A9-BE7B-513B0FFF6F89}">
      <dsp:nvSpPr>
        <dsp:cNvPr id="0" name=""/>
        <dsp:cNvSpPr/>
      </dsp:nvSpPr>
      <dsp:spPr>
        <a:xfrm>
          <a:off x="963110" y="4456417"/>
          <a:ext cx="2741161" cy="530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 tIns="17145" rIns="17145" bIns="17145" numCol="1" spcCol="1270" anchor="b" anchorCtr="0">
          <a:noAutofit/>
        </a:bodyPr>
        <a:lstStyle/>
        <a:p>
          <a:pPr marL="0" lvl="0" indent="0" algn="l" defTabSz="400050">
            <a:lnSpc>
              <a:spcPct val="90000"/>
            </a:lnSpc>
            <a:spcBef>
              <a:spcPct val="0"/>
            </a:spcBef>
            <a:spcAft>
              <a:spcPct val="35000"/>
            </a:spcAft>
            <a:buNone/>
          </a:pPr>
          <a:r>
            <a:rPr lang="en-US" sz="900" kern="1200" dirty="0">
              <a:solidFill>
                <a:schemeClr val="bg1"/>
              </a:solidFill>
            </a:rPr>
            <a:t>Indicates whether the customer is a repeat buyer (Boolean)</a:t>
          </a:r>
          <a:endParaRPr lang="en-IN" sz="900" kern="1200" dirty="0">
            <a:solidFill>
              <a:schemeClr val="bg1"/>
            </a:solidFill>
          </a:endParaRPr>
        </a:p>
      </dsp:txBody>
      <dsp:txXfrm>
        <a:off x="963110" y="4456417"/>
        <a:ext cx="2741161" cy="530525"/>
      </dsp:txXfrm>
    </dsp:sp>
    <dsp:sp modelId="{AE385091-19F2-4721-B75E-1E153C28AA00}">
      <dsp:nvSpPr>
        <dsp:cNvPr id="0" name=""/>
        <dsp:cNvSpPr/>
      </dsp:nvSpPr>
      <dsp:spPr>
        <a:xfrm>
          <a:off x="0" y="4456411"/>
          <a:ext cx="963110" cy="530525"/>
        </a:xfrm>
        <a:prstGeom prst="round2SameRect">
          <a:avLst>
            <a:gd name="adj1" fmla="val 16670"/>
            <a:gd name="adj2" fmla="val 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400050">
            <a:lnSpc>
              <a:spcPct val="90000"/>
            </a:lnSpc>
            <a:spcBef>
              <a:spcPct val="0"/>
            </a:spcBef>
            <a:spcAft>
              <a:spcPct val="35000"/>
            </a:spcAft>
            <a:buNone/>
          </a:pPr>
          <a:r>
            <a:rPr lang="en-US" sz="900" kern="1200" dirty="0"/>
            <a:t>Returning Customer</a:t>
          </a:r>
          <a:endParaRPr lang="en-IN" sz="900" kern="1200" dirty="0"/>
        </a:p>
      </dsp:txBody>
      <dsp:txXfrm>
        <a:off x="25903" y="4482314"/>
        <a:ext cx="911304" cy="504622"/>
      </dsp:txXfrm>
    </dsp:sp>
    <dsp:sp modelId="{D837A77E-071B-483E-8ECE-A454240B57EA}">
      <dsp:nvSpPr>
        <dsp:cNvPr id="0" name=""/>
        <dsp:cNvSpPr/>
      </dsp:nvSpPr>
      <dsp:spPr>
        <a:xfrm>
          <a:off x="963110" y="5013468"/>
          <a:ext cx="2741161" cy="530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 tIns="17145" rIns="17145" bIns="17145" numCol="1" spcCol="1270" anchor="b" anchorCtr="0">
          <a:noAutofit/>
        </a:bodyPr>
        <a:lstStyle/>
        <a:p>
          <a:pPr marL="0" lvl="0" indent="0" algn="l" defTabSz="400050">
            <a:lnSpc>
              <a:spcPct val="90000"/>
            </a:lnSpc>
            <a:spcBef>
              <a:spcPct val="0"/>
            </a:spcBef>
            <a:spcAft>
              <a:spcPct val="35000"/>
            </a:spcAft>
            <a:buNone/>
          </a:pPr>
          <a:r>
            <a:rPr lang="en-US" sz="900" kern="1200" dirty="0">
              <a:solidFill>
                <a:schemeClr val="bg1"/>
              </a:solidFill>
            </a:rPr>
            <a:t>Total monetary value of the Transaction (Target Variables) (Decimal)</a:t>
          </a:r>
          <a:endParaRPr lang="en-IN" sz="900" kern="1200" dirty="0">
            <a:solidFill>
              <a:schemeClr val="bg1"/>
            </a:solidFill>
          </a:endParaRPr>
        </a:p>
      </dsp:txBody>
      <dsp:txXfrm>
        <a:off x="963110" y="5013468"/>
        <a:ext cx="2741161" cy="530525"/>
      </dsp:txXfrm>
    </dsp:sp>
    <dsp:sp modelId="{64F7605C-5737-41EF-8FFF-6751F190BF92}">
      <dsp:nvSpPr>
        <dsp:cNvPr id="0" name=""/>
        <dsp:cNvSpPr/>
      </dsp:nvSpPr>
      <dsp:spPr>
        <a:xfrm>
          <a:off x="0" y="5013463"/>
          <a:ext cx="963110" cy="530525"/>
        </a:xfrm>
        <a:prstGeom prst="round2SameRect">
          <a:avLst>
            <a:gd name="adj1" fmla="val 16670"/>
            <a:gd name="adj2" fmla="val 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400050">
            <a:lnSpc>
              <a:spcPct val="90000"/>
            </a:lnSpc>
            <a:spcBef>
              <a:spcPct val="0"/>
            </a:spcBef>
            <a:spcAft>
              <a:spcPct val="35000"/>
            </a:spcAft>
            <a:buNone/>
          </a:pPr>
          <a:r>
            <a:rPr lang="en-US" sz="900" kern="1200" dirty="0"/>
            <a:t>Purchase Amount</a:t>
          </a:r>
          <a:endParaRPr lang="en-IN" sz="900" kern="1200" dirty="0"/>
        </a:p>
      </dsp:txBody>
      <dsp:txXfrm>
        <a:off x="25903" y="5039366"/>
        <a:ext cx="911304" cy="504622"/>
      </dsp:txXfrm>
    </dsp:sp>
  </dsp:spTree>
</dsp:drawing>
</file>

<file path=ppt/diagrams/layout1.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AC40-065E-4C3F-918D-5D715EDCD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5D1150-53EC-419E-92B5-C108D09A5F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F21BDF7-DEC0-4E30-9D93-31F2A2CE0A91}"/>
              </a:ext>
            </a:extLst>
          </p:cNvPr>
          <p:cNvSpPr>
            <a:spLocks noGrp="1"/>
          </p:cNvSpPr>
          <p:nvPr>
            <p:ph type="dt" sz="half" idx="10"/>
          </p:nvPr>
        </p:nvSpPr>
        <p:spPr/>
        <p:txBody>
          <a:bodyPr/>
          <a:lstStyle/>
          <a:p>
            <a:fld id="{47DB1C43-FB40-40EA-B8DB-3AB386F0AC7E}" type="datetimeFigureOut">
              <a:rPr lang="en-IN" smtClean="0"/>
              <a:t>09-02-2026</a:t>
            </a:fld>
            <a:endParaRPr lang="en-IN"/>
          </a:p>
        </p:txBody>
      </p:sp>
      <p:sp>
        <p:nvSpPr>
          <p:cNvPr id="5" name="Footer Placeholder 4">
            <a:extLst>
              <a:ext uri="{FF2B5EF4-FFF2-40B4-BE49-F238E27FC236}">
                <a16:creationId xmlns:a16="http://schemas.microsoft.com/office/drawing/2014/main" id="{C457C855-74A0-44FE-BC5E-3508BBEC95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441FC5-E91E-43D0-9AD4-AF370DB86AD0}"/>
              </a:ext>
            </a:extLst>
          </p:cNvPr>
          <p:cNvSpPr>
            <a:spLocks noGrp="1"/>
          </p:cNvSpPr>
          <p:nvPr>
            <p:ph type="sldNum" sz="quarter" idx="12"/>
          </p:nvPr>
        </p:nvSpPr>
        <p:spPr/>
        <p:txBody>
          <a:bodyPr/>
          <a:lstStyle/>
          <a:p>
            <a:fld id="{0916665C-4EAA-4627-83C5-CE5236C7F8B0}" type="slidenum">
              <a:rPr lang="en-IN" smtClean="0"/>
              <a:t>‹#›</a:t>
            </a:fld>
            <a:endParaRPr lang="en-IN"/>
          </a:p>
        </p:txBody>
      </p:sp>
    </p:spTree>
    <p:extLst>
      <p:ext uri="{BB962C8B-B14F-4D97-AF65-F5344CB8AC3E}">
        <p14:creationId xmlns:p14="http://schemas.microsoft.com/office/powerpoint/2010/main" val="40918965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34A75-15FC-47FA-8154-6DEB09BC2A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FAC6D0-277C-4305-88AF-63C44BEBB4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AF5F50-7E87-4549-90C8-A0A99628966E}"/>
              </a:ext>
            </a:extLst>
          </p:cNvPr>
          <p:cNvSpPr>
            <a:spLocks noGrp="1"/>
          </p:cNvSpPr>
          <p:nvPr>
            <p:ph type="dt" sz="half" idx="10"/>
          </p:nvPr>
        </p:nvSpPr>
        <p:spPr/>
        <p:txBody>
          <a:bodyPr/>
          <a:lstStyle/>
          <a:p>
            <a:fld id="{47DB1C43-FB40-40EA-B8DB-3AB386F0AC7E}" type="datetimeFigureOut">
              <a:rPr lang="en-IN" smtClean="0"/>
              <a:t>09-02-2026</a:t>
            </a:fld>
            <a:endParaRPr lang="en-IN"/>
          </a:p>
        </p:txBody>
      </p:sp>
      <p:sp>
        <p:nvSpPr>
          <p:cNvPr id="5" name="Footer Placeholder 4">
            <a:extLst>
              <a:ext uri="{FF2B5EF4-FFF2-40B4-BE49-F238E27FC236}">
                <a16:creationId xmlns:a16="http://schemas.microsoft.com/office/drawing/2014/main" id="{5E361D0C-0AEA-465B-957A-F282B9F7F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363AF0-7AA7-4E21-8CF9-6CEEEB0F3691}"/>
              </a:ext>
            </a:extLst>
          </p:cNvPr>
          <p:cNvSpPr>
            <a:spLocks noGrp="1"/>
          </p:cNvSpPr>
          <p:nvPr>
            <p:ph type="sldNum" sz="quarter" idx="12"/>
          </p:nvPr>
        </p:nvSpPr>
        <p:spPr/>
        <p:txBody>
          <a:bodyPr/>
          <a:lstStyle/>
          <a:p>
            <a:fld id="{0916665C-4EAA-4627-83C5-CE5236C7F8B0}" type="slidenum">
              <a:rPr lang="en-IN" smtClean="0"/>
              <a:t>‹#›</a:t>
            </a:fld>
            <a:endParaRPr lang="en-IN"/>
          </a:p>
        </p:txBody>
      </p:sp>
    </p:spTree>
    <p:extLst>
      <p:ext uri="{BB962C8B-B14F-4D97-AF65-F5344CB8AC3E}">
        <p14:creationId xmlns:p14="http://schemas.microsoft.com/office/powerpoint/2010/main" val="7771278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915B3-08B9-40BD-83DA-34DB79C24E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66C4D9-C1F7-416B-8BC8-BD611D7DFA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949A27-0B34-4C2D-8FA8-BB59517E9C14}"/>
              </a:ext>
            </a:extLst>
          </p:cNvPr>
          <p:cNvSpPr>
            <a:spLocks noGrp="1"/>
          </p:cNvSpPr>
          <p:nvPr>
            <p:ph type="dt" sz="half" idx="10"/>
          </p:nvPr>
        </p:nvSpPr>
        <p:spPr/>
        <p:txBody>
          <a:bodyPr/>
          <a:lstStyle/>
          <a:p>
            <a:fld id="{47DB1C43-FB40-40EA-B8DB-3AB386F0AC7E}" type="datetimeFigureOut">
              <a:rPr lang="en-IN" smtClean="0"/>
              <a:t>09-02-2026</a:t>
            </a:fld>
            <a:endParaRPr lang="en-IN"/>
          </a:p>
        </p:txBody>
      </p:sp>
      <p:sp>
        <p:nvSpPr>
          <p:cNvPr id="5" name="Footer Placeholder 4">
            <a:extLst>
              <a:ext uri="{FF2B5EF4-FFF2-40B4-BE49-F238E27FC236}">
                <a16:creationId xmlns:a16="http://schemas.microsoft.com/office/drawing/2014/main" id="{5ACD4E4B-B7CE-4948-8773-587B91D54F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B6FCED-2138-45A5-9BBE-DFD454CE088E}"/>
              </a:ext>
            </a:extLst>
          </p:cNvPr>
          <p:cNvSpPr>
            <a:spLocks noGrp="1"/>
          </p:cNvSpPr>
          <p:nvPr>
            <p:ph type="sldNum" sz="quarter" idx="12"/>
          </p:nvPr>
        </p:nvSpPr>
        <p:spPr/>
        <p:txBody>
          <a:bodyPr/>
          <a:lstStyle/>
          <a:p>
            <a:fld id="{0916665C-4EAA-4627-83C5-CE5236C7F8B0}" type="slidenum">
              <a:rPr lang="en-IN" smtClean="0"/>
              <a:t>‹#›</a:t>
            </a:fld>
            <a:endParaRPr lang="en-IN"/>
          </a:p>
        </p:txBody>
      </p:sp>
    </p:spTree>
    <p:extLst>
      <p:ext uri="{BB962C8B-B14F-4D97-AF65-F5344CB8AC3E}">
        <p14:creationId xmlns:p14="http://schemas.microsoft.com/office/powerpoint/2010/main" val="37744693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3932C-DBAA-4B23-BF32-BF3858FEF8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7B2077-7E26-4272-81F9-105BD8BED9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DA40B5B-A56B-474D-BD12-5DB6BF7CB8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79BF188-CDB2-40BF-9D3B-51C191D79040}"/>
              </a:ext>
            </a:extLst>
          </p:cNvPr>
          <p:cNvSpPr>
            <a:spLocks noGrp="1"/>
          </p:cNvSpPr>
          <p:nvPr>
            <p:ph type="dt" sz="half" idx="10"/>
          </p:nvPr>
        </p:nvSpPr>
        <p:spPr/>
        <p:txBody>
          <a:bodyPr/>
          <a:lstStyle/>
          <a:p>
            <a:fld id="{47DB1C43-FB40-40EA-B8DB-3AB386F0AC7E}" type="datetimeFigureOut">
              <a:rPr lang="en-IN" smtClean="0"/>
              <a:t>09-02-2026</a:t>
            </a:fld>
            <a:endParaRPr lang="en-IN"/>
          </a:p>
        </p:txBody>
      </p:sp>
      <p:sp>
        <p:nvSpPr>
          <p:cNvPr id="6" name="Footer Placeholder 5">
            <a:extLst>
              <a:ext uri="{FF2B5EF4-FFF2-40B4-BE49-F238E27FC236}">
                <a16:creationId xmlns:a16="http://schemas.microsoft.com/office/drawing/2014/main" id="{F5E0FB36-867E-4722-934F-2CBEE8A8C8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8367F7-13B4-4A6F-B09B-8D8B5C8A9037}"/>
              </a:ext>
            </a:extLst>
          </p:cNvPr>
          <p:cNvSpPr>
            <a:spLocks noGrp="1"/>
          </p:cNvSpPr>
          <p:nvPr>
            <p:ph type="sldNum" sz="quarter" idx="12"/>
          </p:nvPr>
        </p:nvSpPr>
        <p:spPr/>
        <p:txBody>
          <a:bodyPr/>
          <a:lstStyle/>
          <a:p>
            <a:fld id="{0916665C-4EAA-4627-83C5-CE5236C7F8B0}" type="slidenum">
              <a:rPr lang="en-IN" smtClean="0"/>
              <a:t>‹#›</a:t>
            </a:fld>
            <a:endParaRPr lang="en-IN"/>
          </a:p>
        </p:txBody>
      </p:sp>
    </p:spTree>
    <p:extLst>
      <p:ext uri="{BB962C8B-B14F-4D97-AF65-F5344CB8AC3E}">
        <p14:creationId xmlns:p14="http://schemas.microsoft.com/office/powerpoint/2010/main" val="10014091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6038D-8D04-436D-A2D3-92FEFBD4365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F84526-B4E4-4EDC-93E4-5B1FCF2E3A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7BD757-557E-4264-A90F-95D8FF36A2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4FBBD66-5847-41CF-BAFE-1DB983CCCB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3FE448-5F68-4136-94C9-9D86FD445A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4211AF6-DE77-49A5-91A2-53EB40542CF7}"/>
              </a:ext>
            </a:extLst>
          </p:cNvPr>
          <p:cNvSpPr>
            <a:spLocks noGrp="1"/>
          </p:cNvSpPr>
          <p:nvPr>
            <p:ph type="dt" sz="half" idx="10"/>
          </p:nvPr>
        </p:nvSpPr>
        <p:spPr/>
        <p:txBody>
          <a:bodyPr/>
          <a:lstStyle/>
          <a:p>
            <a:fld id="{47DB1C43-FB40-40EA-B8DB-3AB386F0AC7E}" type="datetimeFigureOut">
              <a:rPr lang="en-IN" smtClean="0"/>
              <a:t>09-02-2026</a:t>
            </a:fld>
            <a:endParaRPr lang="en-IN"/>
          </a:p>
        </p:txBody>
      </p:sp>
      <p:sp>
        <p:nvSpPr>
          <p:cNvPr id="8" name="Footer Placeholder 7">
            <a:extLst>
              <a:ext uri="{FF2B5EF4-FFF2-40B4-BE49-F238E27FC236}">
                <a16:creationId xmlns:a16="http://schemas.microsoft.com/office/drawing/2014/main" id="{7BAFC641-0695-4EB3-BFA5-1A331592EB0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8C451DC-6CF5-4B4A-B448-3A24C18A94B6}"/>
              </a:ext>
            </a:extLst>
          </p:cNvPr>
          <p:cNvSpPr>
            <a:spLocks noGrp="1"/>
          </p:cNvSpPr>
          <p:nvPr>
            <p:ph type="sldNum" sz="quarter" idx="12"/>
          </p:nvPr>
        </p:nvSpPr>
        <p:spPr/>
        <p:txBody>
          <a:bodyPr/>
          <a:lstStyle/>
          <a:p>
            <a:fld id="{0916665C-4EAA-4627-83C5-CE5236C7F8B0}" type="slidenum">
              <a:rPr lang="en-IN" smtClean="0"/>
              <a:t>‹#›</a:t>
            </a:fld>
            <a:endParaRPr lang="en-IN"/>
          </a:p>
        </p:txBody>
      </p:sp>
    </p:spTree>
    <p:extLst>
      <p:ext uri="{BB962C8B-B14F-4D97-AF65-F5344CB8AC3E}">
        <p14:creationId xmlns:p14="http://schemas.microsoft.com/office/powerpoint/2010/main" val="26219694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1BF6A-8EA4-4125-B7E4-846643CE73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783E01-732F-41E4-9803-A379C87F4B46}"/>
              </a:ext>
            </a:extLst>
          </p:cNvPr>
          <p:cNvSpPr>
            <a:spLocks noGrp="1"/>
          </p:cNvSpPr>
          <p:nvPr>
            <p:ph type="dt" sz="half" idx="10"/>
          </p:nvPr>
        </p:nvSpPr>
        <p:spPr/>
        <p:txBody>
          <a:bodyPr/>
          <a:lstStyle/>
          <a:p>
            <a:fld id="{47DB1C43-FB40-40EA-B8DB-3AB386F0AC7E}" type="datetimeFigureOut">
              <a:rPr lang="en-IN" smtClean="0"/>
              <a:t>09-02-2026</a:t>
            </a:fld>
            <a:endParaRPr lang="en-IN"/>
          </a:p>
        </p:txBody>
      </p:sp>
      <p:sp>
        <p:nvSpPr>
          <p:cNvPr id="4" name="Footer Placeholder 3">
            <a:extLst>
              <a:ext uri="{FF2B5EF4-FFF2-40B4-BE49-F238E27FC236}">
                <a16:creationId xmlns:a16="http://schemas.microsoft.com/office/drawing/2014/main" id="{96D99E12-95E7-4B47-BB4C-BAEA2B3AA35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AC002AC-947F-44AF-A7B4-D4CF18FDF3E4}"/>
              </a:ext>
            </a:extLst>
          </p:cNvPr>
          <p:cNvSpPr>
            <a:spLocks noGrp="1"/>
          </p:cNvSpPr>
          <p:nvPr>
            <p:ph type="sldNum" sz="quarter" idx="12"/>
          </p:nvPr>
        </p:nvSpPr>
        <p:spPr/>
        <p:txBody>
          <a:bodyPr/>
          <a:lstStyle/>
          <a:p>
            <a:fld id="{0916665C-4EAA-4627-83C5-CE5236C7F8B0}" type="slidenum">
              <a:rPr lang="en-IN" smtClean="0"/>
              <a:t>‹#›</a:t>
            </a:fld>
            <a:endParaRPr lang="en-IN"/>
          </a:p>
        </p:txBody>
      </p:sp>
    </p:spTree>
    <p:extLst>
      <p:ext uri="{BB962C8B-B14F-4D97-AF65-F5344CB8AC3E}">
        <p14:creationId xmlns:p14="http://schemas.microsoft.com/office/powerpoint/2010/main" val="36758892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267F96-8B0C-455C-822F-E3FB5BBC503B}"/>
              </a:ext>
            </a:extLst>
          </p:cNvPr>
          <p:cNvSpPr>
            <a:spLocks noGrp="1"/>
          </p:cNvSpPr>
          <p:nvPr>
            <p:ph type="dt" sz="half" idx="10"/>
          </p:nvPr>
        </p:nvSpPr>
        <p:spPr/>
        <p:txBody>
          <a:bodyPr/>
          <a:lstStyle/>
          <a:p>
            <a:fld id="{47DB1C43-FB40-40EA-B8DB-3AB386F0AC7E}" type="datetimeFigureOut">
              <a:rPr lang="en-IN" smtClean="0"/>
              <a:t>09-02-2026</a:t>
            </a:fld>
            <a:endParaRPr lang="en-IN"/>
          </a:p>
        </p:txBody>
      </p:sp>
      <p:sp>
        <p:nvSpPr>
          <p:cNvPr id="3" name="Footer Placeholder 2">
            <a:extLst>
              <a:ext uri="{FF2B5EF4-FFF2-40B4-BE49-F238E27FC236}">
                <a16:creationId xmlns:a16="http://schemas.microsoft.com/office/drawing/2014/main" id="{579D0577-2C6C-41CD-A52F-FDE0415E533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D3EB8E-802B-43FC-8179-F5646D49589F}"/>
              </a:ext>
            </a:extLst>
          </p:cNvPr>
          <p:cNvSpPr>
            <a:spLocks noGrp="1"/>
          </p:cNvSpPr>
          <p:nvPr>
            <p:ph type="sldNum" sz="quarter" idx="12"/>
          </p:nvPr>
        </p:nvSpPr>
        <p:spPr/>
        <p:txBody>
          <a:bodyPr/>
          <a:lstStyle/>
          <a:p>
            <a:fld id="{0916665C-4EAA-4627-83C5-CE5236C7F8B0}" type="slidenum">
              <a:rPr lang="en-IN" smtClean="0"/>
              <a:t>‹#›</a:t>
            </a:fld>
            <a:endParaRPr lang="en-IN"/>
          </a:p>
        </p:txBody>
      </p:sp>
    </p:spTree>
    <p:extLst>
      <p:ext uri="{BB962C8B-B14F-4D97-AF65-F5344CB8AC3E}">
        <p14:creationId xmlns:p14="http://schemas.microsoft.com/office/powerpoint/2010/main" val="8303105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141C-DD53-46E1-A4E2-01B92ED58B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768906A-65E3-4547-8BAA-C23F8927F1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7EDD52F-210B-4504-96B5-B43E4916F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4AB140-2E11-4709-993B-049D307C1DAB}"/>
              </a:ext>
            </a:extLst>
          </p:cNvPr>
          <p:cNvSpPr>
            <a:spLocks noGrp="1"/>
          </p:cNvSpPr>
          <p:nvPr>
            <p:ph type="dt" sz="half" idx="10"/>
          </p:nvPr>
        </p:nvSpPr>
        <p:spPr/>
        <p:txBody>
          <a:bodyPr/>
          <a:lstStyle/>
          <a:p>
            <a:fld id="{47DB1C43-FB40-40EA-B8DB-3AB386F0AC7E}" type="datetimeFigureOut">
              <a:rPr lang="en-IN" smtClean="0"/>
              <a:t>09-02-2026</a:t>
            </a:fld>
            <a:endParaRPr lang="en-IN"/>
          </a:p>
        </p:txBody>
      </p:sp>
      <p:sp>
        <p:nvSpPr>
          <p:cNvPr id="6" name="Footer Placeholder 5">
            <a:extLst>
              <a:ext uri="{FF2B5EF4-FFF2-40B4-BE49-F238E27FC236}">
                <a16:creationId xmlns:a16="http://schemas.microsoft.com/office/drawing/2014/main" id="{C3CF1EF6-2DFA-4FA8-9E4C-2B32EE6484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03025B-84C8-4B39-9214-C37423224009}"/>
              </a:ext>
            </a:extLst>
          </p:cNvPr>
          <p:cNvSpPr>
            <a:spLocks noGrp="1"/>
          </p:cNvSpPr>
          <p:nvPr>
            <p:ph type="sldNum" sz="quarter" idx="12"/>
          </p:nvPr>
        </p:nvSpPr>
        <p:spPr/>
        <p:txBody>
          <a:bodyPr/>
          <a:lstStyle/>
          <a:p>
            <a:fld id="{0916665C-4EAA-4627-83C5-CE5236C7F8B0}" type="slidenum">
              <a:rPr lang="en-IN" smtClean="0"/>
              <a:t>‹#›</a:t>
            </a:fld>
            <a:endParaRPr lang="en-IN"/>
          </a:p>
        </p:txBody>
      </p:sp>
    </p:spTree>
    <p:extLst>
      <p:ext uri="{BB962C8B-B14F-4D97-AF65-F5344CB8AC3E}">
        <p14:creationId xmlns:p14="http://schemas.microsoft.com/office/powerpoint/2010/main" val="40222296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254C5-934F-4636-8A6A-71395750B9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8223281-3372-4BB9-B68D-892F2DF11D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17592D-0F20-4FF9-8A82-EE63D5FB2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0DC61F-EADC-408F-B5BA-EB5C00D6B14D}"/>
              </a:ext>
            </a:extLst>
          </p:cNvPr>
          <p:cNvSpPr>
            <a:spLocks noGrp="1"/>
          </p:cNvSpPr>
          <p:nvPr>
            <p:ph type="dt" sz="half" idx="10"/>
          </p:nvPr>
        </p:nvSpPr>
        <p:spPr/>
        <p:txBody>
          <a:bodyPr/>
          <a:lstStyle/>
          <a:p>
            <a:fld id="{47DB1C43-FB40-40EA-B8DB-3AB386F0AC7E}" type="datetimeFigureOut">
              <a:rPr lang="en-IN" smtClean="0"/>
              <a:t>09-02-2026</a:t>
            </a:fld>
            <a:endParaRPr lang="en-IN"/>
          </a:p>
        </p:txBody>
      </p:sp>
      <p:sp>
        <p:nvSpPr>
          <p:cNvPr id="6" name="Footer Placeholder 5">
            <a:extLst>
              <a:ext uri="{FF2B5EF4-FFF2-40B4-BE49-F238E27FC236}">
                <a16:creationId xmlns:a16="http://schemas.microsoft.com/office/drawing/2014/main" id="{19AF080E-96AF-4343-9725-21E90BF147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ECAF57-1195-4C53-9C41-995D43197C1E}"/>
              </a:ext>
            </a:extLst>
          </p:cNvPr>
          <p:cNvSpPr>
            <a:spLocks noGrp="1"/>
          </p:cNvSpPr>
          <p:nvPr>
            <p:ph type="sldNum" sz="quarter" idx="12"/>
          </p:nvPr>
        </p:nvSpPr>
        <p:spPr/>
        <p:txBody>
          <a:bodyPr/>
          <a:lstStyle/>
          <a:p>
            <a:fld id="{0916665C-4EAA-4627-83C5-CE5236C7F8B0}" type="slidenum">
              <a:rPr lang="en-IN" smtClean="0"/>
              <a:t>‹#›</a:t>
            </a:fld>
            <a:endParaRPr lang="en-IN"/>
          </a:p>
        </p:txBody>
      </p:sp>
    </p:spTree>
    <p:extLst>
      <p:ext uri="{BB962C8B-B14F-4D97-AF65-F5344CB8AC3E}">
        <p14:creationId xmlns:p14="http://schemas.microsoft.com/office/powerpoint/2010/main" val="34787291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9E77A-0AF8-4964-8F17-5615FA2509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1DE28E-CDA2-40FA-B4DD-2FC4C9DEF9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A3EC25-1679-4B83-8EE3-3AC021F71579}"/>
              </a:ext>
            </a:extLst>
          </p:cNvPr>
          <p:cNvSpPr>
            <a:spLocks noGrp="1"/>
          </p:cNvSpPr>
          <p:nvPr>
            <p:ph type="dt" sz="half" idx="10"/>
          </p:nvPr>
        </p:nvSpPr>
        <p:spPr/>
        <p:txBody>
          <a:bodyPr/>
          <a:lstStyle/>
          <a:p>
            <a:fld id="{47DB1C43-FB40-40EA-B8DB-3AB386F0AC7E}" type="datetimeFigureOut">
              <a:rPr lang="en-IN" smtClean="0"/>
              <a:t>09-02-2026</a:t>
            </a:fld>
            <a:endParaRPr lang="en-IN"/>
          </a:p>
        </p:txBody>
      </p:sp>
      <p:sp>
        <p:nvSpPr>
          <p:cNvPr id="5" name="Footer Placeholder 4">
            <a:extLst>
              <a:ext uri="{FF2B5EF4-FFF2-40B4-BE49-F238E27FC236}">
                <a16:creationId xmlns:a16="http://schemas.microsoft.com/office/drawing/2014/main" id="{0FFE2D2D-7A55-4947-A818-9A670C5A9A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2ADD41-6302-466E-9501-1BD9F38894A6}"/>
              </a:ext>
            </a:extLst>
          </p:cNvPr>
          <p:cNvSpPr>
            <a:spLocks noGrp="1"/>
          </p:cNvSpPr>
          <p:nvPr>
            <p:ph type="sldNum" sz="quarter" idx="12"/>
          </p:nvPr>
        </p:nvSpPr>
        <p:spPr/>
        <p:txBody>
          <a:bodyPr/>
          <a:lstStyle/>
          <a:p>
            <a:fld id="{0916665C-4EAA-4627-83C5-CE5236C7F8B0}" type="slidenum">
              <a:rPr lang="en-IN" smtClean="0"/>
              <a:t>‹#›</a:t>
            </a:fld>
            <a:endParaRPr lang="en-IN"/>
          </a:p>
        </p:txBody>
      </p:sp>
    </p:spTree>
    <p:extLst>
      <p:ext uri="{BB962C8B-B14F-4D97-AF65-F5344CB8AC3E}">
        <p14:creationId xmlns:p14="http://schemas.microsoft.com/office/powerpoint/2010/main" val="11733702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823488-2552-40E8-A7A8-AD04538554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B143EF-B9C3-448E-AAF6-7B2CFB7593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055F4E-6063-4D7D-9A1F-F4CD85DF8AD4}"/>
              </a:ext>
            </a:extLst>
          </p:cNvPr>
          <p:cNvSpPr>
            <a:spLocks noGrp="1"/>
          </p:cNvSpPr>
          <p:nvPr>
            <p:ph type="dt" sz="half" idx="10"/>
          </p:nvPr>
        </p:nvSpPr>
        <p:spPr/>
        <p:txBody>
          <a:bodyPr/>
          <a:lstStyle/>
          <a:p>
            <a:fld id="{47DB1C43-FB40-40EA-B8DB-3AB386F0AC7E}" type="datetimeFigureOut">
              <a:rPr lang="en-IN" smtClean="0"/>
              <a:t>09-02-2026</a:t>
            </a:fld>
            <a:endParaRPr lang="en-IN"/>
          </a:p>
        </p:txBody>
      </p:sp>
      <p:sp>
        <p:nvSpPr>
          <p:cNvPr id="5" name="Footer Placeholder 4">
            <a:extLst>
              <a:ext uri="{FF2B5EF4-FFF2-40B4-BE49-F238E27FC236}">
                <a16:creationId xmlns:a16="http://schemas.microsoft.com/office/drawing/2014/main" id="{9E993FFE-9C05-4B22-A302-DA7FFC22FB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363607-6F64-469C-9477-3CD3BAF1BA98}"/>
              </a:ext>
            </a:extLst>
          </p:cNvPr>
          <p:cNvSpPr>
            <a:spLocks noGrp="1"/>
          </p:cNvSpPr>
          <p:nvPr>
            <p:ph type="sldNum" sz="quarter" idx="12"/>
          </p:nvPr>
        </p:nvSpPr>
        <p:spPr/>
        <p:txBody>
          <a:bodyPr/>
          <a:lstStyle/>
          <a:p>
            <a:fld id="{0916665C-4EAA-4627-83C5-CE5236C7F8B0}" type="slidenum">
              <a:rPr lang="en-IN" smtClean="0"/>
              <a:t>‹#›</a:t>
            </a:fld>
            <a:endParaRPr lang="en-IN"/>
          </a:p>
        </p:txBody>
      </p:sp>
    </p:spTree>
    <p:extLst>
      <p:ext uri="{BB962C8B-B14F-4D97-AF65-F5344CB8AC3E}">
        <p14:creationId xmlns:p14="http://schemas.microsoft.com/office/powerpoint/2010/main" val="13975396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A01C43-A7E0-447B-AFBD-1698255EB1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D08A83-D4E6-4EF1-B69F-4E7DC04777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323515-183A-4E8A-AE8D-C05713770B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B1C43-FB40-40EA-B8DB-3AB386F0AC7E}" type="datetimeFigureOut">
              <a:rPr lang="en-IN" smtClean="0"/>
              <a:t>09-02-2026</a:t>
            </a:fld>
            <a:endParaRPr lang="en-IN"/>
          </a:p>
        </p:txBody>
      </p:sp>
      <p:sp>
        <p:nvSpPr>
          <p:cNvPr id="5" name="Footer Placeholder 4">
            <a:extLst>
              <a:ext uri="{FF2B5EF4-FFF2-40B4-BE49-F238E27FC236}">
                <a16:creationId xmlns:a16="http://schemas.microsoft.com/office/drawing/2014/main" id="{73DB6363-4CBD-474A-97F7-3144192C85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1BC753C-58BF-4565-843E-70FC4BAD96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16665C-4EAA-4627-83C5-CE5236C7F8B0}" type="slidenum">
              <a:rPr lang="en-IN" smtClean="0"/>
              <a:t>‹#›</a:t>
            </a:fld>
            <a:endParaRPr lang="en-IN"/>
          </a:p>
        </p:txBody>
      </p:sp>
    </p:spTree>
    <p:extLst>
      <p:ext uri="{BB962C8B-B14F-4D97-AF65-F5344CB8AC3E}">
        <p14:creationId xmlns:p14="http://schemas.microsoft.com/office/powerpoint/2010/main" val="1788614595"/>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1.jp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1.jp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26" Type="http://schemas.openxmlformats.org/officeDocument/2006/relationships/diagramColors" Target="../diagrams/colors1.xml"/><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diagramQuickStyle" Target="../diagrams/quickStyle1.xml"/><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diagramLayout" Target="../diagrams/layout1.xml"/><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diagramData" Target="../diagrams/data1.xml"/><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png"/><Relationship Id="rId27" Type="http://schemas.microsoft.com/office/2007/relationships/diagramDrawing" Target="../diagrams/drawing1.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6.pn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5.pn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4.pn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0.pn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68">
            <a:extLst>
              <a:ext uri="{FF2B5EF4-FFF2-40B4-BE49-F238E27FC236}">
                <a16:creationId xmlns:a16="http://schemas.microsoft.com/office/drawing/2014/main" id="{22A1CDFA-3B44-4629-A495-7EE4C7BD1FA3}"/>
              </a:ext>
            </a:extLst>
          </p:cNvPr>
          <p:cNvPicPr>
            <a:picLocks noChangeAspect="1"/>
          </p:cNvPicPr>
          <p:nvPr/>
        </p:nvPicPr>
        <p:blipFill>
          <a:blip r:embed="rId2">
            <a:extLst>
              <a:ext uri="{28A0092B-C50C-407E-A947-70E740481C1C}">
                <a14:useLocalDpi xmlns:a14="http://schemas.microsoft.com/office/drawing/2010/main" val="0"/>
              </a:ext>
            </a:extLst>
          </a:blip>
          <a:srcRect l="-61" t="-2853" r="50576" b="57051"/>
          <a:stretch>
            <a:fillRect/>
          </a:stretch>
        </p:blipFill>
        <p:spPr>
          <a:xfrm>
            <a:off x="6047854" y="507420"/>
            <a:ext cx="3413646" cy="2946400"/>
          </a:xfrm>
          <a:custGeom>
            <a:avLst/>
            <a:gdLst>
              <a:gd name="connsiteX0" fmla="*/ 438968 w 2298838"/>
              <a:gd name="connsiteY0" fmla="*/ 0 h 2171700"/>
              <a:gd name="connsiteX1" fmla="*/ 2298838 w 2298838"/>
              <a:gd name="connsiteY1" fmla="*/ 0 h 2171700"/>
              <a:gd name="connsiteX2" fmla="*/ 2298838 w 2298838"/>
              <a:gd name="connsiteY2" fmla="*/ 1655223 h 2171700"/>
              <a:gd name="connsiteX3" fmla="*/ 1782361 w 2298838"/>
              <a:gd name="connsiteY3" fmla="*/ 2171700 h 2171700"/>
              <a:gd name="connsiteX4" fmla="*/ 0 w 2298838"/>
              <a:gd name="connsiteY4" fmla="*/ 2171700 h 2171700"/>
              <a:gd name="connsiteX5" fmla="*/ 0 w 2298838"/>
              <a:gd name="connsiteY5" fmla="*/ 533474 h 2171700"/>
              <a:gd name="connsiteX6" fmla="*/ 2832 w 2298838"/>
              <a:gd name="connsiteY6" fmla="*/ 499331 h 2171700"/>
              <a:gd name="connsiteX7" fmla="*/ 2832 w 2298838"/>
              <a:gd name="connsiteY7" fmla="*/ 135264 h 2171700"/>
              <a:gd name="connsiteX8" fmla="*/ 149502 w 2298838"/>
              <a:gd name="connsiteY8" fmla="*/ 135264 h 2171700"/>
              <a:gd name="connsiteX9" fmla="*/ 193537 w 2298838"/>
              <a:gd name="connsiteY9" fmla="*/ 91110 h 2171700"/>
              <a:gd name="connsiteX10" fmla="*/ 438968 w 2298838"/>
              <a:gd name="connsiteY10" fmla="*/ 0 h 217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8838" h="2171700">
                <a:moveTo>
                  <a:pt x="438968" y="0"/>
                </a:moveTo>
                <a:lnTo>
                  <a:pt x="2298838" y="0"/>
                </a:lnTo>
                <a:lnTo>
                  <a:pt x="2298838" y="1655223"/>
                </a:lnTo>
                <a:cubicBezTo>
                  <a:pt x="2298838" y="1940465"/>
                  <a:pt x="2067603" y="2171700"/>
                  <a:pt x="1782361" y="2171700"/>
                </a:cubicBezTo>
                <a:lnTo>
                  <a:pt x="0" y="2171700"/>
                </a:lnTo>
                <a:lnTo>
                  <a:pt x="0" y="533474"/>
                </a:lnTo>
                <a:lnTo>
                  <a:pt x="2832" y="499331"/>
                </a:lnTo>
                <a:lnTo>
                  <a:pt x="2832" y="135264"/>
                </a:lnTo>
                <a:lnTo>
                  <a:pt x="149502" y="135264"/>
                </a:lnTo>
                <a:lnTo>
                  <a:pt x="193537" y="91110"/>
                </a:lnTo>
                <a:cubicBezTo>
                  <a:pt x="263597" y="33588"/>
                  <a:pt x="348055" y="0"/>
                  <a:pt x="438968" y="0"/>
                </a:cubicBezTo>
                <a:close/>
              </a:path>
            </a:pathLst>
          </a:custGeom>
        </p:spPr>
      </p:pic>
      <p:pic>
        <p:nvPicPr>
          <p:cNvPr id="70" name="Picture 69">
            <a:extLst>
              <a:ext uri="{FF2B5EF4-FFF2-40B4-BE49-F238E27FC236}">
                <a16:creationId xmlns:a16="http://schemas.microsoft.com/office/drawing/2014/main" id="{00A2C54F-9297-48B6-943F-8A31FBFBC808}"/>
              </a:ext>
            </a:extLst>
          </p:cNvPr>
          <p:cNvPicPr>
            <a:picLocks noChangeAspect="1"/>
          </p:cNvPicPr>
          <p:nvPr/>
        </p:nvPicPr>
        <p:blipFill>
          <a:blip r:embed="rId2">
            <a:extLst>
              <a:ext uri="{28A0092B-C50C-407E-A947-70E740481C1C}">
                <a14:useLocalDpi xmlns:a14="http://schemas.microsoft.com/office/drawing/2010/main" val="0"/>
              </a:ext>
            </a:extLst>
          </a:blip>
          <a:srcRect l="-61" t="-2853" r="50576" b="57051"/>
          <a:stretch>
            <a:fillRect/>
          </a:stretch>
        </p:blipFill>
        <p:spPr>
          <a:xfrm>
            <a:off x="9548085" y="1155700"/>
            <a:ext cx="1203737" cy="1409700"/>
          </a:xfrm>
          <a:custGeom>
            <a:avLst/>
            <a:gdLst>
              <a:gd name="connsiteX0" fmla="*/ 438968 w 2298838"/>
              <a:gd name="connsiteY0" fmla="*/ 0 h 2171700"/>
              <a:gd name="connsiteX1" fmla="*/ 2298838 w 2298838"/>
              <a:gd name="connsiteY1" fmla="*/ 0 h 2171700"/>
              <a:gd name="connsiteX2" fmla="*/ 2298838 w 2298838"/>
              <a:gd name="connsiteY2" fmla="*/ 1655223 h 2171700"/>
              <a:gd name="connsiteX3" fmla="*/ 1782361 w 2298838"/>
              <a:gd name="connsiteY3" fmla="*/ 2171700 h 2171700"/>
              <a:gd name="connsiteX4" fmla="*/ 0 w 2298838"/>
              <a:gd name="connsiteY4" fmla="*/ 2171700 h 2171700"/>
              <a:gd name="connsiteX5" fmla="*/ 0 w 2298838"/>
              <a:gd name="connsiteY5" fmla="*/ 533474 h 2171700"/>
              <a:gd name="connsiteX6" fmla="*/ 2832 w 2298838"/>
              <a:gd name="connsiteY6" fmla="*/ 499331 h 2171700"/>
              <a:gd name="connsiteX7" fmla="*/ 2832 w 2298838"/>
              <a:gd name="connsiteY7" fmla="*/ 135264 h 2171700"/>
              <a:gd name="connsiteX8" fmla="*/ 149502 w 2298838"/>
              <a:gd name="connsiteY8" fmla="*/ 135264 h 2171700"/>
              <a:gd name="connsiteX9" fmla="*/ 193537 w 2298838"/>
              <a:gd name="connsiteY9" fmla="*/ 91110 h 2171700"/>
              <a:gd name="connsiteX10" fmla="*/ 438968 w 2298838"/>
              <a:gd name="connsiteY10" fmla="*/ 0 h 217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8838" h="2171700">
                <a:moveTo>
                  <a:pt x="438968" y="0"/>
                </a:moveTo>
                <a:lnTo>
                  <a:pt x="2298838" y="0"/>
                </a:lnTo>
                <a:lnTo>
                  <a:pt x="2298838" y="1655223"/>
                </a:lnTo>
                <a:cubicBezTo>
                  <a:pt x="2298838" y="1940465"/>
                  <a:pt x="2067603" y="2171700"/>
                  <a:pt x="1782361" y="2171700"/>
                </a:cubicBezTo>
                <a:lnTo>
                  <a:pt x="0" y="2171700"/>
                </a:lnTo>
                <a:lnTo>
                  <a:pt x="0" y="533474"/>
                </a:lnTo>
                <a:lnTo>
                  <a:pt x="2832" y="499331"/>
                </a:lnTo>
                <a:lnTo>
                  <a:pt x="2832" y="135264"/>
                </a:lnTo>
                <a:lnTo>
                  <a:pt x="149502" y="135264"/>
                </a:lnTo>
                <a:lnTo>
                  <a:pt x="193537" y="91110"/>
                </a:lnTo>
                <a:cubicBezTo>
                  <a:pt x="263597" y="33588"/>
                  <a:pt x="348055" y="0"/>
                  <a:pt x="438968" y="0"/>
                </a:cubicBezTo>
                <a:close/>
              </a:path>
            </a:pathLst>
          </a:custGeom>
        </p:spPr>
      </p:pic>
      <p:pic>
        <p:nvPicPr>
          <p:cNvPr id="71" name="Picture 70">
            <a:extLst>
              <a:ext uri="{FF2B5EF4-FFF2-40B4-BE49-F238E27FC236}">
                <a16:creationId xmlns:a16="http://schemas.microsoft.com/office/drawing/2014/main" id="{9B6C3E1F-93BA-4117-B0B0-B845731FF5AD}"/>
              </a:ext>
            </a:extLst>
          </p:cNvPr>
          <p:cNvPicPr>
            <a:picLocks noChangeAspect="1"/>
          </p:cNvPicPr>
          <p:nvPr/>
        </p:nvPicPr>
        <p:blipFill>
          <a:blip r:embed="rId2">
            <a:extLst>
              <a:ext uri="{28A0092B-C50C-407E-A947-70E740481C1C}">
                <a14:useLocalDpi xmlns:a14="http://schemas.microsoft.com/office/drawing/2010/main" val="0"/>
              </a:ext>
            </a:extLst>
          </a:blip>
          <a:srcRect l="-61" t="-2853" r="50576" b="57051"/>
          <a:stretch>
            <a:fillRect/>
          </a:stretch>
        </p:blipFill>
        <p:spPr>
          <a:xfrm>
            <a:off x="10920957" y="1704638"/>
            <a:ext cx="972593" cy="1139007"/>
          </a:xfrm>
          <a:custGeom>
            <a:avLst/>
            <a:gdLst>
              <a:gd name="connsiteX0" fmla="*/ 438968 w 2298838"/>
              <a:gd name="connsiteY0" fmla="*/ 0 h 2171700"/>
              <a:gd name="connsiteX1" fmla="*/ 2298838 w 2298838"/>
              <a:gd name="connsiteY1" fmla="*/ 0 h 2171700"/>
              <a:gd name="connsiteX2" fmla="*/ 2298838 w 2298838"/>
              <a:gd name="connsiteY2" fmla="*/ 1655223 h 2171700"/>
              <a:gd name="connsiteX3" fmla="*/ 1782361 w 2298838"/>
              <a:gd name="connsiteY3" fmla="*/ 2171700 h 2171700"/>
              <a:gd name="connsiteX4" fmla="*/ 0 w 2298838"/>
              <a:gd name="connsiteY4" fmla="*/ 2171700 h 2171700"/>
              <a:gd name="connsiteX5" fmla="*/ 0 w 2298838"/>
              <a:gd name="connsiteY5" fmla="*/ 533474 h 2171700"/>
              <a:gd name="connsiteX6" fmla="*/ 2832 w 2298838"/>
              <a:gd name="connsiteY6" fmla="*/ 499331 h 2171700"/>
              <a:gd name="connsiteX7" fmla="*/ 2832 w 2298838"/>
              <a:gd name="connsiteY7" fmla="*/ 135264 h 2171700"/>
              <a:gd name="connsiteX8" fmla="*/ 149502 w 2298838"/>
              <a:gd name="connsiteY8" fmla="*/ 135264 h 2171700"/>
              <a:gd name="connsiteX9" fmla="*/ 193537 w 2298838"/>
              <a:gd name="connsiteY9" fmla="*/ 91110 h 2171700"/>
              <a:gd name="connsiteX10" fmla="*/ 438968 w 2298838"/>
              <a:gd name="connsiteY10" fmla="*/ 0 h 217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8838" h="2171700">
                <a:moveTo>
                  <a:pt x="438968" y="0"/>
                </a:moveTo>
                <a:lnTo>
                  <a:pt x="2298838" y="0"/>
                </a:lnTo>
                <a:lnTo>
                  <a:pt x="2298838" y="1655223"/>
                </a:lnTo>
                <a:cubicBezTo>
                  <a:pt x="2298838" y="1940465"/>
                  <a:pt x="2067603" y="2171700"/>
                  <a:pt x="1782361" y="2171700"/>
                </a:cubicBezTo>
                <a:lnTo>
                  <a:pt x="0" y="2171700"/>
                </a:lnTo>
                <a:lnTo>
                  <a:pt x="0" y="533474"/>
                </a:lnTo>
                <a:lnTo>
                  <a:pt x="2832" y="499331"/>
                </a:lnTo>
                <a:lnTo>
                  <a:pt x="2832" y="135264"/>
                </a:lnTo>
                <a:lnTo>
                  <a:pt x="149502" y="135264"/>
                </a:lnTo>
                <a:lnTo>
                  <a:pt x="193537" y="91110"/>
                </a:lnTo>
                <a:cubicBezTo>
                  <a:pt x="263597" y="33588"/>
                  <a:pt x="348055" y="0"/>
                  <a:pt x="438968" y="0"/>
                </a:cubicBezTo>
                <a:close/>
              </a:path>
            </a:pathLst>
          </a:custGeom>
        </p:spPr>
      </p:pic>
      <p:pic>
        <p:nvPicPr>
          <p:cNvPr id="72" name="Picture 71">
            <a:extLst>
              <a:ext uri="{FF2B5EF4-FFF2-40B4-BE49-F238E27FC236}">
                <a16:creationId xmlns:a16="http://schemas.microsoft.com/office/drawing/2014/main" id="{D72F5DDE-1D13-478E-81E0-C6CDEF7D85D4}"/>
              </a:ext>
            </a:extLst>
          </p:cNvPr>
          <p:cNvPicPr>
            <a:picLocks noChangeAspect="1"/>
          </p:cNvPicPr>
          <p:nvPr/>
        </p:nvPicPr>
        <p:blipFill>
          <a:blip r:embed="rId2">
            <a:extLst>
              <a:ext uri="{28A0092B-C50C-407E-A947-70E740481C1C}">
                <a14:useLocalDpi xmlns:a14="http://schemas.microsoft.com/office/drawing/2010/main" val="0"/>
              </a:ext>
            </a:extLst>
          </a:blip>
          <a:srcRect l="-61" t="-2853" r="50576" b="57051"/>
          <a:stretch>
            <a:fillRect/>
          </a:stretch>
        </p:blipFill>
        <p:spPr>
          <a:xfrm>
            <a:off x="7114824" y="3453820"/>
            <a:ext cx="3413646" cy="2946400"/>
          </a:xfrm>
          <a:custGeom>
            <a:avLst/>
            <a:gdLst>
              <a:gd name="connsiteX0" fmla="*/ 438968 w 2298838"/>
              <a:gd name="connsiteY0" fmla="*/ 0 h 2171700"/>
              <a:gd name="connsiteX1" fmla="*/ 2298838 w 2298838"/>
              <a:gd name="connsiteY1" fmla="*/ 0 h 2171700"/>
              <a:gd name="connsiteX2" fmla="*/ 2298838 w 2298838"/>
              <a:gd name="connsiteY2" fmla="*/ 1655223 h 2171700"/>
              <a:gd name="connsiteX3" fmla="*/ 1782361 w 2298838"/>
              <a:gd name="connsiteY3" fmla="*/ 2171700 h 2171700"/>
              <a:gd name="connsiteX4" fmla="*/ 0 w 2298838"/>
              <a:gd name="connsiteY4" fmla="*/ 2171700 h 2171700"/>
              <a:gd name="connsiteX5" fmla="*/ 0 w 2298838"/>
              <a:gd name="connsiteY5" fmla="*/ 533474 h 2171700"/>
              <a:gd name="connsiteX6" fmla="*/ 2832 w 2298838"/>
              <a:gd name="connsiteY6" fmla="*/ 499331 h 2171700"/>
              <a:gd name="connsiteX7" fmla="*/ 2832 w 2298838"/>
              <a:gd name="connsiteY7" fmla="*/ 135264 h 2171700"/>
              <a:gd name="connsiteX8" fmla="*/ 149502 w 2298838"/>
              <a:gd name="connsiteY8" fmla="*/ 135264 h 2171700"/>
              <a:gd name="connsiteX9" fmla="*/ 193537 w 2298838"/>
              <a:gd name="connsiteY9" fmla="*/ 91110 h 2171700"/>
              <a:gd name="connsiteX10" fmla="*/ 438968 w 2298838"/>
              <a:gd name="connsiteY10" fmla="*/ 0 h 217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8838" h="2171700">
                <a:moveTo>
                  <a:pt x="438968" y="0"/>
                </a:moveTo>
                <a:lnTo>
                  <a:pt x="2298838" y="0"/>
                </a:lnTo>
                <a:lnTo>
                  <a:pt x="2298838" y="1655223"/>
                </a:lnTo>
                <a:cubicBezTo>
                  <a:pt x="2298838" y="1940465"/>
                  <a:pt x="2067603" y="2171700"/>
                  <a:pt x="1782361" y="2171700"/>
                </a:cubicBezTo>
                <a:lnTo>
                  <a:pt x="0" y="2171700"/>
                </a:lnTo>
                <a:lnTo>
                  <a:pt x="0" y="533474"/>
                </a:lnTo>
                <a:lnTo>
                  <a:pt x="2832" y="499331"/>
                </a:lnTo>
                <a:lnTo>
                  <a:pt x="2832" y="135264"/>
                </a:lnTo>
                <a:lnTo>
                  <a:pt x="149502" y="135264"/>
                </a:lnTo>
                <a:lnTo>
                  <a:pt x="193537" y="91110"/>
                </a:lnTo>
                <a:cubicBezTo>
                  <a:pt x="263597" y="33588"/>
                  <a:pt x="348055" y="0"/>
                  <a:pt x="438968" y="0"/>
                </a:cubicBezTo>
                <a:close/>
              </a:path>
            </a:pathLst>
          </a:custGeom>
        </p:spPr>
      </p:pic>
      <p:pic>
        <p:nvPicPr>
          <p:cNvPr id="73" name="Picture 72">
            <a:extLst>
              <a:ext uri="{FF2B5EF4-FFF2-40B4-BE49-F238E27FC236}">
                <a16:creationId xmlns:a16="http://schemas.microsoft.com/office/drawing/2014/main" id="{1B1E8C26-C857-4909-A998-B31954F4249F}"/>
              </a:ext>
            </a:extLst>
          </p:cNvPr>
          <p:cNvPicPr>
            <a:picLocks noChangeAspect="1"/>
          </p:cNvPicPr>
          <p:nvPr/>
        </p:nvPicPr>
        <p:blipFill>
          <a:blip r:embed="rId2">
            <a:extLst>
              <a:ext uri="{28A0092B-C50C-407E-A947-70E740481C1C}">
                <a14:useLocalDpi xmlns:a14="http://schemas.microsoft.com/office/drawing/2010/main" val="0"/>
              </a:ext>
            </a:extLst>
          </a:blip>
          <a:srcRect l="-61" t="-2853" r="50576" b="57051"/>
          <a:stretch>
            <a:fillRect/>
          </a:stretch>
        </p:blipFill>
        <p:spPr>
          <a:xfrm>
            <a:off x="10615055" y="3517320"/>
            <a:ext cx="1203737" cy="1409700"/>
          </a:xfrm>
          <a:custGeom>
            <a:avLst/>
            <a:gdLst>
              <a:gd name="connsiteX0" fmla="*/ 438968 w 2298838"/>
              <a:gd name="connsiteY0" fmla="*/ 0 h 2171700"/>
              <a:gd name="connsiteX1" fmla="*/ 2298838 w 2298838"/>
              <a:gd name="connsiteY1" fmla="*/ 0 h 2171700"/>
              <a:gd name="connsiteX2" fmla="*/ 2298838 w 2298838"/>
              <a:gd name="connsiteY2" fmla="*/ 1655223 h 2171700"/>
              <a:gd name="connsiteX3" fmla="*/ 1782361 w 2298838"/>
              <a:gd name="connsiteY3" fmla="*/ 2171700 h 2171700"/>
              <a:gd name="connsiteX4" fmla="*/ 0 w 2298838"/>
              <a:gd name="connsiteY4" fmla="*/ 2171700 h 2171700"/>
              <a:gd name="connsiteX5" fmla="*/ 0 w 2298838"/>
              <a:gd name="connsiteY5" fmla="*/ 533474 h 2171700"/>
              <a:gd name="connsiteX6" fmla="*/ 2832 w 2298838"/>
              <a:gd name="connsiteY6" fmla="*/ 499331 h 2171700"/>
              <a:gd name="connsiteX7" fmla="*/ 2832 w 2298838"/>
              <a:gd name="connsiteY7" fmla="*/ 135264 h 2171700"/>
              <a:gd name="connsiteX8" fmla="*/ 149502 w 2298838"/>
              <a:gd name="connsiteY8" fmla="*/ 135264 h 2171700"/>
              <a:gd name="connsiteX9" fmla="*/ 193537 w 2298838"/>
              <a:gd name="connsiteY9" fmla="*/ 91110 h 2171700"/>
              <a:gd name="connsiteX10" fmla="*/ 438968 w 2298838"/>
              <a:gd name="connsiteY10" fmla="*/ 0 h 217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8838" h="2171700">
                <a:moveTo>
                  <a:pt x="438968" y="0"/>
                </a:moveTo>
                <a:lnTo>
                  <a:pt x="2298838" y="0"/>
                </a:lnTo>
                <a:lnTo>
                  <a:pt x="2298838" y="1655223"/>
                </a:lnTo>
                <a:cubicBezTo>
                  <a:pt x="2298838" y="1940465"/>
                  <a:pt x="2067603" y="2171700"/>
                  <a:pt x="1782361" y="2171700"/>
                </a:cubicBezTo>
                <a:lnTo>
                  <a:pt x="0" y="2171700"/>
                </a:lnTo>
                <a:lnTo>
                  <a:pt x="0" y="533474"/>
                </a:lnTo>
                <a:lnTo>
                  <a:pt x="2832" y="499331"/>
                </a:lnTo>
                <a:lnTo>
                  <a:pt x="2832" y="135264"/>
                </a:lnTo>
                <a:lnTo>
                  <a:pt x="149502" y="135264"/>
                </a:lnTo>
                <a:lnTo>
                  <a:pt x="193537" y="91110"/>
                </a:lnTo>
                <a:cubicBezTo>
                  <a:pt x="263597" y="33588"/>
                  <a:pt x="348055" y="0"/>
                  <a:pt x="438968" y="0"/>
                </a:cubicBezTo>
                <a:close/>
              </a:path>
            </a:pathLst>
          </a:custGeom>
        </p:spPr>
      </p:pic>
      <p:pic>
        <p:nvPicPr>
          <p:cNvPr id="74" name="Picture 73">
            <a:extLst>
              <a:ext uri="{FF2B5EF4-FFF2-40B4-BE49-F238E27FC236}">
                <a16:creationId xmlns:a16="http://schemas.microsoft.com/office/drawing/2014/main" id="{75C15871-B9C5-4799-B080-45D0C9B5E771}"/>
              </a:ext>
            </a:extLst>
          </p:cNvPr>
          <p:cNvPicPr>
            <a:picLocks noChangeAspect="1"/>
          </p:cNvPicPr>
          <p:nvPr/>
        </p:nvPicPr>
        <p:blipFill>
          <a:blip r:embed="rId2">
            <a:extLst>
              <a:ext uri="{28A0092B-C50C-407E-A947-70E740481C1C}">
                <a14:useLocalDpi xmlns:a14="http://schemas.microsoft.com/office/drawing/2010/main" val="0"/>
              </a:ext>
            </a:extLst>
          </a:blip>
          <a:srcRect l="-61" t="-2853" r="50576" b="57051"/>
          <a:stretch>
            <a:fillRect/>
          </a:stretch>
        </p:blipFill>
        <p:spPr>
          <a:xfrm>
            <a:off x="10730626" y="4955833"/>
            <a:ext cx="972593" cy="1139007"/>
          </a:xfrm>
          <a:custGeom>
            <a:avLst/>
            <a:gdLst>
              <a:gd name="connsiteX0" fmla="*/ 438968 w 2298838"/>
              <a:gd name="connsiteY0" fmla="*/ 0 h 2171700"/>
              <a:gd name="connsiteX1" fmla="*/ 2298838 w 2298838"/>
              <a:gd name="connsiteY1" fmla="*/ 0 h 2171700"/>
              <a:gd name="connsiteX2" fmla="*/ 2298838 w 2298838"/>
              <a:gd name="connsiteY2" fmla="*/ 1655223 h 2171700"/>
              <a:gd name="connsiteX3" fmla="*/ 1782361 w 2298838"/>
              <a:gd name="connsiteY3" fmla="*/ 2171700 h 2171700"/>
              <a:gd name="connsiteX4" fmla="*/ 0 w 2298838"/>
              <a:gd name="connsiteY4" fmla="*/ 2171700 h 2171700"/>
              <a:gd name="connsiteX5" fmla="*/ 0 w 2298838"/>
              <a:gd name="connsiteY5" fmla="*/ 533474 h 2171700"/>
              <a:gd name="connsiteX6" fmla="*/ 2832 w 2298838"/>
              <a:gd name="connsiteY6" fmla="*/ 499331 h 2171700"/>
              <a:gd name="connsiteX7" fmla="*/ 2832 w 2298838"/>
              <a:gd name="connsiteY7" fmla="*/ 135264 h 2171700"/>
              <a:gd name="connsiteX8" fmla="*/ 149502 w 2298838"/>
              <a:gd name="connsiteY8" fmla="*/ 135264 h 2171700"/>
              <a:gd name="connsiteX9" fmla="*/ 193537 w 2298838"/>
              <a:gd name="connsiteY9" fmla="*/ 91110 h 2171700"/>
              <a:gd name="connsiteX10" fmla="*/ 438968 w 2298838"/>
              <a:gd name="connsiteY10" fmla="*/ 0 h 217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8838" h="2171700">
                <a:moveTo>
                  <a:pt x="438968" y="0"/>
                </a:moveTo>
                <a:lnTo>
                  <a:pt x="2298838" y="0"/>
                </a:lnTo>
                <a:lnTo>
                  <a:pt x="2298838" y="1655223"/>
                </a:lnTo>
                <a:cubicBezTo>
                  <a:pt x="2298838" y="1940465"/>
                  <a:pt x="2067603" y="2171700"/>
                  <a:pt x="1782361" y="2171700"/>
                </a:cubicBezTo>
                <a:lnTo>
                  <a:pt x="0" y="2171700"/>
                </a:lnTo>
                <a:lnTo>
                  <a:pt x="0" y="533474"/>
                </a:lnTo>
                <a:lnTo>
                  <a:pt x="2832" y="499331"/>
                </a:lnTo>
                <a:lnTo>
                  <a:pt x="2832" y="135264"/>
                </a:lnTo>
                <a:lnTo>
                  <a:pt x="149502" y="135264"/>
                </a:lnTo>
                <a:lnTo>
                  <a:pt x="193537" y="91110"/>
                </a:lnTo>
                <a:cubicBezTo>
                  <a:pt x="263597" y="33588"/>
                  <a:pt x="348055" y="0"/>
                  <a:pt x="438968" y="0"/>
                </a:cubicBezTo>
                <a:close/>
              </a:path>
            </a:pathLst>
          </a:custGeom>
        </p:spPr>
      </p:pic>
      <p:pic>
        <p:nvPicPr>
          <p:cNvPr id="75" name="Picture 74">
            <a:extLst>
              <a:ext uri="{FF2B5EF4-FFF2-40B4-BE49-F238E27FC236}">
                <a16:creationId xmlns:a16="http://schemas.microsoft.com/office/drawing/2014/main" id="{FE9B88AA-1D45-4CA7-A8D4-9038554689BC}"/>
              </a:ext>
            </a:extLst>
          </p:cNvPr>
          <p:cNvPicPr>
            <a:picLocks noChangeAspect="1"/>
          </p:cNvPicPr>
          <p:nvPr/>
        </p:nvPicPr>
        <p:blipFill>
          <a:blip r:embed="rId2">
            <a:extLst>
              <a:ext uri="{28A0092B-C50C-407E-A947-70E740481C1C}">
                <a14:useLocalDpi xmlns:a14="http://schemas.microsoft.com/office/drawing/2010/main" val="0"/>
              </a:ext>
            </a:extLst>
          </a:blip>
          <a:srcRect l="-61" t="-2853" r="50576" b="57051"/>
          <a:stretch>
            <a:fillRect/>
          </a:stretch>
        </p:blipFill>
        <p:spPr>
          <a:xfrm>
            <a:off x="9725012" y="2660039"/>
            <a:ext cx="803458" cy="793781"/>
          </a:xfrm>
          <a:custGeom>
            <a:avLst/>
            <a:gdLst>
              <a:gd name="connsiteX0" fmla="*/ 438968 w 2298838"/>
              <a:gd name="connsiteY0" fmla="*/ 0 h 2171700"/>
              <a:gd name="connsiteX1" fmla="*/ 2298838 w 2298838"/>
              <a:gd name="connsiteY1" fmla="*/ 0 h 2171700"/>
              <a:gd name="connsiteX2" fmla="*/ 2298838 w 2298838"/>
              <a:gd name="connsiteY2" fmla="*/ 1655223 h 2171700"/>
              <a:gd name="connsiteX3" fmla="*/ 1782361 w 2298838"/>
              <a:gd name="connsiteY3" fmla="*/ 2171700 h 2171700"/>
              <a:gd name="connsiteX4" fmla="*/ 0 w 2298838"/>
              <a:gd name="connsiteY4" fmla="*/ 2171700 h 2171700"/>
              <a:gd name="connsiteX5" fmla="*/ 0 w 2298838"/>
              <a:gd name="connsiteY5" fmla="*/ 533474 h 2171700"/>
              <a:gd name="connsiteX6" fmla="*/ 2832 w 2298838"/>
              <a:gd name="connsiteY6" fmla="*/ 499331 h 2171700"/>
              <a:gd name="connsiteX7" fmla="*/ 2832 w 2298838"/>
              <a:gd name="connsiteY7" fmla="*/ 135264 h 2171700"/>
              <a:gd name="connsiteX8" fmla="*/ 149502 w 2298838"/>
              <a:gd name="connsiteY8" fmla="*/ 135264 h 2171700"/>
              <a:gd name="connsiteX9" fmla="*/ 193537 w 2298838"/>
              <a:gd name="connsiteY9" fmla="*/ 91110 h 2171700"/>
              <a:gd name="connsiteX10" fmla="*/ 438968 w 2298838"/>
              <a:gd name="connsiteY10" fmla="*/ 0 h 217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8838" h="2171700">
                <a:moveTo>
                  <a:pt x="438968" y="0"/>
                </a:moveTo>
                <a:lnTo>
                  <a:pt x="2298838" y="0"/>
                </a:lnTo>
                <a:lnTo>
                  <a:pt x="2298838" y="1655223"/>
                </a:lnTo>
                <a:cubicBezTo>
                  <a:pt x="2298838" y="1940465"/>
                  <a:pt x="2067603" y="2171700"/>
                  <a:pt x="1782361" y="2171700"/>
                </a:cubicBezTo>
                <a:lnTo>
                  <a:pt x="0" y="2171700"/>
                </a:lnTo>
                <a:lnTo>
                  <a:pt x="0" y="533474"/>
                </a:lnTo>
                <a:lnTo>
                  <a:pt x="2832" y="499331"/>
                </a:lnTo>
                <a:lnTo>
                  <a:pt x="2832" y="135264"/>
                </a:lnTo>
                <a:lnTo>
                  <a:pt x="149502" y="135264"/>
                </a:lnTo>
                <a:lnTo>
                  <a:pt x="193537" y="91110"/>
                </a:lnTo>
                <a:cubicBezTo>
                  <a:pt x="263597" y="33588"/>
                  <a:pt x="348055" y="0"/>
                  <a:pt x="438968" y="0"/>
                </a:cubicBezTo>
                <a:close/>
              </a:path>
            </a:pathLst>
          </a:custGeom>
        </p:spPr>
      </p:pic>
      <p:pic>
        <p:nvPicPr>
          <p:cNvPr id="76" name="Picture 75">
            <a:extLst>
              <a:ext uri="{FF2B5EF4-FFF2-40B4-BE49-F238E27FC236}">
                <a16:creationId xmlns:a16="http://schemas.microsoft.com/office/drawing/2014/main" id="{4FDA0225-E86F-49ED-A03C-A5209B2E100D}"/>
              </a:ext>
            </a:extLst>
          </p:cNvPr>
          <p:cNvPicPr>
            <a:picLocks noChangeAspect="1"/>
          </p:cNvPicPr>
          <p:nvPr/>
        </p:nvPicPr>
        <p:blipFill>
          <a:blip r:embed="rId2">
            <a:extLst>
              <a:ext uri="{28A0092B-C50C-407E-A947-70E740481C1C}">
                <a14:useLocalDpi xmlns:a14="http://schemas.microsoft.com/office/drawing/2010/main" val="0"/>
              </a:ext>
            </a:extLst>
          </a:blip>
          <a:srcRect l="-61" t="-2853" r="50576" b="57051"/>
          <a:stretch>
            <a:fillRect/>
          </a:stretch>
        </p:blipFill>
        <p:spPr>
          <a:xfrm>
            <a:off x="11071381" y="261427"/>
            <a:ext cx="803458" cy="793781"/>
          </a:xfrm>
          <a:custGeom>
            <a:avLst/>
            <a:gdLst>
              <a:gd name="connsiteX0" fmla="*/ 438968 w 2298838"/>
              <a:gd name="connsiteY0" fmla="*/ 0 h 2171700"/>
              <a:gd name="connsiteX1" fmla="*/ 2298838 w 2298838"/>
              <a:gd name="connsiteY1" fmla="*/ 0 h 2171700"/>
              <a:gd name="connsiteX2" fmla="*/ 2298838 w 2298838"/>
              <a:gd name="connsiteY2" fmla="*/ 1655223 h 2171700"/>
              <a:gd name="connsiteX3" fmla="*/ 1782361 w 2298838"/>
              <a:gd name="connsiteY3" fmla="*/ 2171700 h 2171700"/>
              <a:gd name="connsiteX4" fmla="*/ 0 w 2298838"/>
              <a:gd name="connsiteY4" fmla="*/ 2171700 h 2171700"/>
              <a:gd name="connsiteX5" fmla="*/ 0 w 2298838"/>
              <a:gd name="connsiteY5" fmla="*/ 533474 h 2171700"/>
              <a:gd name="connsiteX6" fmla="*/ 2832 w 2298838"/>
              <a:gd name="connsiteY6" fmla="*/ 499331 h 2171700"/>
              <a:gd name="connsiteX7" fmla="*/ 2832 w 2298838"/>
              <a:gd name="connsiteY7" fmla="*/ 135264 h 2171700"/>
              <a:gd name="connsiteX8" fmla="*/ 149502 w 2298838"/>
              <a:gd name="connsiteY8" fmla="*/ 135264 h 2171700"/>
              <a:gd name="connsiteX9" fmla="*/ 193537 w 2298838"/>
              <a:gd name="connsiteY9" fmla="*/ 91110 h 2171700"/>
              <a:gd name="connsiteX10" fmla="*/ 438968 w 2298838"/>
              <a:gd name="connsiteY10" fmla="*/ 0 h 217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8838" h="2171700">
                <a:moveTo>
                  <a:pt x="438968" y="0"/>
                </a:moveTo>
                <a:lnTo>
                  <a:pt x="2298838" y="0"/>
                </a:lnTo>
                <a:lnTo>
                  <a:pt x="2298838" y="1655223"/>
                </a:lnTo>
                <a:cubicBezTo>
                  <a:pt x="2298838" y="1940465"/>
                  <a:pt x="2067603" y="2171700"/>
                  <a:pt x="1782361" y="2171700"/>
                </a:cubicBezTo>
                <a:lnTo>
                  <a:pt x="0" y="2171700"/>
                </a:lnTo>
                <a:lnTo>
                  <a:pt x="0" y="533474"/>
                </a:lnTo>
                <a:lnTo>
                  <a:pt x="2832" y="499331"/>
                </a:lnTo>
                <a:lnTo>
                  <a:pt x="2832" y="135264"/>
                </a:lnTo>
                <a:lnTo>
                  <a:pt x="149502" y="135264"/>
                </a:lnTo>
                <a:lnTo>
                  <a:pt x="193537" y="91110"/>
                </a:lnTo>
                <a:cubicBezTo>
                  <a:pt x="263597" y="33588"/>
                  <a:pt x="348055" y="0"/>
                  <a:pt x="438968" y="0"/>
                </a:cubicBezTo>
                <a:close/>
              </a:path>
            </a:pathLst>
          </a:custGeom>
        </p:spPr>
      </p:pic>
      <p:pic>
        <p:nvPicPr>
          <p:cNvPr id="77" name="Picture 76">
            <a:extLst>
              <a:ext uri="{FF2B5EF4-FFF2-40B4-BE49-F238E27FC236}">
                <a16:creationId xmlns:a16="http://schemas.microsoft.com/office/drawing/2014/main" id="{3CEC9DB3-08B7-48BF-8FFA-031001D68944}"/>
              </a:ext>
            </a:extLst>
          </p:cNvPr>
          <p:cNvPicPr>
            <a:picLocks noChangeAspect="1"/>
          </p:cNvPicPr>
          <p:nvPr/>
        </p:nvPicPr>
        <p:blipFill>
          <a:blip r:embed="rId2">
            <a:extLst>
              <a:ext uri="{28A0092B-C50C-407E-A947-70E740481C1C}">
                <a14:useLocalDpi xmlns:a14="http://schemas.microsoft.com/office/drawing/2010/main" val="0"/>
              </a:ext>
            </a:extLst>
          </a:blip>
          <a:srcRect l="-61" t="-2853" r="50576" b="57051"/>
          <a:stretch>
            <a:fillRect/>
          </a:stretch>
        </p:blipFill>
        <p:spPr>
          <a:xfrm>
            <a:off x="6145801" y="5606439"/>
            <a:ext cx="803458" cy="793781"/>
          </a:xfrm>
          <a:custGeom>
            <a:avLst/>
            <a:gdLst>
              <a:gd name="connsiteX0" fmla="*/ 438968 w 2298838"/>
              <a:gd name="connsiteY0" fmla="*/ 0 h 2171700"/>
              <a:gd name="connsiteX1" fmla="*/ 2298838 w 2298838"/>
              <a:gd name="connsiteY1" fmla="*/ 0 h 2171700"/>
              <a:gd name="connsiteX2" fmla="*/ 2298838 w 2298838"/>
              <a:gd name="connsiteY2" fmla="*/ 1655223 h 2171700"/>
              <a:gd name="connsiteX3" fmla="*/ 1782361 w 2298838"/>
              <a:gd name="connsiteY3" fmla="*/ 2171700 h 2171700"/>
              <a:gd name="connsiteX4" fmla="*/ 0 w 2298838"/>
              <a:gd name="connsiteY4" fmla="*/ 2171700 h 2171700"/>
              <a:gd name="connsiteX5" fmla="*/ 0 w 2298838"/>
              <a:gd name="connsiteY5" fmla="*/ 533474 h 2171700"/>
              <a:gd name="connsiteX6" fmla="*/ 2832 w 2298838"/>
              <a:gd name="connsiteY6" fmla="*/ 499331 h 2171700"/>
              <a:gd name="connsiteX7" fmla="*/ 2832 w 2298838"/>
              <a:gd name="connsiteY7" fmla="*/ 135264 h 2171700"/>
              <a:gd name="connsiteX8" fmla="*/ 149502 w 2298838"/>
              <a:gd name="connsiteY8" fmla="*/ 135264 h 2171700"/>
              <a:gd name="connsiteX9" fmla="*/ 193537 w 2298838"/>
              <a:gd name="connsiteY9" fmla="*/ 91110 h 2171700"/>
              <a:gd name="connsiteX10" fmla="*/ 438968 w 2298838"/>
              <a:gd name="connsiteY10" fmla="*/ 0 h 217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8838" h="2171700">
                <a:moveTo>
                  <a:pt x="438968" y="0"/>
                </a:moveTo>
                <a:lnTo>
                  <a:pt x="2298838" y="0"/>
                </a:lnTo>
                <a:lnTo>
                  <a:pt x="2298838" y="1655223"/>
                </a:lnTo>
                <a:cubicBezTo>
                  <a:pt x="2298838" y="1940465"/>
                  <a:pt x="2067603" y="2171700"/>
                  <a:pt x="1782361" y="2171700"/>
                </a:cubicBezTo>
                <a:lnTo>
                  <a:pt x="0" y="2171700"/>
                </a:lnTo>
                <a:lnTo>
                  <a:pt x="0" y="533474"/>
                </a:lnTo>
                <a:lnTo>
                  <a:pt x="2832" y="499331"/>
                </a:lnTo>
                <a:lnTo>
                  <a:pt x="2832" y="135264"/>
                </a:lnTo>
                <a:lnTo>
                  <a:pt x="149502" y="135264"/>
                </a:lnTo>
                <a:lnTo>
                  <a:pt x="193537" y="91110"/>
                </a:lnTo>
                <a:cubicBezTo>
                  <a:pt x="263597" y="33588"/>
                  <a:pt x="348055" y="0"/>
                  <a:pt x="438968" y="0"/>
                </a:cubicBezTo>
                <a:close/>
              </a:path>
            </a:pathLst>
          </a:custGeom>
        </p:spPr>
      </p:pic>
      <p:sp>
        <p:nvSpPr>
          <p:cNvPr id="2" name="Rectangle 1">
            <a:extLst>
              <a:ext uri="{FF2B5EF4-FFF2-40B4-BE49-F238E27FC236}">
                <a16:creationId xmlns:a16="http://schemas.microsoft.com/office/drawing/2014/main" id="{7B20D0CA-FCE2-4AE7-9844-C0BE8B605940}"/>
              </a:ext>
            </a:extLst>
          </p:cNvPr>
          <p:cNvSpPr/>
          <p:nvPr/>
        </p:nvSpPr>
        <p:spPr>
          <a:xfrm>
            <a:off x="0" y="0"/>
            <a:ext cx="5961268" cy="685799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Title 1">
            <a:extLst>
              <a:ext uri="{FF2B5EF4-FFF2-40B4-BE49-F238E27FC236}">
                <a16:creationId xmlns:a16="http://schemas.microsoft.com/office/drawing/2014/main" id="{2A3925A7-DD42-425A-BB20-C2E0981533EB}"/>
              </a:ext>
            </a:extLst>
          </p:cNvPr>
          <p:cNvSpPr txBox="1">
            <a:spLocks/>
          </p:cNvSpPr>
          <p:nvPr/>
        </p:nvSpPr>
        <p:spPr>
          <a:xfrm>
            <a:off x="76199" y="1408546"/>
            <a:ext cx="5885069" cy="3154576"/>
          </a:xfrm>
          <a:prstGeom prst="rect">
            <a:avLst/>
          </a:prstGeom>
          <a:effectLst>
            <a:outerShdw blurRad="50800" dist="38100" dir="5400000" algn="t" rotWithShape="0">
              <a:prstClr val="black">
                <a:alpha val="40000"/>
              </a:prstClr>
            </a:outerShdw>
            <a:reflection blurRad="6350" stA="52000" endA="300" endPos="35000" dir="5400000" sy="-100000" algn="bl" rotWithShape="0"/>
          </a:effectLst>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rPr>
              <a:t>Purchase Amount Prediction &amp; Insights: </a:t>
            </a:r>
          </a:p>
          <a:p>
            <a:pPr algn="ctr"/>
            <a:endParaRPr lang="en-US" b="1" dirty="0">
              <a:solidFill>
                <a:schemeClr val="bg1"/>
              </a:solidFill>
            </a:endParaRPr>
          </a:p>
          <a:p>
            <a:pPr algn="ctr"/>
            <a:r>
              <a:rPr lang="en-US" b="1" dirty="0">
                <a:solidFill>
                  <a:schemeClr val="bg1"/>
                </a:solidFill>
              </a:rPr>
              <a:t>An E-Commerce Business Case Study</a:t>
            </a:r>
            <a:endParaRPr lang="en-IN" b="1" dirty="0">
              <a:solidFill>
                <a:schemeClr val="bg1"/>
              </a:solidFill>
            </a:endParaRPr>
          </a:p>
        </p:txBody>
      </p:sp>
    </p:spTree>
    <p:extLst>
      <p:ext uri="{BB962C8B-B14F-4D97-AF65-F5344CB8AC3E}">
        <p14:creationId xmlns:p14="http://schemas.microsoft.com/office/powerpoint/2010/main" val="15977150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441">
        <p159:morph option="byObject"/>
      </p:transition>
    </mc:Choice>
    <mc:Fallback>
      <p:transition spd="slow" advTm="44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0"/>
            <a:ext cx="12192000" cy="6884782"/>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1" y="5918640"/>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24958" y="5164529"/>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226" y="5444663"/>
            <a:ext cx="554324" cy="540327"/>
          </a:xfrm>
          <a:prstGeom prst="rect">
            <a:avLst/>
          </a:prstGeom>
        </p:spPr>
      </p:pic>
      <p:grpSp>
        <p:nvGrpSpPr>
          <p:cNvPr id="5" name="Group 4">
            <a:extLst>
              <a:ext uri="{FF2B5EF4-FFF2-40B4-BE49-F238E27FC236}">
                <a16:creationId xmlns:a16="http://schemas.microsoft.com/office/drawing/2014/main" id="{96DC55C0-BFEC-46C5-8CD8-957A74A6E795}"/>
              </a:ext>
            </a:extLst>
          </p:cNvPr>
          <p:cNvGrpSpPr/>
          <p:nvPr/>
        </p:nvGrpSpPr>
        <p:grpSpPr>
          <a:xfrm>
            <a:off x="1253540" y="5918597"/>
            <a:ext cx="7375763" cy="693062"/>
            <a:chOff x="710926" y="5879549"/>
            <a:chExt cx="7375763" cy="693059"/>
          </a:xfrm>
        </p:grpSpPr>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0926" y="5966184"/>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39899" y="5977376"/>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26673" y="5969018"/>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25201" y="5977371"/>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27830" y="5911271"/>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28764" y="5923975"/>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17393" y="5879549"/>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80"/>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grpSp>
      <p:sp>
        <p:nvSpPr>
          <p:cNvPr id="27" name="TextBox 26">
            <a:extLst>
              <a:ext uri="{FF2B5EF4-FFF2-40B4-BE49-F238E27FC236}">
                <a16:creationId xmlns:a16="http://schemas.microsoft.com/office/drawing/2014/main" id="{01536DE7-7AFC-4CA0-B6CF-89ED151AC059}"/>
              </a:ext>
            </a:extLst>
          </p:cNvPr>
          <p:cNvSpPr txBox="1"/>
          <p:nvPr/>
        </p:nvSpPr>
        <p:spPr>
          <a:xfrm>
            <a:off x="3824243" y="242848"/>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BUSINESS PROBLEM STATEMENT</a:t>
            </a:r>
            <a:endParaRPr lang="en-IN" sz="2000" b="1" u="sng" dirty="0">
              <a:solidFill>
                <a:schemeClr val="bg1"/>
              </a:solidFill>
              <a:latin typeface="Calibri" panose="020F0502020204030204" pitchFamily="34" charset="0"/>
              <a:cs typeface="Calibri" panose="020F0502020204030204" pitchFamily="34" charset="0"/>
            </a:endParaRPr>
          </a:p>
        </p:txBody>
      </p:sp>
      <p:pic>
        <p:nvPicPr>
          <p:cNvPr id="26" name="Picture 25">
            <a:extLst>
              <a:ext uri="{FF2B5EF4-FFF2-40B4-BE49-F238E27FC236}">
                <a16:creationId xmlns:a16="http://schemas.microsoft.com/office/drawing/2014/main" id="{2C1586DD-2085-4A50-B757-1649A4A5C1BA}"/>
              </a:ext>
            </a:extLst>
          </p:cNvPr>
          <p:cNvPicPr>
            <a:picLocks noChangeAspect="1"/>
          </p:cNvPicPr>
          <p:nvPr/>
        </p:nvPicPr>
        <p:blipFill>
          <a:blip r:embed="rId22">
            <a:extLst>
              <a:ext uri="{28A0092B-C50C-407E-A947-70E740481C1C}">
                <a14:useLocalDpi xmlns:a14="http://schemas.microsoft.com/office/drawing/2010/main" val="0"/>
              </a:ext>
            </a:extLst>
          </a:blip>
          <a:srcRect l="-61" t="-2853"/>
          <a:stretch>
            <a:fillRect/>
          </a:stretch>
        </p:blipFill>
        <p:spPr>
          <a:xfrm>
            <a:off x="103098" y="935782"/>
            <a:ext cx="4853124" cy="4189658"/>
          </a:xfrm>
          <a:custGeom>
            <a:avLst/>
            <a:gdLst>
              <a:gd name="connsiteX0" fmla="*/ 458307 w 4853124"/>
              <a:gd name="connsiteY0" fmla="*/ 0 h 4189658"/>
              <a:gd name="connsiteX1" fmla="*/ 4394817 w 4853124"/>
              <a:gd name="connsiteY1" fmla="*/ 0 h 4189658"/>
              <a:gd name="connsiteX2" fmla="*/ 4651061 w 4853124"/>
              <a:gd name="connsiteY2" fmla="*/ 78272 h 4189658"/>
              <a:gd name="connsiteX3" fmla="*/ 4697037 w 4853124"/>
              <a:gd name="connsiteY3" fmla="*/ 116205 h 4189658"/>
              <a:gd name="connsiteX4" fmla="*/ 4853124 w 4853124"/>
              <a:gd name="connsiteY4" fmla="*/ 116205 h 4189658"/>
              <a:gd name="connsiteX5" fmla="*/ 4853124 w 4853124"/>
              <a:gd name="connsiteY5" fmla="*/ 458307 h 4189658"/>
              <a:gd name="connsiteX6" fmla="*/ 4853124 w 4853124"/>
              <a:gd name="connsiteY6" fmla="*/ 3731351 h 4189658"/>
              <a:gd name="connsiteX7" fmla="*/ 4853124 w 4853124"/>
              <a:gd name="connsiteY7" fmla="*/ 4189658 h 4189658"/>
              <a:gd name="connsiteX8" fmla="*/ 4394817 w 4853124"/>
              <a:gd name="connsiteY8" fmla="*/ 4189658 h 4189658"/>
              <a:gd name="connsiteX9" fmla="*/ 458307 w 4853124"/>
              <a:gd name="connsiteY9" fmla="*/ 4189658 h 4189658"/>
              <a:gd name="connsiteX10" fmla="*/ 2957 w 4853124"/>
              <a:gd name="connsiteY10" fmla="*/ 4189658 h 4189658"/>
              <a:gd name="connsiteX11" fmla="*/ 2957 w 4853124"/>
              <a:gd name="connsiteY11" fmla="*/ 3760684 h 4189658"/>
              <a:gd name="connsiteX12" fmla="*/ 0 w 4853124"/>
              <a:gd name="connsiteY12" fmla="*/ 3731351 h 4189658"/>
              <a:gd name="connsiteX13" fmla="*/ 0 w 4853124"/>
              <a:gd name="connsiteY13" fmla="*/ 458307 h 4189658"/>
              <a:gd name="connsiteX14" fmla="*/ 2957 w 4853124"/>
              <a:gd name="connsiteY14" fmla="*/ 428975 h 4189658"/>
              <a:gd name="connsiteX15" fmla="*/ 2957 w 4853124"/>
              <a:gd name="connsiteY15" fmla="*/ 116205 h 4189658"/>
              <a:gd name="connsiteX16" fmla="*/ 156088 w 4853124"/>
              <a:gd name="connsiteY16" fmla="*/ 116205 h 4189658"/>
              <a:gd name="connsiteX17" fmla="*/ 202063 w 4853124"/>
              <a:gd name="connsiteY17" fmla="*/ 78272 h 4189658"/>
              <a:gd name="connsiteX18" fmla="*/ 458307 w 4853124"/>
              <a:gd name="connsiteY18" fmla="*/ 0 h 4189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53124" h="4189658">
                <a:moveTo>
                  <a:pt x="458307" y="0"/>
                </a:moveTo>
                <a:lnTo>
                  <a:pt x="4394817" y="0"/>
                </a:lnTo>
                <a:cubicBezTo>
                  <a:pt x="4489736" y="0"/>
                  <a:pt x="4577915" y="28855"/>
                  <a:pt x="4651061" y="78272"/>
                </a:cubicBezTo>
                <a:lnTo>
                  <a:pt x="4697037" y="116205"/>
                </a:lnTo>
                <a:lnTo>
                  <a:pt x="4853124" y="116205"/>
                </a:lnTo>
                <a:lnTo>
                  <a:pt x="4853124" y="458307"/>
                </a:lnTo>
                <a:lnTo>
                  <a:pt x="4853124" y="3731351"/>
                </a:lnTo>
                <a:lnTo>
                  <a:pt x="4853124" y="4189658"/>
                </a:lnTo>
                <a:lnTo>
                  <a:pt x="4394817" y="4189658"/>
                </a:lnTo>
                <a:lnTo>
                  <a:pt x="458307" y="4189658"/>
                </a:lnTo>
                <a:lnTo>
                  <a:pt x="2957" y="4189658"/>
                </a:lnTo>
                <a:lnTo>
                  <a:pt x="2957" y="3760684"/>
                </a:lnTo>
                <a:lnTo>
                  <a:pt x="0" y="3731351"/>
                </a:lnTo>
                <a:lnTo>
                  <a:pt x="0" y="458307"/>
                </a:lnTo>
                <a:lnTo>
                  <a:pt x="2957" y="428975"/>
                </a:lnTo>
                <a:lnTo>
                  <a:pt x="2957" y="116205"/>
                </a:lnTo>
                <a:lnTo>
                  <a:pt x="156088" y="116205"/>
                </a:lnTo>
                <a:lnTo>
                  <a:pt x="202063" y="78272"/>
                </a:lnTo>
                <a:cubicBezTo>
                  <a:pt x="275210" y="28855"/>
                  <a:pt x="363389" y="0"/>
                  <a:pt x="458307" y="0"/>
                </a:cubicBezTo>
                <a:close/>
              </a:path>
            </a:pathLst>
          </a:custGeom>
        </p:spPr>
      </p:pic>
      <p:sp>
        <p:nvSpPr>
          <p:cNvPr id="17" name="Rectangle 16">
            <a:extLst>
              <a:ext uri="{FF2B5EF4-FFF2-40B4-BE49-F238E27FC236}">
                <a16:creationId xmlns:a16="http://schemas.microsoft.com/office/drawing/2014/main" id="{A4644CCE-6ECA-4E2F-A8FF-04C791E98DF8}"/>
              </a:ext>
            </a:extLst>
          </p:cNvPr>
          <p:cNvSpPr/>
          <p:nvPr/>
        </p:nvSpPr>
        <p:spPr>
          <a:xfrm>
            <a:off x="5059324" y="1034047"/>
            <a:ext cx="3474049" cy="413048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19FF9B43-163B-473B-BA80-0ECF15FD44F6}"/>
              </a:ext>
            </a:extLst>
          </p:cNvPr>
          <p:cNvSpPr/>
          <p:nvPr/>
        </p:nvSpPr>
        <p:spPr>
          <a:xfrm>
            <a:off x="5059324" y="1034047"/>
            <a:ext cx="3266782" cy="4130482"/>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IN" sz="1600" dirty="0"/>
          </a:p>
        </p:txBody>
      </p:sp>
      <p:sp>
        <p:nvSpPr>
          <p:cNvPr id="29" name="TextBox 28">
            <a:extLst>
              <a:ext uri="{FF2B5EF4-FFF2-40B4-BE49-F238E27FC236}">
                <a16:creationId xmlns:a16="http://schemas.microsoft.com/office/drawing/2014/main" id="{65C4C41A-1F25-44B4-A2BF-ECAA293AD677}"/>
              </a:ext>
            </a:extLst>
          </p:cNvPr>
          <p:cNvSpPr txBox="1"/>
          <p:nvPr/>
        </p:nvSpPr>
        <p:spPr>
          <a:xfrm>
            <a:off x="5204265" y="1247486"/>
            <a:ext cx="2947106" cy="2462213"/>
          </a:xfrm>
          <a:prstGeom prst="rect">
            <a:avLst/>
          </a:prstGeom>
          <a:noFill/>
        </p:spPr>
        <p:txBody>
          <a:bodyPr wrap="square" rtlCol="0">
            <a:spAutoFit/>
          </a:bodyPr>
          <a:lstStyle/>
          <a:p>
            <a:pPr algn="just"/>
            <a:r>
              <a:rPr lang="en-US" sz="1400" dirty="0">
                <a:solidFill>
                  <a:schemeClr val="bg1"/>
                </a:solidFill>
              </a:rPr>
              <a:t>Global e-commerce firms struggle to accurately forecast purchase amounts and identify key revenue drivers across regions, devices, and payment methods. This limits strategic planning and revenue optimization. The objective is to apply machine learning to predict purchase amounts and deliver actionable, data-driven insights for better decision-making.</a:t>
            </a:r>
            <a:endParaRPr lang="en-IN" sz="1400" dirty="0">
              <a:solidFill>
                <a:schemeClr val="bg1"/>
              </a:solidFill>
            </a:endParaRPr>
          </a:p>
        </p:txBody>
      </p:sp>
    </p:spTree>
    <p:extLst>
      <p:ext uri="{BB962C8B-B14F-4D97-AF65-F5344CB8AC3E}">
        <p14:creationId xmlns:p14="http://schemas.microsoft.com/office/powerpoint/2010/main" val="34675994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574">
        <p159:morph option="byObject"/>
      </p:transition>
    </mc:Choice>
    <mc:Fallback>
      <p:transition spd="slow" advTm="1574">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0"/>
            <a:ext cx="12192000" cy="6884782"/>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24958" y="5164529"/>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226" y="5444663"/>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0926" y="5966188"/>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39898" y="5977380"/>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26673" y="5969022"/>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25201" y="5977375"/>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2783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28765" y="5923980"/>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17393" y="5879551"/>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7" name="TextBox 26">
            <a:extLst>
              <a:ext uri="{FF2B5EF4-FFF2-40B4-BE49-F238E27FC236}">
                <a16:creationId xmlns:a16="http://schemas.microsoft.com/office/drawing/2014/main" id="{01536DE7-7AFC-4CA0-B6CF-89ED151AC059}"/>
              </a:ext>
            </a:extLst>
          </p:cNvPr>
          <p:cNvSpPr txBox="1"/>
          <p:nvPr/>
        </p:nvSpPr>
        <p:spPr>
          <a:xfrm>
            <a:off x="3824243" y="242848"/>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BUSINESS PROBLEM STATEMENT</a:t>
            </a:r>
            <a:endParaRPr lang="en-IN" sz="2000" b="1" u="sng" dirty="0">
              <a:solidFill>
                <a:schemeClr val="bg1"/>
              </a:solidFill>
              <a:latin typeface="Calibri" panose="020F0502020204030204" pitchFamily="34" charset="0"/>
              <a:cs typeface="Calibri" panose="020F0502020204030204" pitchFamily="34" charset="0"/>
            </a:endParaRPr>
          </a:p>
        </p:txBody>
      </p:sp>
      <p:pic>
        <p:nvPicPr>
          <p:cNvPr id="26" name="Picture 25">
            <a:extLst>
              <a:ext uri="{FF2B5EF4-FFF2-40B4-BE49-F238E27FC236}">
                <a16:creationId xmlns:a16="http://schemas.microsoft.com/office/drawing/2014/main" id="{2C1586DD-2085-4A50-B757-1649A4A5C1BA}"/>
              </a:ext>
            </a:extLst>
          </p:cNvPr>
          <p:cNvPicPr>
            <a:picLocks noChangeAspect="1"/>
          </p:cNvPicPr>
          <p:nvPr/>
        </p:nvPicPr>
        <p:blipFill>
          <a:blip r:embed="rId22">
            <a:extLst>
              <a:ext uri="{28A0092B-C50C-407E-A947-70E740481C1C}">
                <a14:useLocalDpi xmlns:a14="http://schemas.microsoft.com/office/drawing/2010/main" val="0"/>
              </a:ext>
            </a:extLst>
          </a:blip>
          <a:srcRect l="-61" t="-2853"/>
          <a:stretch>
            <a:fillRect/>
          </a:stretch>
        </p:blipFill>
        <p:spPr>
          <a:xfrm>
            <a:off x="103098" y="935782"/>
            <a:ext cx="4853124" cy="4189658"/>
          </a:xfrm>
          <a:custGeom>
            <a:avLst/>
            <a:gdLst>
              <a:gd name="connsiteX0" fmla="*/ 458307 w 4853124"/>
              <a:gd name="connsiteY0" fmla="*/ 0 h 4189658"/>
              <a:gd name="connsiteX1" fmla="*/ 4394817 w 4853124"/>
              <a:gd name="connsiteY1" fmla="*/ 0 h 4189658"/>
              <a:gd name="connsiteX2" fmla="*/ 4651061 w 4853124"/>
              <a:gd name="connsiteY2" fmla="*/ 78272 h 4189658"/>
              <a:gd name="connsiteX3" fmla="*/ 4697037 w 4853124"/>
              <a:gd name="connsiteY3" fmla="*/ 116205 h 4189658"/>
              <a:gd name="connsiteX4" fmla="*/ 4853124 w 4853124"/>
              <a:gd name="connsiteY4" fmla="*/ 116205 h 4189658"/>
              <a:gd name="connsiteX5" fmla="*/ 4853124 w 4853124"/>
              <a:gd name="connsiteY5" fmla="*/ 458307 h 4189658"/>
              <a:gd name="connsiteX6" fmla="*/ 4853124 w 4853124"/>
              <a:gd name="connsiteY6" fmla="*/ 3731351 h 4189658"/>
              <a:gd name="connsiteX7" fmla="*/ 4853124 w 4853124"/>
              <a:gd name="connsiteY7" fmla="*/ 4189658 h 4189658"/>
              <a:gd name="connsiteX8" fmla="*/ 4394817 w 4853124"/>
              <a:gd name="connsiteY8" fmla="*/ 4189658 h 4189658"/>
              <a:gd name="connsiteX9" fmla="*/ 458307 w 4853124"/>
              <a:gd name="connsiteY9" fmla="*/ 4189658 h 4189658"/>
              <a:gd name="connsiteX10" fmla="*/ 2957 w 4853124"/>
              <a:gd name="connsiteY10" fmla="*/ 4189658 h 4189658"/>
              <a:gd name="connsiteX11" fmla="*/ 2957 w 4853124"/>
              <a:gd name="connsiteY11" fmla="*/ 3760684 h 4189658"/>
              <a:gd name="connsiteX12" fmla="*/ 0 w 4853124"/>
              <a:gd name="connsiteY12" fmla="*/ 3731351 h 4189658"/>
              <a:gd name="connsiteX13" fmla="*/ 0 w 4853124"/>
              <a:gd name="connsiteY13" fmla="*/ 458307 h 4189658"/>
              <a:gd name="connsiteX14" fmla="*/ 2957 w 4853124"/>
              <a:gd name="connsiteY14" fmla="*/ 428975 h 4189658"/>
              <a:gd name="connsiteX15" fmla="*/ 2957 w 4853124"/>
              <a:gd name="connsiteY15" fmla="*/ 116205 h 4189658"/>
              <a:gd name="connsiteX16" fmla="*/ 156088 w 4853124"/>
              <a:gd name="connsiteY16" fmla="*/ 116205 h 4189658"/>
              <a:gd name="connsiteX17" fmla="*/ 202063 w 4853124"/>
              <a:gd name="connsiteY17" fmla="*/ 78272 h 4189658"/>
              <a:gd name="connsiteX18" fmla="*/ 458307 w 4853124"/>
              <a:gd name="connsiteY18" fmla="*/ 0 h 4189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53124" h="4189658">
                <a:moveTo>
                  <a:pt x="458307" y="0"/>
                </a:moveTo>
                <a:lnTo>
                  <a:pt x="4394817" y="0"/>
                </a:lnTo>
                <a:cubicBezTo>
                  <a:pt x="4489736" y="0"/>
                  <a:pt x="4577915" y="28855"/>
                  <a:pt x="4651061" y="78272"/>
                </a:cubicBezTo>
                <a:lnTo>
                  <a:pt x="4697037" y="116205"/>
                </a:lnTo>
                <a:lnTo>
                  <a:pt x="4853124" y="116205"/>
                </a:lnTo>
                <a:lnTo>
                  <a:pt x="4853124" y="458307"/>
                </a:lnTo>
                <a:lnTo>
                  <a:pt x="4853124" y="3731351"/>
                </a:lnTo>
                <a:lnTo>
                  <a:pt x="4853124" y="4189658"/>
                </a:lnTo>
                <a:lnTo>
                  <a:pt x="4394817" y="4189658"/>
                </a:lnTo>
                <a:lnTo>
                  <a:pt x="458307" y="4189658"/>
                </a:lnTo>
                <a:lnTo>
                  <a:pt x="2957" y="4189658"/>
                </a:lnTo>
                <a:lnTo>
                  <a:pt x="2957" y="3760684"/>
                </a:lnTo>
                <a:lnTo>
                  <a:pt x="0" y="3731351"/>
                </a:lnTo>
                <a:lnTo>
                  <a:pt x="0" y="458307"/>
                </a:lnTo>
                <a:lnTo>
                  <a:pt x="2957" y="428975"/>
                </a:lnTo>
                <a:lnTo>
                  <a:pt x="2957" y="116205"/>
                </a:lnTo>
                <a:lnTo>
                  <a:pt x="156088" y="116205"/>
                </a:lnTo>
                <a:lnTo>
                  <a:pt x="202063" y="78272"/>
                </a:lnTo>
                <a:cubicBezTo>
                  <a:pt x="275210" y="28855"/>
                  <a:pt x="363389" y="0"/>
                  <a:pt x="458307" y="0"/>
                </a:cubicBezTo>
                <a:close/>
              </a:path>
            </a:pathLst>
          </a:custGeom>
        </p:spPr>
      </p:pic>
      <p:sp>
        <p:nvSpPr>
          <p:cNvPr id="17" name="Rectangle 16">
            <a:extLst>
              <a:ext uri="{FF2B5EF4-FFF2-40B4-BE49-F238E27FC236}">
                <a16:creationId xmlns:a16="http://schemas.microsoft.com/office/drawing/2014/main" id="{A4644CCE-6ECA-4E2F-A8FF-04C791E98DF8}"/>
              </a:ext>
            </a:extLst>
          </p:cNvPr>
          <p:cNvSpPr/>
          <p:nvPr/>
        </p:nvSpPr>
        <p:spPr>
          <a:xfrm>
            <a:off x="8425685" y="1034047"/>
            <a:ext cx="3312811" cy="413048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19FF9B43-163B-473B-BA80-0ECF15FD44F6}"/>
              </a:ext>
            </a:extLst>
          </p:cNvPr>
          <p:cNvSpPr/>
          <p:nvPr/>
        </p:nvSpPr>
        <p:spPr>
          <a:xfrm>
            <a:off x="5059324" y="1034047"/>
            <a:ext cx="3266782" cy="4130482"/>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IN" sz="1600" dirty="0"/>
          </a:p>
        </p:txBody>
      </p:sp>
      <p:sp>
        <p:nvSpPr>
          <p:cNvPr id="29" name="TextBox 28">
            <a:extLst>
              <a:ext uri="{FF2B5EF4-FFF2-40B4-BE49-F238E27FC236}">
                <a16:creationId xmlns:a16="http://schemas.microsoft.com/office/drawing/2014/main" id="{65C4C41A-1F25-44B4-A2BF-ECAA293AD677}"/>
              </a:ext>
            </a:extLst>
          </p:cNvPr>
          <p:cNvSpPr txBox="1"/>
          <p:nvPr/>
        </p:nvSpPr>
        <p:spPr>
          <a:xfrm>
            <a:off x="5204265" y="1247486"/>
            <a:ext cx="2947106" cy="2462213"/>
          </a:xfrm>
          <a:prstGeom prst="rect">
            <a:avLst/>
          </a:prstGeom>
          <a:noFill/>
        </p:spPr>
        <p:txBody>
          <a:bodyPr wrap="square" rtlCol="0">
            <a:spAutoFit/>
          </a:bodyPr>
          <a:lstStyle/>
          <a:p>
            <a:pPr algn="just"/>
            <a:r>
              <a:rPr lang="en-US" sz="1400" dirty="0">
                <a:solidFill>
                  <a:schemeClr val="bg1"/>
                </a:solidFill>
              </a:rPr>
              <a:t>Global e-commerce firms struggle to accurately forecast purchase amounts and identify key revenue drivers across regions, devices, and payment methods. This limits strategic planning and revenue optimization. The objective is to apply machine learning to predict purchase amounts and deliver actionable, data-driven insights for better decision-making.</a:t>
            </a:r>
            <a:endParaRPr lang="en-IN" sz="1400" dirty="0">
              <a:solidFill>
                <a:schemeClr val="bg1"/>
              </a:solidFill>
            </a:endParaRPr>
          </a:p>
        </p:txBody>
      </p:sp>
      <p:sp>
        <p:nvSpPr>
          <p:cNvPr id="5" name="TextBox 4">
            <a:extLst>
              <a:ext uri="{FF2B5EF4-FFF2-40B4-BE49-F238E27FC236}">
                <a16:creationId xmlns:a16="http://schemas.microsoft.com/office/drawing/2014/main" id="{4B9D8F98-D4B7-49C3-9EC0-4DF80D41DEC9}"/>
              </a:ext>
            </a:extLst>
          </p:cNvPr>
          <p:cNvSpPr txBox="1"/>
          <p:nvPr/>
        </p:nvSpPr>
        <p:spPr>
          <a:xfrm>
            <a:off x="8506303" y="1247486"/>
            <a:ext cx="3151573" cy="2031325"/>
          </a:xfrm>
          <a:prstGeom prst="rect">
            <a:avLst/>
          </a:prstGeom>
          <a:noFill/>
        </p:spPr>
        <p:txBody>
          <a:bodyPr wrap="square" rtlCol="0">
            <a:spAutoFit/>
          </a:bodyPr>
          <a:lstStyle/>
          <a:p>
            <a:pPr marL="342900" indent="-342900" algn="just">
              <a:buAutoNum type="arabicPeriod"/>
            </a:pPr>
            <a:r>
              <a:rPr lang="en-IN" sz="1400" dirty="0">
                <a:solidFill>
                  <a:srgbClr val="002060"/>
                </a:solidFill>
              </a:rPr>
              <a:t>Inaccurate Revenue Forecasting</a:t>
            </a:r>
          </a:p>
          <a:p>
            <a:pPr marL="342900" indent="-342900" algn="just">
              <a:buAutoNum type="arabicPeriod"/>
            </a:pPr>
            <a:r>
              <a:rPr lang="en-US" sz="1400" dirty="0">
                <a:solidFill>
                  <a:srgbClr val="002060"/>
                </a:solidFill>
              </a:rPr>
              <a:t>Limited Visibility into Customer Spending Drivers</a:t>
            </a:r>
            <a:endParaRPr lang="en-IN" sz="1400" dirty="0">
              <a:solidFill>
                <a:srgbClr val="002060"/>
              </a:solidFill>
            </a:endParaRPr>
          </a:p>
          <a:p>
            <a:pPr marL="342900" indent="-342900" algn="just">
              <a:buAutoNum type="arabicPeriod"/>
            </a:pPr>
            <a:r>
              <a:rPr lang="en-US" sz="1400" dirty="0">
                <a:solidFill>
                  <a:srgbClr val="002060"/>
                </a:solidFill>
              </a:rPr>
              <a:t>Ineffective Targeting of High-Value Customers</a:t>
            </a:r>
            <a:endParaRPr lang="en-IN" sz="1400" dirty="0">
              <a:solidFill>
                <a:srgbClr val="002060"/>
              </a:solidFill>
            </a:endParaRPr>
          </a:p>
          <a:p>
            <a:pPr marL="342900" indent="-342900" algn="just">
              <a:buAutoNum type="arabicPeriod"/>
            </a:pPr>
            <a:r>
              <a:rPr lang="en-US" sz="1400" dirty="0">
                <a:solidFill>
                  <a:srgbClr val="002060"/>
                </a:solidFill>
              </a:rPr>
              <a:t>Suboptimal Regional and Payment Strategy</a:t>
            </a:r>
            <a:endParaRPr lang="en-IN" sz="1400" dirty="0">
              <a:solidFill>
                <a:srgbClr val="002060"/>
              </a:solidFill>
            </a:endParaRPr>
          </a:p>
          <a:p>
            <a:pPr marL="342900" indent="-342900" algn="just">
              <a:buAutoNum type="arabicPeriod"/>
            </a:pPr>
            <a:r>
              <a:rPr lang="en-IN" sz="1400" dirty="0">
                <a:solidFill>
                  <a:srgbClr val="002060"/>
                </a:solidFill>
              </a:rPr>
              <a:t>Underutilization of Transactional Data</a:t>
            </a:r>
          </a:p>
        </p:txBody>
      </p:sp>
    </p:spTree>
    <p:extLst>
      <p:ext uri="{BB962C8B-B14F-4D97-AF65-F5344CB8AC3E}">
        <p14:creationId xmlns:p14="http://schemas.microsoft.com/office/powerpoint/2010/main" val="27874773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918">
        <p159:morph option="byObject"/>
      </p:transition>
    </mc:Choice>
    <mc:Fallback>
      <p:transition spd="slow" advTm="1918">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0"/>
            <a:ext cx="12192000" cy="5899199"/>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682588" y="5155901"/>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6583" y="5444664"/>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39898" y="5977380"/>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26673" y="5969022"/>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25201" y="5977375"/>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2783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28765" y="5923980"/>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17393" y="5879551"/>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0" name="TextBox 19">
            <a:extLst>
              <a:ext uri="{FF2B5EF4-FFF2-40B4-BE49-F238E27FC236}">
                <a16:creationId xmlns:a16="http://schemas.microsoft.com/office/drawing/2014/main" id="{454CA5BA-94EC-4836-A835-DF3E5AE27434}"/>
              </a:ext>
            </a:extLst>
          </p:cNvPr>
          <p:cNvSpPr txBox="1"/>
          <p:nvPr/>
        </p:nvSpPr>
        <p:spPr>
          <a:xfrm>
            <a:off x="3950754" y="-2819400"/>
            <a:ext cx="3161246" cy="369332"/>
          </a:xfrm>
          <a:prstGeom prst="rect">
            <a:avLst/>
          </a:prstGeom>
          <a:noFill/>
        </p:spPr>
        <p:txBody>
          <a:bodyPr wrap="square" rtlCol="0">
            <a:spAutoFit/>
          </a:bodyPr>
          <a:lstStyle/>
          <a:p>
            <a:r>
              <a:rPr lang="en-US" dirty="0"/>
              <a:t>Business Problem Statement</a:t>
            </a:r>
            <a:endParaRPr lang="en-IN" dirty="0"/>
          </a:p>
        </p:txBody>
      </p:sp>
      <p:sp>
        <p:nvSpPr>
          <p:cNvPr id="21" name="TextBox 20">
            <a:extLst>
              <a:ext uri="{FF2B5EF4-FFF2-40B4-BE49-F238E27FC236}">
                <a16:creationId xmlns:a16="http://schemas.microsoft.com/office/drawing/2014/main" id="{4044938A-ABD0-4B82-B70E-B2938B3D4A7F}"/>
              </a:ext>
            </a:extLst>
          </p:cNvPr>
          <p:cNvSpPr txBox="1"/>
          <p:nvPr/>
        </p:nvSpPr>
        <p:spPr>
          <a:xfrm>
            <a:off x="3824243" y="275529"/>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DATA OVERVIEW</a:t>
            </a:r>
            <a:endParaRPr lang="en-IN" sz="2000" b="1" u="sng" dirty="0">
              <a:solidFill>
                <a:schemeClr val="bg1"/>
              </a:solidFill>
              <a:latin typeface="Calibri" panose="020F0502020204030204" pitchFamily="34" charset="0"/>
              <a:cs typeface="Calibri" panose="020F0502020204030204" pitchFamily="34" charset="0"/>
            </a:endParaRPr>
          </a:p>
        </p:txBody>
      </p:sp>
      <p:pic>
        <p:nvPicPr>
          <p:cNvPr id="17" name="Picture 16">
            <a:extLst>
              <a:ext uri="{FF2B5EF4-FFF2-40B4-BE49-F238E27FC236}">
                <a16:creationId xmlns:a16="http://schemas.microsoft.com/office/drawing/2014/main" id="{AC791B0F-A119-4F7C-861A-8A00055CF975}"/>
              </a:ext>
            </a:extLst>
          </p:cNvPr>
          <p:cNvPicPr>
            <a:picLocks noChangeAspect="1"/>
          </p:cNvPicPr>
          <p:nvPr/>
        </p:nvPicPr>
        <p:blipFill>
          <a:blip r:embed="rId22"/>
          <a:stretch>
            <a:fillRect/>
          </a:stretch>
        </p:blipFill>
        <p:spPr>
          <a:xfrm>
            <a:off x="896073" y="708739"/>
            <a:ext cx="10399854" cy="4342560"/>
          </a:xfrm>
          <a:prstGeom prst="rect">
            <a:avLst/>
          </a:prstGeom>
        </p:spPr>
      </p:pic>
    </p:spTree>
    <p:extLst>
      <p:ext uri="{BB962C8B-B14F-4D97-AF65-F5344CB8AC3E}">
        <p14:creationId xmlns:p14="http://schemas.microsoft.com/office/powerpoint/2010/main" val="11580351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404">
        <p159:morph option="byObject"/>
      </p:transition>
    </mc:Choice>
    <mc:Fallback>
      <p:transition spd="slow" advTm="1404">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6035"/>
            <a:ext cx="12192000" cy="5899199"/>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682588" y="5155901"/>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6583" y="5444664"/>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39898" y="5977380"/>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26673" y="5969022"/>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25201" y="5977375"/>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2783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28765" y="5923980"/>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17393" y="5879551"/>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1" name="TextBox 20">
            <a:extLst>
              <a:ext uri="{FF2B5EF4-FFF2-40B4-BE49-F238E27FC236}">
                <a16:creationId xmlns:a16="http://schemas.microsoft.com/office/drawing/2014/main" id="{4044938A-ABD0-4B82-B70E-B2938B3D4A7F}"/>
              </a:ext>
            </a:extLst>
          </p:cNvPr>
          <p:cNvSpPr txBox="1"/>
          <p:nvPr/>
        </p:nvSpPr>
        <p:spPr>
          <a:xfrm>
            <a:off x="3824243" y="275529"/>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DATA OVERVIEW</a:t>
            </a:r>
            <a:endParaRPr lang="en-IN" sz="2000" b="1" u="sng" dirty="0">
              <a:solidFill>
                <a:schemeClr val="bg1"/>
              </a:solidFill>
              <a:latin typeface="Calibri" panose="020F0502020204030204" pitchFamily="34" charset="0"/>
              <a:cs typeface="Calibri" panose="020F0502020204030204" pitchFamily="34" charset="0"/>
            </a:endParaRPr>
          </a:p>
        </p:txBody>
      </p:sp>
      <p:pic>
        <p:nvPicPr>
          <p:cNvPr id="17" name="Picture 16">
            <a:extLst>
              <a:ext uri="{FF2B5EF4-FFF2-40B4-BE49-F238E27FC236}">
                <a16:creationId xmlns:a16="http://schemas.microsoft.com/office/drawing/2014/main" id="{AC791B0F-A119-4F7C-861A-8A00055CF975}"/>
              </a:ext>
            </a:extLst>
          </p:cNvPr>
          <p:cNvPicPr>
            <a:picLocks noChangeAspect="1"/>
          </p:cNvPicPr>
          <p:nvPr/>
        </p:nvPicPr>
        <p:blipFill>
          <a:blip r:embed="rId22"/>
          <a:stretch>
            <a:fillRect/>
          </a:stretch>
        </p:blipFill>
        <p:spPr>
          <a:xfrm>
            <a:off x="155697" y="708739"/>
            <a:ext cx="8020637" cy="4342560"/>
          </a:xfrm>
          <a:prstGeom prst="rect">
            <a:avLst/>
          </a:prstGeom>
        </p:spPr>
      </p:pic>
      <p:graphicFrame>
        <p:nvGraphicFramePr>
          <p:cNvPr id="5" name="Diagram 4">
            <a:extLst>
              <a:ext uri="{FF2B5EF4-FFF2-40B4-BE49-F238E27FC236}">
                <a16:creationId xmlns:a16="http://schemas.microsoft.com/office/drawing/2014/main" id="{3E4A54B2-8112-4538-A230-1B20A3D41051}"/>
              </a:ext>
            </a:extLst>
          </p:cNvPr>
          <p:cNvGraphicFramePr/>
          <p:nvPr>
            <p:extLst>
              <p:ext uri="{D42A27DB-BD31-4B8C-83A1-F6EECF244321}">
                <p14:modId xmlns:p14="http://schemas.microsoft.com/office/powerpoint/2010/main" val="634447340"/>
              </p:ext>
            </p:extLst>
          </p:nvPr>
        </p:nvGraphicFramePr>
        <p:xfrm>
          <a:off x="8362720" y="177599"/>
          <a:ext cx="3704272" cy="5544000"/>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Tree>
    <p:extLst>
      <p:ext uri="{BB962C8B-B14F-4D97-AF65-F5344CB8AC3E}">
        <p14:creationId xmlns:p14="http://schemas.microsoft.com/office/powerpoint/2010/main" val="39235218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679">
        <p159:morph option="byObject"/>
      </p:transition>
    </mc:Choice>
    <mc:Fallback>
      <p:transition spd="slow" advTm="679">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0"/>
            <a:ext cx="12192000" cy="5899199"/>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1355728" y="5155901"/>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989" y="5989752"/>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41842" y="5469062"/>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26673" y="5969022"/>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25201" y="5977375"/>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2783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28765" y="5923980"/>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17393" y="5879551"/>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0" name="TextBox 19">
            <a:extLst>
              <a:ext uri="{FF2B5EF4-FFF2-40B4-BE49-F238E27FC236}">
                <a16:creationId xmlns:a16="http://schemas.microsoft.com/office/drawing/2014/main" id="{6AA1AC37-DEA2-4488-A12E-8E3A3C73D76D}"/>
              </a:ext>
            </a:extLst>
          </p:cNvPr>
          <p:cNvSpPr txBox="1"/>
          <p:nvPr/>
        </p:nvSpPr>
        <p:spPr>
          <a:xfrm>
            <a:off x="3950754" y="-2806700"/>
            <a:ext cx="3161246" cy="369332"/>
          </a:xfrm>
          <a:prstGeom prst="rect">
            <a:avLst/>
          </a:prstGeom>
          <a:noFill/>
        </p:spPr>
        <p:txBody>
          <a:bodyPr wrap="square" rtlCol="0">
            <a:spAutoFit/>
          </a:bodyPr>
          <a:lstStyle/>
          <a:p>
            <a:r>
              <a:rPr lang="en-US" dirty="0"/>
              <a:t>Business Problem Statement</a:t>
            </a:r>
            <a:endParaRPr lang="en-IN" dirty="0"/>
          </a:p>
        </p:txBody>
      </p:sp>
      <p:sp>
        <p:nvSpPr>
          <p:cNvPr id="21" name="TextBox 20">
            <a:extLst>
              <a:ext uri="{FF2B5EF4-FFF2-40B4-BE49-F238E27FC236}">
                <a16:creationId xmlns:a16="http://schemas.microsoft.com/office/drawing/2014/main" id="{A1AE3C76-C21C-4DCC-A5CA-82FB054E792C}"/>
              </a:ext>
            </a:extLst>
          </p:cNvPr>
          <p:cNvSpPr txBox="1"/>
          <p:nvPr/>
        </p:nvSpPr>
        <p:spPr>
          <a:xfrm>
            <a:off x="3824243" y="242848"/>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INITIAL DATA EXPLORATION</a:t>
            </a:r>
            <a:endParaRPr lang="en-IN" sz="2000" b="1" u="sng" dirty="0">
              <a:solidFill>
                <a:schemeClr val="bg1"/>
              </a:solidFill>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EB70035F-6F47-432F-96E5-2C09FA669A45}"/>
              </a:ext>
            </a:extLst>
          </p:cNvPr>
          <p:cNvPicPr>
            <a:picLocks noChangeAspect="1"/>
          </p:cNvPicPr>
          <p:nvPr/>
        </p:nvPicPr>
        <p:blipFill>
          <a:blip r:embed="rId22"/>
          <a:stretch>
            <a:fillRect/>
          </a:stretch>
        </p:blipFill>
        <p:spPr>
          <a:xfrm>
            <a:off x="8048585" y="642958"/>
            <a:ext cx="3839250" cy="1012054"/>
          </a:xfrm>
          <a:prstGeom prst="rect">
            <a:avLst/>
          </a:prstGeom>
        </p:spPr>
      </p:pic>
      <p:pic>
        <p:nvPicPr>
          <p:cNvPr id="17" name="Picture 16">
            <a:extLst>
              <a:ext uri="{FF2B5EF4-FFF2-40B4-BE49-F238E27FC236}">
                <a16:creationId xmlns:a16="http://schemas.microsoft.com/office/drawing/2014/main" id="{92961368-48E1-4281-A9B1-CB40D8704A3C}"/>
              </a:ext>
            </a:extLst>
          </p:cNvPr>
          <p:cNvPicPr>
            <a:picLocks noChangeAspect="1"/>
          </p:cNvPicPr>
          <p:nvPr/>
        </p:nvPicPr>
        <p:blipFill>
          <a:blip r:embed="rId23"/>
          <a:stretch>
            <a:fillRect/>
          </a:stretch>
        </p:blipFill>
        <p:spPr>
          <a:xfrm>
            <a:off x="8048585" y="1687994"/>
            <a:ext cx="3839250" cy="2198696"/>
          </a:xfrm>
          <a:prstGeom prst="rect">
            <a:avLst/>
          </a:prstGeom>
        </p:spPr>
      </p:pic>
      <p:pic>
        <p:nvPicPr>
          <p:cNvPr id="26" name="Picture 25">
            <a:extLst>
              <a:ext uri="{FF2B5EF4-FFF2-40B4-BE49-F238E27FC236}">
                <a16:creationId xmlns:a16="http://schemas.microsoft.com/office/drawing/2014/main" id="{796E7C40-CC7C-446F-B775-CE1EE851F7E2}"/>
              </a:ext>
            </a:extLst>
          </p:cNvPr>
          <p:cNvPicPr>
            <a:picLocks noChangeAspect="1"/>
          </p:cNvPicPr>
          <p:nvPr/>
        </p:nvPicPr>
        <p:blipFill>
          <a:blip r:embed="rId24"/>
          <a:stretch>
            <a:fillRect/>
          </a:stretch>
        </p:blipFill>
        <p:spPr>
          <a:xfrm>
            <a:off x="8048583" y="3919672"/>
            <a:ext cx="3839251" cy="1922425"/>
          </a:xfrm>
          <a:prstGeom prst="rect">
            <a:avLst/>
          </a:prstGeom>
        </p:spPr>
      </p:pic>
      <p:pic>
        <p:nvPicPr>
          <p:cNvPr id="36" name="Picture 35">
            <a:extLst>
              <a:ext uri="{FF2B5EF4-FFF2-40B4-BE49-F238E27FC236}">
                <a16:creationId xmlns:a16="http://schemas.microsoft.com/office/drawing/2014/main" id="{EEC579CF-268E-4AF0-9A5E-CEFB61466E3F}"/>
              </a:ext>
            </a:extLst>
          </p:cNvPr>
          <p:cNvPicPr>
            <a:picLocks noChangeAspect="1"/>
          </p:cNvPicPr>
          <p:nvPr/>
        </p:nvPicPr>
        <p:blipFill>
          <a:blip r:embed="rId25"/>
          <a:stretch>
            <a:fillRect/>
          </a:stretch>
        </p:blipFill>
        <p:spPr>
          <a:xfrm>
            <a:off x="124639" y="655031"/>
            <a:ext cx="7838631" cy="4380851"/>
          </a:xfrm>
          <a:prstGeom prst="rect">
            <a:avLst/>
          </a:prstGeom>
        </p:spPr>
      </p:pic>
    </p:spTree>
    <p:extLst>
      <p:ext uri="{BB962C8B-B14F-4D97-AF65-F5344CB8AC3E}">
        <p14:creationId xmlns:p14="http://schemas.microsoft.com/office/powerpoint/2010/main" val="15918040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
        <p159:morph option="byObject"/>
      </p:transition>
    </mc:Choice>
    <mc:Fallback>
      <p:transition spd="slow" advTm="2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0"/>
            <a:ext cx="12192000" cy="5899199"/>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1355728" y="5155901"/>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989" y="5989752"/>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41842" y="5469062"/>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26673" y="5969022"/>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25201" y="5977375"/>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2783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28765" y="5923980"/>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17393" y="5879551"/>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1" name="TextBox 20">
            <a:extLst>
              <a:ext uri="{FF2B5EF4-FFF2-40B4-BE49-F238E27FC236}">
                <a16:creationId xmlns:a16="http://schemas.microsoft.com/office/drawing/2014/main" id="{A1AE3C76-C21C-4DCC-A5CA-82FB054E792C}"/>
              </a:ext>
            </a:extLst>
          </p:cNvPr>
          <p:cNvSpPr txBox="1"/>
          <p:nvPr/>
        </p:nvSpPr>
        <p:spPr>
          <a:xfrm>
            <a:off x="3824243" y="242848"/>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INITIAL DATA EXPLORATION</a:t>
            </a:r>
            <a:endParaRPr lang="en-IN" sz="2000" b="1" u="sng" dirty="0">
              <a:solidFill>
                <a:schemeClr val="bg1"/>
              </a:solidFill>
              <a:latin typeface="Calibri" panose="020F0502020204030204" pitchFamily="34" charset="0"/>
              <a:cs typeface="Calibri" panose="020F0502020204030204" pitchFamily="34" charset="0"/>
            </a:endParaRPr>
          </a:p>
        </p:txBody>
      </p:sp>
      <p:grpSp>
        <p:nvGrpSpPr>
          <p:cNvPr id="30" name="Group 29">
            <a:extLst>
              <a:ext uri="{FF2B5EF4-FFF2-40B4-BE49-F238E27FC236}">
                <a16:creationId xmlns:a16="http://schemas.microsoft.com/office/drawing/2014/main" id="{406270F9-BABF-409E-9A86-C890CD371B5A}"/>
              </a:ext>
            </a:extLst>
          </p:cNvPr>
          <p:cNvGrpSpPr/>
          <p:nvPr/>
        </p:nvGrpSpPr>
        <p:grpSpPr>
          <a:xfrm>
            <a:off x="511945" y="1108063"/>
            <a:ext cx="11168109" cy="3835897"/>
            <a:chOff x="511945" y="1108063"/>
            <a:chExt cx="11168109" cy="3835897"/>
          </a:xfrm>
        </p:grpSpPr>
        <p:sp>
          <p:nvSpPr>
            <p:cNvPr id="13" name="Rectangle: Rounded Corners 12">
              <a:extLst>
                <a:ext uri="{FF2B5EF4-FFF2-40B4-BE49-F238E27FC236}">
                  <a16:creationId xmlns:a16="http://schemas.microsoft.com/office/drawing/2014/main" id="{6D9E02B6-43DF-4047-9A61-CF72B84AF126}"/>
                </a:ext>
              </a:extLst>
            </p:cNvPr>
            <p:cNvSpPr/>
            <p:nvPr/>
          </p:nvSpPr>
          <p:spPr>
            <a:xfrm>
              <a:off x="511945" y="1108063"/>
              <a:ext cx="11168109" cy="38358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q"/>
              </a:pPr>
              <a:endParaRPr lang="en-IN" dirty="0"/>
            </a:p>
          </p:txBody>
        </p:sp>
        <p:sp>
          <p:nvSpPr>
            <p:cNvPr id="29" name="TextBox 28">
              <a:extLst>
                <a:ext uri="{FF2B5EF4-FFF2-40B4-BE49-F238E27FC236}">
                  <a16:creationId xmlns:a16="http://schemas.microsoft.com/office/drawing/2014/main" id="{D08ADA35-D21C-4661-B365-5D476737EA7D}"/>
                </a:ext>
              </a:extLst>
            </p:cNvPr>
            <p:cNvSpPr txBox="1"/>
            <p:nvPr/>
          </p:nvSpPr>
          <p:spPr>
            <a:xfrm>
              <a:off x="1082192" y="1340589"/>
              <a:ext cx="9790137" cy="3108543"/>
            </a:xfrm>
            <a:prstGeom prst="rect">
              <a:avLst/>
            </a:prstGeom>
            <a:noFill/>
          </p:spPr>
          <p:txBody>
            <a:bodyPr wrap="square" rtlCol="0">
              <a:spAutoFit/>
            </a:bodyPr>
            <a:lstStyle/>
            <a:p>
              <a:pPr marL="285750" indent="-285750" algn="just">
                <a:buFont typeface="Wingdings" panose="05000000000000000000" pitchFamily="2" charset="2"/>
                <a:buChar char="q"/>
              </a:pPr>
              <a:r>
                <a:rPr lang="en-US" sz="1400" dirty="0">
                  <a:solidFill>
                    <a:schemeClr val="bg1"/>
                  </a:solidFill>
                </a:rPr>
                <a:t>The dataset contains </a:t>
              </a:r>
              <a:r>
                <a:rPr lang="en-US" sz="1400" b="1" dirty="0">
                  <a:solidFill>
                    <a:schemeClr val="bg1"/>
                  </a:solidFill>
                </a:rPr>
                <a:t>100,000 transaction records</a:t>
              </a:r>
              <a:r>
                <a:rPr lang="en-US" sz="1400" dirty="0">
                  <a:solidFill>
                    <a:schemeClr val="bg1"/>
                  </a:solidFill>
                </a:rPr>
                <a:t> with </a:t>
              </a:r>
              <a:r>
                <a:rPr lang="en-US" sz="1400" b="1" dirty="0">
                  <a:solidFill>
                    <a:schemeClr val="bg1"/>
                  </a:solidFill>
                </a:rPr>
                <a:t>10 features</a:t>
              </a:r>
              <a:r>
                <a:rPr lang="en-US" sz="1400" dirty="0">
                  <a:solidFill>
                    <a:schemeClr val="bg1"/>
                  </a:solidFill>
                </a:rPr>
                <a:t>, indicating sufficient volume for robust analysis and modeling.</a:t>
              </a:r>
            </a:p>
            <a:p>
              <a:pPr marL="285750" indent="-285750" algn="just">
                <a:buFont typeface="Wingdings" panose="05000000000000000000" pitchFamily="2" charset="2"/>
                <a:buChar char="q"/>
              </a:pPr>
              <a:r>
                <a:rPr lang="en-US" sz="1400" dirty="0">
                  <a:solidFill>
                    <a:schemeClr val="bg1"/>
                  </a:solidFill>
                </a:rPr>
                <a:t>All columns have </a:t>
              </a:r>
              <a:r>
                <a:rPr lang="en-US" sz="1400" b="1" dirty="0">
                  <a:solidFill>
                    <a:schemeClr val="bg1"/>
                  </a:solidFill>
                </a:rPr>
                <a:t>100% non-null values</a:t>
              </a:r>
              <a:r>
                <a:rPr lang="en-US" sz="1400" dirty="0">
                  <a:solidFill>
                    <a:schemeClr val="bg1"/>
                  </a:solidFill>
                </a:rPr>
                <a:t>, confirming </a:t>
              </a:r>
              <a:r>
                <a:rPr lang="en-US" sz="1400" b="1" dirty="0">
                  <a:solidFill>
                    <a:schemeClr val="bg1"/>
                  </a:solidFill>
                </a:rPr>
                <a:t>no missing data</a:t>
              </a:r>
              <a:r>
                <a:rPr lang="en-US" sz="1400" dirty="0">
                  <a:solidFill>
                    <a:schemeClr val="bg1"/>
                  </a:solidFill>
                </a:rPr>
                <a:t> and high data quality.</a:t>
              </a:r>
            </a:p>
            <a:p>
              <a:pPr marL="285750" indent="-285750" algn="just">
                <a:buFont typeface="Wingdings" panose="05000000000000000000" pitchFamily="2" charset="2"/>
                <a:buChar char="q"/>
              </a:pPr>
              <a:r>
                <a:rPr lang="en-US" sz="1400" dirty="0">
                  <a:solidFill>
                    <a:schemeClr val="bg1"/>
                  </a:solidFill>
                </a:rPr>
                <a:t>The dataset includes a mix of </a:t>
              </a:r>
              <a:r>
                <a:rPr lang="en-US" sz="1400" b="1" dirty="0">
                  <a:solidFill>
                    <a:schemeClr val="bg1"/>
                  </a:solidFill>
                </a:rPr>
                <a:t>numerical, categorical, and date variables</a:t>
              </a:r>
              <a:r>
                <a:rPr lang="en-US" sz="1400" dirty="0">
                  <a:solidFill>
                    <a:schemeClr val="bg1"/>
                  </a:solidFill>
                </a:rPr>
                <a:t>, suitable for both analytics and machine learning.</a:t>
              </a:r>
            </a:p>
            <a:p>
              <a:pPr marL="285750" indent="-285750" algn="just">
                <a:buFont typeface="Wingdings" panose="05000000000000000000" pitchFamily="2" charset="2"/>
                <a:buChar char="q"/>
              </a:pPr>
              <a:r>
                <a:rPr lang="en-US" sz="1400" b="1" dirty="0" err="1">
                  <a:solidFill>
                    <a:schemeClr val="bg1"/>
                  </a:solidFill>
                </a:rPr>
                <a:t>PurchaseAmount</a:t>
              </a:r>
              <a:r>
                <a:rPr lang="en-US" sz="1400" dirty="0">
                  <a:solidFill>
                    <a:schemeClr val="bg1"/>
                  </a:solidFill>
                </a:rPr>
                <a:t> ranges from </a:t>
              </a:r>
              <a:r>
                <a:rPr lang="en-US" sz="1400" b="1" dirty="0">
                  <a:solidFill>
                    <a:schemeClr val="bg1"/>
                  </a:solidFill>
                </a:rPr>
                <a:t>10 to 2000</a:t>
              </a:r>
              <a:r>
                <a:rPr lang="en-US" sz="1400" dirty="0">
                  <a:solidFill>
                    <a:schemeClr val="bg1"/>
                  </a:solidFill>
                </a:rPr>
                <a:t>, showing wide spending variability across transactions.</a:t>
              </a:r>
            </a:p>
            <a:p>
              <a:pPr marL="285750" indent="-285750" algn="just">
                <a:buFont typeface="Wingdings" panose="05000000000000000000" pitchFamily="2" charset="2"/>
                <a:buChar char="q"/>
              </a:pPr>
              <a:r>
                <a:rPr lang="en-US" sz="1400" dirty="0">
                  <a:solidFill>
                    <a:schemeClr val="bg1"/>
                  </a:solidFill>
                </a:rPr>
                <a:t>The </a:t>
              </a:r>
              <a:r>
                <a:rPr lang="en-US" sz="1400" b="1" dirty="0">
                  <a:solidFill>
                    <a:schemeClr val="bg1"/>
                  </a:solidFill>
                </a:rPr>
                <a:t>average purchase amount</a:t>
              </a:r>
              <a:r>
                <a:rPr lang="en-US" sz="1400" dirty="0">
                  <a:solidFill>
                    <a:schemeClr val="bg1"/>
                  </a:solidFill>
                </a:rPr>
                <a:t> is approximately </a:t>
              </a:r>
              <a:r>
                <a:rPr lang="en-US" sz="1400" b="1" dirty="0">
                  <a:solidFill>
                    <a:schemeClr val="bg1"/>
                  </a:solidFill>
                </a:rPr>
                <a:t>1002</a:t>
              </a:r>
              <a:r>
                <a:rPr lang="en-US" sz="1400" dirty="0">
                  <a:solidFill>
                    <a:schemeClr val="bg1"/>
                  </a:solidFill>
                </a:rPr>
                <a:t>, with a standard deviation of around </a:t>
              </a:r>
              <a:r>
                <a:rPr lang="en-US" sz="1400" b="1" dirty="0">
                  <a:solidFill>
                    <a:schemeClr val="bg1"/>
                  </a:solidFill>
                </a:rPr>
                <a:t>575</a:t>
              </a:r>
              <a:r>
                <a:rPr lang="en-US" sz="1400" dirty="0">
                  <a:solidFill>
                    <a:schemeClr val="bg1"/>
                  </a:solidFill>
                </a:rPr>
                <a:t>, indicating high dispersion.</a:t>
              </a:r>
            </a:p>
            <a:p>
              <a:pPr marL="285750" indent="-285750" algn="just">
                <a:buFont typeface="Wingdings" panose="05000000000000000000" pitchFamily="2" charset="2"/>
                <a:buChar char="q"/>
              </a:pPr>
              <a:r>
                <a:rPr lang="en-US" sz="1400" b="1" dirty="0">
                  <a:solidFill>
                    <a:schemeClr val="bg1"/>
                  </a:solidFill>
                </a:rPr>
                <a:t>Customer age</a:t>
              </a:r>
              <a:r>
                <a:rPr lang="en-US" sz="1400" dirty="0">
                  <a:solidFill>
                    <a:schemeClr val="bg1"/>
                  </a:solidFill>
                </a:rPr>
                <a:t> ranges from </a:t>
              </a:r>
              <a:r>
                <a:rPr lang="en-US" sz="1400" b="1" dirty="0">
                  <a:solidFill>
                    <a:schemeClr val="bg1"/>
                  </a:solidFill>
                </a:rPr>
                <a:t>18 to 69 years</a:t>
              </a:r>
              <a:r>
                <a:rPr lang="en-US" sz="1400" dirty="0">
                  <a:solidFill>
                    <a:schemeClr val="bg1"/>
                  </a:solidFill>
                </a:rPr>
                <a:t>, with a median age of </a:t>
              </a:r>
              <a:r>
                <a:rPr lang="en-US" sz="1400" b="1" dirty="0">
                  <a:solidFill>
                    <a:schemeClr val="bg1"/>
                  </a:solidFill>
                </a:rPr>
                <a:t>43</a:t>
              </a:r>
              <a:r>
                <a:rPr lang="en-US" sz="1400" dirty="0">
                  <a:solidFill>
                    <a:schemeClr val="bg1"/>
                  </a:solidFill>
                </a:rPr>
                <a:t>, representing a broad customer demographic.</a:t>
              </a:r>
            </a:p>
            <a:p>
              <a:pPr marL="285750" indent="-285750" algn="just">
                <a:buFont typeface="Wingdings" panose="05000000000000000000" pitchFamily="2" charset="2"/>
                <a:buChar char="q"/>
              </a:pPr>
              <a:r>
                <a:rPr lang="en-US" sz="1400" dirty="0">
                  <a:solidFill>
                    <a:schemeClr val="bg1"/>
                  </a:solidFill>
                </a:rPr>
                <a:t>The dataset spans purchases from </a:t>
              </a:r>
              <a:r>
                <a:rPr lang="en-US" sz="1400" b="1" dirty="0">
                  <a:solidFill>
                    <a:schemeClr val="bg1"/>
                  </a:solidFill>
                </a:rPr>
                <a:t>December 2023 to December 2025</a:t>
              </a:r>
              <a:r>
                <a:rPr lang="en-US" sz="1400" dirty="0">
                  <a:solidFill>
                    <a:schemeClr val="bg1"/>
                  </a:solidFill>
                </a:rPr>
                <a:t>, providing a meaningful time range for trend analysis.</a:t>
              </a:r>
            </a:p>
            <a:p>
              <a:pPr marL="285750" indent="-285750" algn="just">
                <a:buFont typeface="Wingdings" panose="05000000000000000000" pitchFamily="2" charset="2"/>
                <a:buChar char="q"/>
              </a:pPr>
              <a:r>
                <a:rPr lang="en-US" sz="1400" b="1" dirty="0">
                  <a:solidFill>
                    <a:schemeClr val="bg1"/>
                  </a:solidFill>
                </a:rPr>
                <a:t>Male customers</a:t>
              </a:r>
              <a:r>
                <a:rPr lang="en-US" sz="1400" dirty="0">
                  <a:solidFill>
                    <a:schemeClr val="bg1"/>
                  </a:solidFill>
                </a:rPr>
                <a:t> appear most frequently among transactions, based on gender distribution.</a:t>
              </a:r>
            </a:p>
            <a:p>
              <a:pPr marL="285750" indent="-285750" algn="just">
                <a:buFont typeface="Wingdings" panose="05000000000000000000" pitchFamily="2" charset="2"/>
                <a:buChar char="q"/>
              </a:pPr>
              <a:r>
                <a:rPr lang="en-US" sz="1400" b="1" dirty="0">
                  <a:solidFill>
                    <a:schemeClr val="bg1"/>
                  </a:solidFill>
                </a:rPr>
                <a:t>Books</a:t>
              </a:r>
              <a:r>
                <a:rPr lang="en-US" sz="1400" dirty="0">
                  <a:solidFill>
                    <a:schemeClr val="bg1"/>
                  </a:solidFill>
                </a:rPr>
                <a:t> is the most common product category, followed by other categories such as electronics and clothing.</a:t>
              </a:r>
            </a:p>
            <a:p>
              <a:pPr marL="285750" indent="-285750" algn="just">
                <a:buFont typeface="Wingdings" panose="05000000000000000000" pitchFamily="2" charset="2"/>
                <a:buChar char="q"/>
              </a:pPr>
              <a:r>
                <a:rPr lang="en-US" sz="1400" b="1" dirty="0">
                  <a:solidFill>
                    <a:schemeClr val="bg1"/>
                  </a:solidFill>
                </a:rPr>
                <a:t>Returning customers marked as “No”</a:t>
              </a:r>
              <a:r>
                <a:rPr lang="en-US" sz="1400" dirty="0">
                  <a:solidFill>
                    <a:schemeClr val="bg1"/>
                  </a:solidFill>
                </a:rPr>
                <a:t> occur more frequently, indicating a higher proportion of first-time buyers.</a:t>
              </a:r>
              <a:endParaRPr lang="en-IN" sz="1400" dirty="0">
                <a:solidFill>
                  <a:schemeClr val="bg1"/>
                </a:solidFill>
              </a:endParaRPr>
            </a:p>
          </p:txBody>
        </p:sp>
      </p:grpSp>
    </p:spTree>
    <p:extLst>
      <p:ext uri="{BB962C8B-B14F-4D97-AF65-F5344CB8AC3E}">
        <p14:creationId xmlns:p14="http://schemas.microsoft.com/office/powerpoint/2010/main" val="28075178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29">
        <p159:morph option="byObject"/>
      </p:transition>
    </mc:Choice>
    <mc:Fallback>
      <p:transition spd="slow" advTm="129">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0"/>
            <a:ext cx="12192000" cy="5899199"/>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1355728" y="5155901"/>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989" y="5989752"/>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41842" y="5469062"/>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26673" y="5969022"/>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25201" y="5977375"/>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2783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28765" y="5923980"/>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17393" y="5879551"/>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1" name="TextBox 20">
            <a:extLst>
              <a:ext uri="{FF2B5EF4-FFF2-40B4-BE49-F238E27FC236}">
                <a16:creationId xmlns:a16="http://schemas.microsoft.com/office/drawing/2014/main" id="{A1AE3C76-C21C-4DCC-A5CA-82FB054E792C}"/>
              </a:ext>
            </a:extLst>
          </p:cNvPr>
          <p:cNvSpPr txBox="1"/>
          <p:nvPr/>
        </p:nvSpPr>
        <p:spPr>
          <a:xfrm>
            <a:off x="3824243" y="242848"/>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INITIAL DATA EXPLORATION</a:t>
            </a:r>
            <a:endParaRPr lang="en-IN" sz="2000" b="1" u="sng" dirty="0">
              <a:solidFill>
                <a:schemeClr val="bg1"/>
              </a:solidFill>
              <a:latin typeface="Calibri" panose="020F0502020204030204" pitchFamily="34" charset="0"/>
              <a:cs typeface="Calibri" panose="020F0502020204030204" pitchFamily="34" charset="0"/>
            </a:endParaRPr>
          </a:p>
        </p:txBody>
      </p:sp>
      <p:grpSp>
        <p:nvGrpSpPr>
          <p:cNvPr id="30" name="Group 29">
            <a:extLst>
              <a:ext uri="{FF2B5EF4-FFF2-40B4-BE49-F238E27FC236}">
                <a16:creationId xmlns:a16="http://schemas.microsoft.com/office/drawing/2014/main" id="{406270F9-BABF-409E-9A86-C890CD371B5A}"/>
              </a:ext>
            </a:extLst>
          </p:cNvPr>
          <p:cNvGrpSpPr/>
          <p:nvPr/>
        </p:nvGrpSpPr>
        <p:grpSpPr>
          <a:xfrm>
            <a:off x="183097" y="1125270"/>
            <a:ext cx="6387041" cy="3835897"/>
            <a:chOff x="511945" y="1108063"/>
            <a:chExt cx="11168109" cy="3835897"/>
          </a:xfrm>
        </p:grpSpPr>
        <p:sp>
          <p:nvSpPr>
            <p:cNvPr id="13" name="Rectangle: Rounded Corners 12">
              <a:extLst>
                <a:ext uri="{FF2B5EF4-FFF2-40B4-BE49-F238E27FC236}">
                  <a16:creationId xmlns:a16="http://schemas.microsoft.com/office/drawing/2014/main" id="{6D9E02B6-43DF-4047-9A61-CF72B84AF126}"/>
                </a:ext>
              </a:extLst>
            </p:cNvPr>
            <p:cNvSpPr/>
            <p:nvPr/>
          </p:nvSpPr>
          <p:spPr>
            <a:xfrm>
              <a:off x="511945" y="1108063"/>
              <a:ext cx="11168109" cy="38358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q"/>
              </a:pPr>
              <a:endParaRPr lang="en-IN" dirty="0"/>
            </a:p>
          </p:txBody>
        </p:sp>
        <p:sp>
          <p:nvSpPr>
            <p:cNvPr id="29" name="TextBox 28">
              <a:extLst>
                <a:ext uri="{FF2B5EF4-FFF2-40B4-BE49-F238E27FC236}">
                  <a16:creationId xmlns:a16="http://schemas.microsoft.com/office/drawing/2014/main" id="{D08ADA35-D21C-4661-B365-5D476737EA7D}"/>
                </a:ext>
              </a:extLst>
            </p:cNvPr>
            <p:cNvSpPr txBox="1"/>
            <p:nvPr/>
          </p:nvSpPr>
          <p:spPr>
            <a:xfrm>
              <a:off x="1095748" y="1641016"/>
              <a:ext cx="9790137" cy="1384995"/>
            </a:xfrm>
            <a:prstGeom prst="rect">
              <a:avLst/>
            </a:prstGeom>
            <a:noFill/>
          </p:spPr>
          <p:txBody>
            <a:bodyPr wrap="square" rtlCol="0">
              <a:spAutoFit/>
            </a:bodyPr>
            <a:lstStyle/>
            <a:p>
              <a:pPr marL="285750" indent="-285750" algn="just">
                <a:buFont typeface="Wingdings" panose="05000000000000000000" pitchFamily="2" charset="2"/>
                <a:buChar char="q"/>
              </a:pPr>
              <a:r>
                <a:rPr lang="en-US" sz="1400" b="1" dirty="0">
                  <a:solidFill>
                    <a:schemeClr val="bg1"/>
                  </a:solidFill>
                </a:rPr>
                <a:t>Customer age is evenly distributed</a:t>
              </a:r>
              <a:r>
                <a:rPr lang="en-US" sz="1400" dirty="0">
                  <a:solidFill>
                    <a:schemeClr val="bg1"/>
                  </a:solidFill>
                </a:rPr>
                <a:t> between 18 and 69, indicating balanced representation across age groups.</a:t>
              </a:r>
            </a:p>
            <a:p>
              <a:pPr marL="285750" indent="-285750" algn="just">
                <a:buFont typeface="Wingdings" panose="05000000000000000000" pitchFamily="2" charset="2"/>
                <a:buChar char="q"/>
              </a:pPr>
              <a:r>
                <a:rPr lang="en-US" sz="1400" b="1" dirty="0">
                  <a:solidFill>
                    <a:schemeClr val="bg1"/>
                  </a:solidFill>
                </a:rPr>
                <a:t>No significant age skewness or concentration</a:t>
              </a:r>
              <a:r>
                <a:rPr lang="en-US" sz="1400" dirty="0">
                  <a:solidFill>
                    <a:schemeClr val="bg1"/>
                  </a:solidFill>
                </a:rPr>
                <a:t> is observed, reducing bias in demographic-driven modeling.</a:t>
              </a:r>
            </a:p>
            <a:p>
              <a:pPr marL="285750" indent="-285750" algn="just">
                <a:buFont typeface="Wingdings" panose="05000000000000000000" pitchFamily="2" charset="2"/>
                <a:buChar char="q"/>
              </a:pPr>
              <a:r>
                <a:rPr lang="en-US" sz="1400" b="1" dirty="0">
                  <a:solidFill>
                    <a:schemeClr val="bg1"/>
                  </a:solidFill>
                </a:rPr>
                <a:t>Purchase amounts are uniformly spread</a:t>
              </a:r>
              <a:r>
                <a:rPr lang="en-US" sz="1400" dirty="0">
                  <a:solidFill>
                    <a:schemeClr val="bg1"/>
                  </a:solidFill>
                </a:rPr>
                <a:t> across the full range, reflecting consistent spending behavior.</a:t>
              </a:r>
            </a:p>
            <a:p>
              <a:pPr marL="285750" indent="-285750" algn="just">
                <a:buFont typeface="Wingdings" panose="05000000000000000000" pitchFamily="2" charset="2"/>
                <a:buChar char="q"/>
              </a:pPr>
              <a:r>
                <a:rPr lang="en-US" sz="1400" b="1" dirty="0">
                  <a:solidFill>
                    <a:schemeClr val="bg1"/>
                  </a:solidFill>
                </a:rPr>
                <a:t>KDE plots confirm smooth, stable distributions</a:t>
              </a:r>
              <a:r>
                <a:rPr lang="en-US" sz="1400" dirty="0">
                  <a:solidFill>
                    <a:schemeClr val="bg1"/>
                  </a:solidFill>
                </a:rPr>
                <a:t>, suggesting minimal noise and reliable patterns in the data.</a:t>
              </a:r>
            </a:p>
            <a:p>
              <a:pPr marL="285750" indent="-285750" algn="just">
                <a:buFont typeface="Wingdings" panose="05000000000000000000" pitchFamily="2" charset="2"/>
                <a:buChar char="q"/>
              </a:pPr>
              <a:r>
                <a:rPr lang="en-US" sz="1400" b="1" dirty="0">
                  <a:solidFill>
                    <a:schemeClr val="bg1"/>
                  </a:solidFill>
                </a:rPr>
                <a:t>Absence of extreme spikes or anomalies</a:t>
              </a:r>
              <a:r>
                <a:rPr lang="en-US" sz="1400" dirty="0">
                  <a:solidFill>
                    <a:schemeClr val="bg1"/>
                  </a:solidFill>
                </a:rPr>
                <a:t> indicates clean data suitable for regression modeling without heavy outlier treatment.</a:t>
              </a:r>
            </a:p>
          </p:txBody>
        </p:sp>
      </p:grpSp>
      <p:pic>
        <p:nvPicPr>
          <p:cNvPr id="24" name="Picture 23">
            <a:extLst>
              <a:ext uri="{FF2B5EF4-FFF2-40B4-BE49-F238E27FC236}">
                <a16:creationId xmlns:a16="http://schemas.microsoft.com/office/drawing/2014/main" id="{BC3A7BA2-9BB3-4FD1-BA7E-684A854CDC1E}"/>
              </a:ext>
            </a:extLst>
          </p:cNvPr>
          <p:cNvPicPr>
            <a:picLocks noChangeAspect="1"/>
          </p:cNvPicPr>
          <p:nvPr/>
        </p:nvPicPr>
        <p:blipFill>
          <a:blip r:embed="rId22"/>
          <a:stretch>
            <a:fillRect/>
          </a:stretch>
        </p:blipFill>
        <p:spPr>
          <a:xfrm>
            <a:off x="6819900" y="1160039"/>
            <a:ext cx="5247092" cy="3995862"/>
          </a:xfrm>
          <a:prstGeom prst="rect">
            <a:avLst/>
          </a:prstGeom>
        </p:spPr>
      </p:pic>
    </p:spTree>
    <p:extLst>
      <p:ext uri="{BB962C8B-B14F-4D97-AF65-F5344CB8AC3E}">
        <p14:creationId xmlns:p14="http://schemas.microsoft.com/office/powerpoint/2010/main" val="5790166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48">
        <p159:morph option="byObject"/>
      </p:transition>
    </mc:Choice>
    <mc:Fallback>
      <p:transition spd="slow" advTm="248">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0"/>
            <a:ext cx="12192000" cy="5899199"/>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2091936" y="5155901"/>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989" y="5989752"/>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713" y="6037065"/>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26673" y="5969022"/>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390284" y="5381047"/>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2783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28765" y="5923980"/>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17393" y="5879551"/>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1" name="TextBox 20">
            <a:extLst>
              <a:ext uri="{FF2B5EF4-FFF2-40B4-BE49-F238E27FC236}">
                <a16:creationId xmlns:a16="http://schemas.microsoft.com/office/drawing/2014/main" id="{8C5D5F37-7D11-4A5E-A9C9-E5049691B7DB}"/>
              </a:ext>
            </a:extLst>
          </p:cNvPr>
          <p:cNvSpPr txBox="1"/>
          <p:nvPr/>
        </p:nvSpPr>
        <p:spPr>
          <a:xfrm>
            <a:off x="3824243" y="206343"/>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DATA PREPROCESSING</a:t>
            </a:r>
            <a:endParaRPr lang="en-IN" sz="2000" b="1" u="sng" dirty="0">
              <a:solidFill>
                <a:schemeClr val="bg1"/>
              </a:solidFill>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D2B2420C-D807-42A1-B6D4-F95E8151928B}"/>
              </a:ext>
            </a:extLst>
          </p:cNvPr>
          <p:cNvSpPr/>
          <p:nvPr/>
        </p:nvSpPr>
        <p:spPr>
          <a:xfrm>
            <a:off x="155696" y="851049"/>
            <a:ext cx="2347401" cy="4197100"/>
          </a:xfrm>
          <a:prstGeom prst="rect">
            <a:avLst/>
          </a:prstGeom>
          <a:solidFill>
            <a:srgbClr val="0B3C5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Handling Missing Values</a:t>
            </a:r>
            <a:endParaRPr lang="en-IN" dirty="0"/>
          </a:p>
        </p:txBody>
      </p:sp>
      <p:sp>
        <p:nvSpPr>
          <p:cNvPr id="29" name="Rectangle 28">
            <a:extLst>
              <a:ext uri="{FF2B5EF4-FFF2-40B4-BE49-F238E27FC236}">
                <a16:creationId xmlns:a16="http://schemas.microsoft.com/office/drawing/2014/main" id="{09F92255-A841-4FBC-AB34-1F1BAB0F2A1C}"/>
              </a:ext>
            </a:extLst>
          </p:cNvPr>
          <p:cNvSpPr/>
          <p:nvPr/>
        </p:nvSpPr>
        <p:spPr>
          <a:xfrm>
            <a:off x="155696" y="847609"/>
            <a:ext cx="2718663" cy="4197100"/>
          </a:xfrm>
          <a:prstGeom prst="rect">
            <a:avLst/>
          </a:prstGeom>
          <a:solidFill>
            <a:srgbClr val="0B3C5D"/>
          </a:solidFill>
        </p:spPr>
        <p:style>
          <a:lnRef idx="2">
            <a:schemeClr val="accent1">
              <a:shade val="50000"/>
            </a:schemeClr>
          </a:lnRef>
          <a:fillRef idx="1">
            <a:schemeClr val="accent1"/>
          </a:fillRef>
          <a:effectRef idx="0">
            <a:schemeClr val="accent1"/>
          </a:effectRef>
          <a:fontRef idx="minor">
            <a:schemeClr val="lt1"/>
          </a:fontRef>
        </p:style>
        <p:txBody>
          <a:bodyPr tIns="360000" rtlCol="0" anchor="t" anchorCtr="1"/>
          <a:lstStyle/>
          <a:p>
            <a:pPr algn="ctr"/>
            <a:r>
              <a:rPr lang="en-US" dirty="0"/>
              <a:t>Handling Missing Values</a:t>
            </a:r>
            <a:endParaRPr lang="en-IN" dirty="0"/>
          </a:p>
        </p:txBody>
      </p:sp>
      <p:sp>
        <p:nvSpPr>
          <p:cNvPr id="36" name="Isosceles Triangle 35">
            <a:extLst>
              <a:ext uri="{FF2B5EF4-FFF2-40B4-BE49-F238E27FC236}">
                <a16:creationId xmlns:a16="http://schemas.microsoft.com/office/drawing/2014/main" id="{307D3841-E4D3-41D6-8385-4D76C74FCF76}"/>
              </a:ext>
            </a:extLst>
          </p:cNvPr>
          <p:cNvSpPr/>
          <p:nvPr/>
        </p:nvSpPr>
        <p:spPr>
          <a:xfrm rot="5400000">
            <a:off x="2604974" y="1835881"/>
            <a:ext cx="1174629" cy="637958"/>
          </a:xfrm>
          <a:prstGeom prst="triangle">
            <a:avLst/>
          </a:prstGeom>
          <a:solidFill>
            <a:srgbClr val="0B3C5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2" name="Group 51">
            <a:extLst>
              <a:ext uri="{FF2B5EF4-FFF2-40B4-BE49-F238E27FC236}">
                <a16:creationId xmlns:a16="http://schemas.microsoft.com/office/drawing/2014/main" id="{7ABAEAD1-50AC-4247-9A33-0EA5976F3003}"/>
              </a:ext>
            </a:extLst>
          </p:cNvPr>
          <p:cNvGrpSpPr/>
          <p:nvPr/>
        </p:nvGrpSpPr>
        <p:grpSpPr>
          <a:xfrm>
            <a:off x="700768" y="869398"/>
            <a:ext cx="3338767" cy="4197100"/>
            <a:chOff x="8370681" y="846763"/>
            <a:chExt cx="3338767" cy="4197100"/>
          </a:xfrm>
        </p:grpSpPr>
        <p:grpSp>
          <p:nvGrpSpPr>
            <p:cNvPr id="48" name="Group 47">
              <a:extLst>
                <a:ext uri="{FF2B5EF4-FFF2-40B4-BE49-F238E27FC236}">
                  <a16:creationId xmlns:a16="http://schemas.microsoft.com/office/drawing/2014/main" id="{D74950D1-E0CF-42FD-B2F4-6A9FCDCF05C2}"/>
                </a:ext>
              </a:extLst>
            </p:cNvPr>
            <p:cNvGrpSpPr/>
            <p:nvPr/>
          </p:nvGrpSpPr>
          <p:grpSpPr>
            <a:xfrm>
              <a:off x="8370681" y="846763"/>
              <a:ext cx="3338767" cy="4197100"/>
              <a:chOff x="8381766" y="846764"/>
              <a:chExt cx="3338767" cy="4197100"/>
            </a:xfrm>
          </p:grpSpPr>
          <p:sp>
            <p:nvSpPr>
              <p:cNvPr id="27" name="Rectangle 26">
                <a:extLst>
                  <a:ext uri="{FF2B5EF4-FFF2-40B4-BE49-F238E27FC236}">
                    <a16:creationId xmlns:a16="http://schemas.microsoft.com/office/drawing/2014/main" id="{94AF56A0-6522-440C-8A9E-417C38BEA662}"/>
                  </a:ext>
                </a:extLst>
              </p:cNvPr>
              <p:cNvSpPr/>
              <p:nvPr/>
            </p:nvSpPr>
            <p:spPr>
              <a:xfrm>
                <a:off x="8381766" y="846764"/>
                <a:ext cx="2718663" cy="4197100"/>
              </a:xfrm>
              <a:prstGeom prst="rect">
                <a:avLst/>
              </a:prstGeom>
              <a:solidFill>
                <a:srgbClr val="4A4A4A"/>
              </a:solidFill>
            </p:spPr>
            <p:style>
              <a:lnRef idx="2">
                <a:schemeClr val="accent1">
                  <a:shade val="50000"/>
                </a:schemeClr>
              </a:lnRef>
              <a:fillRef idx="1">
                <a:schemeClr val="accent1"/>
              </a:fillRef>
              <a:effectRef idx="0">
                <a:schemeClr val="accent1"/>
              </a:effectRef>
              <a:fontRef idx="minor">
                <a:schemeClr val="lt1"/>
              </a:fontRef>
            </p:style>
            <p:txBody>
              <a:bodyPr tIns="360000" rtlCol="0" anchor="t" anchorCtr="1"/>
              <a:lstStyle/>
              <a:p>
                <a:pPr algn="ctr"/>
                <a:r>
                  <a:rPr lang="en-US" dirty="0"/>
                  <a:t>Train – Test Split</a:t>
                </a:r>
                <a:endParaRPr lang="en-IN" dirty="0"/>
              </a:p>
            </p:txBody>
          </p:sp>
          <p:sp>
            <p:nvSpPr>
              <p:cNvPr id="39" name="Isosceles Triangle 38">
                <a:extLst>
                  <a:ext uri="{FF2B5EF4-FFF2-40B4-BE49-F238E27FC236}">
                    <a16:creationId xmlns:a16="http://schemas.microsoft.com/office/drawing/2014/main" id="{7D5DED83-33EE-4A37-9003-4BCA6BAB59B9}"/>
                  </a:ext>
                </a:extLst>
              </p:cNvPr>
              <p:cNvSpPr/>
              <p:nvPr/>
            </p:nvSpPr>
            <p:spPr>
              <a:xfrm rot="5400000">
                <a:off x="10814239" y="1824992"/>
                <a:ext cx="1174629" cy="637958"/>
              </a:xfrm>
              <a:prstGeom prst="triangle">
                <a:avLst/>
              </a:prstGeom>
              <a:solidFill>
                <a:srgbClr val="3A3A3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5" name="TextBox 34">
              <a:extLst>
                <a:ext uri="{FF2B5EF4-FFF2-40B4-BE49-F238E27FC236}">
                  <a16:creationId xmlns:a16="http://schemas.microsoft.com/office/drawing/2014/main" id="{13CFE37B-EDCD-4385-B13C-152CFF6C367C}"/>
                </a:ext>
              </a:extLst>
            </p:cNvPr>
            <p:cNvSpPr txBox="1"/>
            <p:nvPr/>
          </p:nvSpPr>
          <p:spPr>
            <a:xfrm>
              <a:off x="8590197" y="2748532"/>
              <a:ext cx="2272121" cy="1569660"/>
            </a:xfrm>
            <a:prstGeom prst="rect">
              <a:avLst/>
            </a:prstGeom>
            <a:noFill/>
          </p:spPr>
          <p:txBody>
            <a:bodyPr wrap="square" rtlCol="0">
              <a:spAutoFit/>
            </a:bodyPr>
            <a:lstStyle/>
            <a:p>
              <a:pPr algn="ctr"/>
              <a:r>
                <a:rPr lang="en-US" sz="1600" dirty="0">
                  <a:solidFill>
                    <a:schemeClr val="bg1"/>
                  </a:solidFill>
                </a:rPr>
                <a:t>Split the dataset into </a:t>
              </a:r>
              <a:r>
                <a:rPr lang="en-US" sz="1600" b="1" dirty="0">
                  <a:solidFill>
                    <a:schemeClr val="bg1"/>
                  </a:solidFill>
                </a:rPr>
                <a:t>80% training data</a:t>
              </a:r>
              <a:r>
                <a:rPr lang="en-US" sz="1600" dirty="0">
                  <a:solidFill>
                    <a:schemeClr val="bg1"/>
                  </a:solidFill>
                </a:rPr>
                <a:t> and </a:t>
              </a:r>
              <a:r>
                <a:rPr lang="en-US" sz="1600" b="1" dirty="0">
                  <a:solidFill>
                    <a:schemeClr val="bg1"/>
                  </a:solidFill>
                </a:rPr>
                <a:t>20% testing data</a:t>
              </a:r>
              <a:r>
                <a:rPr lang="en-US" sz="1600" dirty="0">
                  <a:solidFill>
                    <a:schemeClr val="bg1"/>
                  </a:solidFill>
                </a:rPr>
                <a:t> to evaluate model generalization and predictive accuracy.</a:t>
              </a:r>
              <a:endParaRPr lang="en-IN" sz="1600" dirty="0">
                <a:solidFill>
                  <a:schemeClr val="bg1"/>
                </a:solidFill>
              </a:endParaRPr>
            </a:p>
          </p:txBody>
        </p:sp>
      </p:grpSp>
      <p:grpSp>
        <p:nvGrpSpPr>
          <p:cNvPr id="51" name="Group 50">
            <a:extLst>
              <a:ext uri="{FF2B5EF4-FFF2-40B4-BE49-F238E27FC236}">
                <a16:creationId xmlns:a16="http://schemas.microsoft.com/office/drawing/2014/main" id="{FF7E0387-CB87-4E30-890B-55AA7A8DC3FE}"/>
              </a:ext>
            </a:extLst>
          </p:cNvPr>
          <p:cNvGrpSpPr/>
          <p:nvPr/>
        </p:nvGrpSpPr>
        <p:grpSpPr>
          <a:xfrm>
            <a:off x="490792" y="866726"/>
            <a:ext cx="3356622" cy="4197100"/>
            <a:chOff x="5640789" y="847609"/>
            <a:chExt cx="3356622" cy="4197100"/>
          </a:xfrm>
        </p:grpSpPr>
        <p:grpSp>
          <p:nvGrpSpPr>
            <p:cNvPr id="47" name="Group 46">
              <a:extLst>
                <a:ext uri="{FF2B5EF4-FFF2-40B4-BE49-F238E27FC236}">
                  <a16:creationId xmlns:a16="http://schemas.microsoft.com/office/drawing/2014/main" id="{EB9B4A26-B6DF-4896-B60B-62215E18E393}"/>
                </a:ext>
              </a:extLst>
            </p:cNvPr>
            <p:cNvGrpSpPr/>
            <p:nvPr/>
          </p:nvGrpSpPr>
          <p:grpSpPr>
            <a:xfrm>
              <a:off x="5640789" y="847609"/>
              <a:ext cx="3356622" cy="4197100"/>
              <a:chOff x="5640789" y="847609"/>
              <a:chExt cx="3356622" cy="4197100"/>
            </a:xfrm>
          </p:grpSpPr>
          <p:sp>
            <p:nvSpPr>
              <p:cNvPr id="31" name="Rectangle 30">
                <a:extLst>
                  <a:ext uri="{FF2B5EF4-FFF2-40B4-BE49-F238E27FC236}">
                    <a16:creationId xmlns:a16="http://schemas.microsoft.com/office/drawing/2014/main" id="{1501E2ED-137E-4C79-A96C-C559997EDB91}"/>
                  </a:ext>
                </a:extLst>
              </p:cNvPr>
              <p:cNvSpPr/>
              <p:nvPr/>
            </p:nvSpPr>
            <p:spPr>
              <a:xfrm>
                <a:off x="5640789" y="847609"/>
                <a:ext cx="2718663" cy="4197100"/>
              </a:xfrm>
              <a:prstGeom prst="rect">
                <a:avLst/>
              </a:prstGeom>
              <a:solidFill>
                <a:srgbClr val="D9E6F2"/>
              </a:solidFill>
            </p:spPr>
            <p:style>
              <a:lnRef idx="2">
                <a:schemeClr val="accent1">
                  <a:shade val="50000"/>
                </a:schemeClr>
              </a:lnRef>
              <a:fillRef idx="1">
                <a:schemeClr val="accent1"/>
              </a:fillRef>
              <a:effectRef idx="0">
                <a:schemeClr val="accent1"/>
              </a:effectRef>
              <a:fontRef idx="minor">
                <a:schemeClr val="lt1"/>
              </a:fontRef>
            </p:style>
            <p:txBody>
              <a:bodyPr tIns="360000" rtlCol="0" anchor="t" anchorCtr="1"/>
              <a:lstStyle/>
              <a:p>
                <a:pPr algn="ctr"/>
                <a:r>
                  <a:rPr lang="en-US" dirty="0">
                    <a:solidFill>
                      <a:schemeClr val="tx1"/>
                    </a:solidFill>
                  </a:rPr>
                  <a:t>Feature Scaling</a:t>
                </a:r>
                <a:endParaRPr lang="en-IN" dirty="0">
                  <a:solidFill>
                    <a:schemeClr val="tx1"/>
                  </a:solidFill>
                </a:endParaRPr>
              </a:p>
            </p:txBody>
          </p:sp>
          <p:sp>
            <p:nvSpPr>
              <p:cNvPr id="38" name="Isosceles Triangle 37">
                <a:extLst>
                  <a:ext uri="{FF2B5EF4-FFF2-40B4-BE49-F238E27FC236}">
                    <a16:creationId xmlns:a16="http://schemas.microsoft.com/office/drawing/2014/main" id="{2B305E5D-B659-42D0-AA1E-16C4D061B3A8}"/>
                  </a:ext>
                </a:extLst>
              </p:cNvPr>
              <p:cNvSpPr/>
              <p:nvPr/>
            </p:nvSpPr>
            <p:spPr>
              <a:xfrm rot="5400000">
                <a:off x="8091117" y="1840117"/>
                <a:ext cx="1174629" cy="637958"/>
              </a:xfrm>
              <a:prstGeom prst="triangle">
                <a:avLst/>
              </a:prstGeom>
              <a:solidFill>
                <a:srgbClr val="D9E6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4" name="TextBox 33">
              <a:extLst>
                <a:ext uri="{FF2B5EF4-FFF2-40B4-BE49-F238E27FC236}">
                  <a16:creationId xmlns:a16="http://schemas.microsoft.com/office/drawing/2014/main" id="{77B269FB-91CB-441B-8297-64CE99FC43F5}"/>
                </a:ext>
              </a:extLst>
            </p:cNvPr>
            <p:cNvSpPr txBox="1"/>
            <p:nvPr/>
          </p:nvSpPr>
          <p:spPr>
            <a:xfrm>
              <a:off x="5772078" y="2768113"/>
              <a:ext cx="2272121" cy="1815882"/>
            </a:xfrm>
            <a:prstGeom prst="rect">
              <a:avLst/>
            </a:prstGeom>
            <a:noFill/>
          </p:spPr>
          <p:txBody>
            <a:bodyPr wrap="square" rtlCol="0">
              <a:spAutoFit/>
            </a:bodyPr>
            <a:lstStyle/>
            <a:p>
              <a:pPr algn="ctr"/>
              <a:r>
                <a:rPr lang="en-US" sz="1600" dirty="0"/>
                <a:t>Applied </a:t>
              </a:r>
              <a:r>
                <a:rPr lang="en-US" sz="1600" b="1" dirty="0"/>
                <a:t>Min–Max Scaling</a:t>
              </a:r>
              <a:r>
                <a:rPr lang="en-US" sz="1600" dirty="0"/>
                <a:t> to independent variables to normalize feature ranges and improve model stability and performance.</a:t>
              </a:r>
              <a:endParaRPr lang="en-IN" sz="1600" dirty="0"/>
            </a:p>
          </p:txBody>
        </p:sp>
      </p:grpSp>
      <p:grpSp>
        <p:nvGrpSpPr>
          <p:cNvPr id="50" name="Group 49">
            <a:extLst>
              <a:ext uri="{FF2B5EF4-FFF2-40B4-BE49-F238E27FC236}">
                <a16:creationId xmlns:a16="http://schemas.microsoft.com/office/drawing/2014/main" id="{E6585067-BF93-4192-B881-D42679136137}"/>
              </a:ext>
            </a:extLst>
          </p:cNvPr>
          <p:cNvGrpSpPr/>
          <p:nvPr/>
        </p:nvGrpSpPr>
        <p:grpSpPr>
          <a:xfrm>
            <a:off x="300179" y="851046"/>
            <a:ext cx="3369800" cy="4197100"/>
            <a:chOff x="2895767" y="846763"/>
            <a:chExt cx="3369800" cy="4197100"/>
          </a:xfrm>
        </p:grpSpPr>
        <p:grpSp>
          <p:nvGrpSpPr>
            <p:cNvPr id="46" name="Group 45">
              <a:extLst>
                <a:ext uri="{FF2B5EF4-FFF2-40B4-BE49-F238E27FC236}">
                  <a16:creationId xmlns:a16="http://schemas.microsoft.com/office/drawing/2014/main" id="{12C227D3-E811-4FC5-BD60-7637B37F087B}"/>
                </a:ext>
              </a:extLst>
            </p:cNvPr>
            <p:cNvGrpSpPr/>
            <p:nvPr/>
          </p:nvGrpSpPr>
          <p:grpSpPr>
            <a:xfrm>
              <a:off x="2895767" y="846763"/>
              <a:ext cx="3369800" cy="4197100"/>
              <a:chOff x="2897719" y="846764"/>
              <a:chExt cx="3369800" cy="4197100"/>
            </a:xfrm>
          </p:grpSpPr>
          <p:sp>
            <p:nvSpPr>
              <p:cNvPr id="44" name="Rectangle 43">
                <a:extLst>
                  <a:ext uri="{FF2B5EF4-FFF2-40B4-BE49-F238E27FC236}">
                    <a16:creationId xmlns:a16="http://schemas.microsoft.com/office/drawing/2014/main" id="{2C1C583C-DEBA-4486-9A6F-C3B0BB6B3478}"/>
                  </a:ext>
                </a:extLst>
              </p:cNvPr>
              <p:cNvSpPr/>
              <p:nvPr/>
            </p:nvSpPr>
            <p:spPr>
              <a:xfrm>
                <a:off x="2897719" y="846764"/>
                <a:ext cx="2718663" cy="4197100"/>
              </a:xfrm>
              <a:prstGeom prst="rect">
                <a:avLst/>
              </a:prstGeom>
              <a:solidFill>
                <a:srgbClr val="328CC1"/>
              </a:solidFill>
            </p:spPr>
            <p:style>
              <a:lnRef idx="2">
                <a:schemeClr val="accent1">
                  <a:shade val="50000"/>
                </a:schemeClr>
              </a:lnRef>
              <a:fillRef idx="1">
                <a:schemeClr val="accent1"/>
              </a:fillRef>
              <a:effectRef idx="0">
                <a:schemeClr val="accent1"/>
              </a:effectRef>
              <a:fontRef idx="minor">
                <a:schemeClr val="lt1"/>
              </a:fontRef>
            </p:style>
            <p:txBody>
              <a:bodyPr tIns="360000" rtlCol="0" anchor="t" anchorCtr="1"/>
              <a:lstStyle/>
              <a:p>
                <a:pPr algn="ctr"/>
                <a:r>
                  <a:rPr lang="en-US" dirty="0"/>
                  <a:t>Categorical Variable Encoding</a:t>
                </a:r>
                <a:endParaRPr lang="en-IN" dirty="0"/>
              </a:p>
            </p:txBody>
          </p:sp>
          <p:sp>
            <p:nvSpPr>
              <p:cNvPr id="45" name="Isosceles Triangle 44">
                <a:extLst>
                  <a:ext uri="{FF2B5EF4-FFF2-40B4-BE49-F238E27FC236}">
                    <a16:creationId xmlns:a16="http://schemas.microsoft.com/office/drawing/2014/main" id="{5B66A9F2-3BEC-4A13-8DD8-889B32AF3C0C}"/>
                  </a:ext>
                </a:extLst>
              </p:cNvPr>
              <p:cNvSpPr/>
              <p:nvPr/>
            </p:nvSpPr>
            <p:spPr>
              <a:xfrm rot="5400000">
                <a:off x="5361225" y="1835881"/>
                <a:ext cx="1174629" cy="637958"/>
              </a:xfrm>
              <a:prstGeom prst="triangle">
                <a:avLst/>
              </a:prstGeom>
              <a:solidFill>
                <a:srgbClr val="328CC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3" name="TextBox 32">
              <a:extLst>
                <a:ext uri="{FF2B5EF4-FFF2-40B4-BE49-F238E27FC236}">
                  <a16:creationId xmlns:a16="http://schemas.microsoft.com/office/drawing/2014/main" id="{147D7F12-0AF0-46FC-9A38-F75607496DAC}"/>
                </a:ext>
              </a:extLst>
            </p:cNvPr>
            <p:cNvSpPr txBox="1"/>
            <p:nvPr/>
          </p:nvSpPr>
          <p:spPr>
            <a:xfrm>
              <a:off x="3086380" y="2783648"/>
              <a:ext cx="2272121" cy="1815882"/>
            </a:xfrm>
            <a:prstGeom prst="rect">
              <a:avLst/>
            </a:prstGeom>
            <a:noFill/>
          </p:spPr>
          <p:txBody>
            <a:bodyPr wrap="square" rtlCol="0">
              <a:spAutoFit/>
            </a:bodyPr>
            <a:lstStyle/>
            <a:p>
              <a:pPr algn="ctr"/>
              <a:r>
                <a:rPr lang="en-US" sz="1600" dirty="0">
                  <a:solidFill>
                    <a:schemeClr val="bg1"/>
                  </a:solidFill>
                </a:rPr>
                <a:t>Converted categorical features into numerical format using </a:t>
              </a:r>
              <a:r>
                <a:rPr lang="en-US" sz="1600" b="1" dirty="0">
                  <a:solidFill>
                    <a:schemeClr val="bg1"/>
                  </a:solidFill>
                </a:rPr>
                <a:t>One-Hot Encoding</a:t>
              </a:r>
              <a:r>
                <a:rPr lang="en-US" sz="1600" dirty="0">
                  <a:solidFill>
                    <a:schemeClr val="bg1"/>
                  </a:solidFill>
                </a:rPr>
                <a:t> to enable effective machine learning modeling.</a:t>
              </a:r>
              <a:endParaRPr lang="en-IN" sz="1600" dirty="0">
                <a:solidFill>
                  <a:schemeClr val="bg1"/>
                </a:solidFill>
              </a:endParaRPr>
            </a:p>
          </p:txBody>
        </p:sp>
      </p:grpSp>
      <p:grpSp>
        <p:nvGrpSpPr>
          <p:cNvPr id="49" name="Group 48">
            <a:extLst>
              <a:ext uri="{FF2B5EF4-FFF2-40B4-BE49-F238E27FC236}">
                <a16:creationId xmlns:a16="http://schemas.microsoft.com/office/drawing/2014/main" id="{53E390F3-9149-4035-B7B8-497FDA8E32E6}"/>
              </a:ext>
            </a:extLst>
          </p:cNvPr>
          <p:cNvGrpSpPr/>
          <p:nvPr/>
        </p:nvGrpSpPr>
        <p:grpSpPr>
          <a:xfrm>
            <a:off x="155696" y="847610"/>
            <a:ext cx="3355572" cy="4197100"/>
            <a:chOff x="155696" y="847610"/>
            <a:chExt cx="3355572" cy="4197100"/>
          </a:xfrm>
        </p:grpSpPr>
        <p:grpSp>
          <p:nvGrpSpPr>
            <p:cNvPr id="43" name="Group 42">
              <a:extLst>
                <a:ext uri="{FF2B5EF4-FFF2-40B4-BE49-F238E27FC236}">
                  <a16:creationId xmlns:a16="http://schemas.microsoft.com/office/drawing/2014/main" id="{0704DD87-B9A0-4920-AADC-20542C4276FA}"/>
                </a:ext>
              </a:extLst>
            </p:cNvPr>
            <p:cNvGrpSpPr/>
            <p:nvPr/>
          </p:nvGrpSpPr>
          <p:grpSpPr>
            <a:xfrm>
              <a:off x="155696" y="847610"/>
              <a:ext cx="3355572" cy="4197100"/>
              <a:chOff x="155696" y="847610"/>
              <a:chExt cx="3355572" cy="4197100"/>
            </a:xfrm>
          </p:grpSpPr>
          <p:sp>
            <p:nvSpPr>
              <p:cNvPr id="41" name="Rectangle 40">
                <a:extLst>
                  <a:ext uri="{FF2B5EF4-FFF2-40B4-BE49-F238E27FC236}">
                    <a16:creationId xmlns:a16="http://schemas.microsoft.com/office/drawing/2014/main" id="{75B2E089-13AF-42A2-BD02-B9D187AE16F6}"/>
                  </a:ext>
                </a:extLst>
              </p:cNvPr>
              <p:cNvSpPr/>
              <p:nvPr/>
            </p:nvSpPr>
            <p:spPr>
              <a:xfrm>
                <a:off x="155696" y="847610"/>
                <a:ext cx="2718663" cy="4197100"/>
              </a:xfrm>
              <a:prstGeom prst="rect">
                <a:avLst/>
              </a:prstGeom>
              <a:solidFill>
                <a:srgbClr val="0B3C5D"/>
              </a:solidFill>
            </p:spPr>
            <p:style>
              <a:lnRef idx="2">
                <a:schemeClr val="accent1">
                  <a:shade val="50000"/>
                </a:schemeClr>
              </a:lnRef>
              <a:fillRef idx="1">
                <a:schemeClr val="accent1"/>
              </a:fillRef>
              <a:effectRef idx="0">
                <a:schemeClr val="accent1"/>
              </a:effectRef>
              <a:fontRef idx="minor">
                <a:schemeClr val="lt1"/>
              </a:fontRef>
            </p:style>
            <p:txBody>
              <a:bodyPr tIns="360000" rtlCol="0" anchor="t" anchorCtr="1"/>
              <a:lstStyle/>
              <a:p>
                <a:pPr algn="ctr"/>
                <a:r>
                  <a:rPr lang="en-US" dirty="0"/>
                  <a:t>Handling Missing Values</a:t>
                </a:r>
                <a:endParaRPr lang="en-IN" dirty="0"/>
              </a:p>
            </p:txBody>
          </p:sp>
          <p:sp>
            <p:nvSpPr>
              <p:cNvPr id="42" name="Isosceles Triangle 41">
                <a:extLst>
                  <a:ext uri="{FF2B5EF4-FFF2-40B4-BE49-F238E27FC236}">
                    <a16:creationId xmlns:a16="http://schemas.microsoft.com/office/drawing/2014/main" id="{32F54E83-97FA-478C-9DBD-4A2ABFB5C725}"/>
                  </a:ext>
                </a:extLst>
              </p:cNvPr>
              <p:cNvSpPr/>
              <p:nvPr/>
            </p:nvSpPr>
            <p:spPr>
              <a:xfrm rot="5400000">
                <a:off x="2604974" y="1835882"/>
                <a:ext cx="1174629" cy="637958"/>
              </a:xfrm>
              <a:prstGeom prst="triangle">
                <a:avLst/>
              </a:prstGeom>
              <a:solidFill>
                <a:srgbClr val="0B3C5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2" name="TextBox 31">
              <a:extLst>
                <a:ext uri="{FF2B5EF4-FFF2-40B4-BE49-F238E27FC236}">
                  <a16:creationId xmlns:a16="http://schemas.microsoft.com/office/drawing/2014/main" id="{A28632E6-B0A9-4D2D-B169-0762949A030A}"/>
                </a:ext>
              </a:extLst>
            </p:cNvPr>
            <p:cNvSpPr txBox="1"/>
            <p:nvPr/>
          </p:nvSpPr>
          <p:spPr>
            <a:xfrm>
              <a:off x="302617" y="2746410"/>
              <a:ext cx="2272121" cy="1815882"/>
            </a:xfrm>
            <a:prstGeom prst="rect">
              <a:avLst/>
            </a:prstGeom>
            <a:noFill/>
          </p:spPr>
          <p:txBody>
            <a:bodyPr wrap="square" rtlCol="0">
              <a:spAutoFit/>
            </a:bodyPr>
            <a:lstStyle/>
            <a:p>
              <a:pPr algn="ctr"/>
              <a:r>
                <a:rPr lang="en-US" sz="1600" dirty="0">
                  <a:solidFill>
                    <a:schemeClr val="bg1"/>
                  </a:solidFill>
                </a:rPr>
                <a:t>Conducted a missing value analysis and confirmed that the dataset contains </a:t>
              </a:r>
              <a:r>
                <a:rPr lang="en-US" sz="1600" b="1" dirty="0">
                  <a:solidFill>
                    <a:schemeClr val="bg1"/>
                  </a:solidFill>
                </a:rPr>
                <a:t>no null or missing values</a:t>
              </a:r>
              <a:r>
                <a:rPr lang="en-US" sz="1600" dirty="0">
                  <a:solidFill>
                    <a:schemeClr val="bg1"/>
                  </a:solidFill>
                </a:rPr>
                <a:t>, ensuring data completeness.</a:t>
              </a:r>
              <a:endParaRPr lang="en-IN" sz="1600" dirty="0">
                <a:solidFill>
                  <a:schemeClr val="bg1"/>
                </a:solidFill>
              </a:endParaRPr>
            </a:p>
          </p:txBody>
        </p:sp>
      </p:grpSp>
    </p:spTree>
    <p:extLst>
      <p:ext uri="{BB962C8B-B14F-4D97-AF65-F5344CB8AC3E}">
        <p14:creationId xmlns:p14="http://schemas.microsoft.com/office/powerpoint/2010/main" val="21619732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16">
        <p159:morph option="byObject"/>
      </p:transition>
    </mc:Choice>
    <mc:Fallback>
      <p:transition spd="slow" advTm="316">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0"/>
            <a:ext cx="12192000" cy="5899199"/>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2091936" y="5155901"/>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989" y="5989752"/>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713" y="6037065"/>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26673" y="5969022"/>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390284" y="5381047"/>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2783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28765" y="5923980"/>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17393" y="5879551"/>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1" name="TextBox 20">
            <a:extLst>
              <a:ext uri="{FF2B5EF4-FFF2-40B4-BE49-F238E27FC236}">
                <a16:creationId xmlns:a16="http://schemas.microsoft.com/office/drawing/2014/main" id="{8C5D5F37-7D11-4A5E-A9C9-E5049691B7DB}"/>
              </a:ext>
            </a:extLst>
          </p:cNvPr>
          <p:cNvSpPr txBox="1"/>
          <p:nvPr/>
        </p:nvSpPr>
        <p:spPr>
          <a:xfrm>
            <a:off x="3824243" y="206343"/>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DATA PREPROCESSING</a:t>
            </a:r>
            <a:endParaRPr lang="en-IN" sz="2000" b="1" u="sng" dirty="0">
              <a:solidFill>
                <a:schemeClr val="bg1"/>
              </a:solidFill>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D2B2420C-D807-42A1-B6D4-F95E8151928B}"/>
              </a:ext>
            </a:extLst>
          </p:cNvPr>
          <p:cNvSpPr/>
          <p:nvPr/>
        </p:nvSpPr>
        <p:spPr>
          <a:xfrm>
            <a:off x="155696" y="851049"/>
            <a:ext cx="2347401" cy="4197100"/>
          </a:xfrm>
          <a:prstGeom prst="rect">
            <a:avLst/>
          </a:prstGeom>
          <a:solidFill>
            <a:srgbClr val="0B3C5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Handling Missing Values</a:t>
            </a:r>
            <a:endParaRPr lang="en-IN" dirty="0"/>
          </a:p>
        </p:txBody>
      </p:sp>
      <p:sp>
        <p:nvSpPr>
          <p:cNvPr id="29" name="Rectangle 28">
            <a:extLst>
              <a:ext uri="{FF2B5EF4-FFF2-40B4-BE49-F238E27FC236}">
                <a16:creationId xmlns:a16="http://schemas.microsoft.com/office/drawing/2014/main" id="{09F92255-A841-4FBC-AB34-1F1BAB0F2A1C}"/>
              </a:ext>
            </a:extLst>
          </p:cNvPr>
          <p:cNvSpPr/>
          <p:nvPr/>
        </p:nvSpPr>
        <p:spPr>
          <a:xfrm>
            <a:off x="155696" y="847609"/>
            <a:ext cx="2718663" cy="4197100"/>
          </a:xfrm>
          <a:prstGeom prst="rect">
            <a:avLst/>
          </a:prstGeom>
          <a:solidFill>
            <a:srgbClr val="0B3C5D"/>
          </a:solidFill>
        </p:spPr>
        <p:style>
          <a:lnRef idx="2">
            <a:schemeClr val="accent1">
              <a:shade val="50000"/>
            </a:schemeClr>
          </a:lnRef>
          <a:fillRef idx="1">
            <a:schemeClr val="accent1"/>
          </a:fillRef>
          <a:effectRef idx="0">
            <a:schemeClr val="accent1"/>
          </a:effectRef>
          <a:fontRef idx="minor">
            <a:schemeClr val="lt1"/>
          </a:fontRef>
        </p:style>
        <p:txBody>
          <a:bodyPr tIns="360000" rtlCol="0" anchor="t" anchorCtr="1"/>
          <a:lstStyle/>
          <a:p>
            <a:pPr algn="ctr"/>
            <a:r>
              <a:rPr lang="en-US" dirty="0"/>
              <a:t>Handling Missing Values</a:t>
            </a:r>
            <a:endParaRPr lang="en-IN" dirty="0"/>
          </a:p>
        </p:txBody>
      </p:sp>
      <p:sp>
        <p:nvSpPr>
          <p:cNvPr id="36" name="Isosceles Triangle 35">
            <a:extLst>
              <a:ext uri="{FF2B5EF4-FFF2-40B4-BE49-F238E27FC236}">
                <a16:creationId xmlns:a16="http://schemas.microsoft.com/office/drawing/2014/main" id="{307D3841-E4D3-41D6-8385-4D76C74FCF76}"/>
              </a:ext>
            </a:extLst>
          </p:cNvPr>
          <p:cNvSpPr/>
          <p:nvPr/>
        </p:nvSpPr>
        <p:spPr>
          <a:xfrm rot="5400000">
            <a:off x="2604974" y="1835881"/>
            <a:ext cx="1174629" cy="637958"/>
          </a:xfrm>
          <a:prstGeom prst="triangle">
            <a:avLst/>
          </a:prstGeom>
          <a:solidFill>
            <a:srgbClr val="0B3C5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2" name="Group 51">
            <a:extLst>
              <a:ext uri="{FF2B5EF4-FFF2-40B4-BE49-F238E27FC236}">
                <a16:creationId xmlns:a16="http://schemas.microsoft.com/office/drawing/2014/main" id="{7ABAEAD1-50AC-4247-9A33-0EA5976F3003}"/>
              </a:ext>
            </a:extLst>
          </p:cNvPr>
          <p:cNvGrpSpPr/>
          <p:nvPr/>
        </p:nvGrpSpPr>
        <p:grpSpPr>
          <a:xfrm>
            <a:off x="8358630" y="847609"/>
            <a:ext cx="3338767" cy="4197100"/>
            <a:chOff x="8370681" y="846763"/>
            <a:chExt cx="3338767" cy="4197100"/>
          </a:xfrm>
        </p:grpSpPr>
        <p:grpSp>
          <p:nvGrpSpPr>
            <p:cNvPr id="48" name="Group 47">
              <a:extLst>
                <a:ext uri="{FF2B5EF4-FFF2-40B4-BE49-F238E27FC236}">
                  <a16:creationId xmlns:a16="http://schemas.microsoft.com/office/drawing/2014/main" id="{D74950D1-E0CF-42FD-B2F4-6A9FCDCF05C2}"/>
                </a:ext>
              </a:extLst>
            </p:cNvPr>
            <p:cNvGrpSpPr/>
            <p:nvPr/>
          </p:nvGrpSpPr>
          <p:grpSpPr>
            <a:xfrm>
              <a:off x="8370681" y="846763"/>
              <a:ext cx="3338767" cy="4197100"/>
              <a:chOff x="8381766" y="846764"/>
              <a:chExt cx="3338767" cy="4197100"/>
            </a:xfrm>
          </p:grpSpPr>
          <p:sp>
            <p:nvSpPr>
              <p:cNvPr id="27" name="Rectangle 26">
                <a:extLst>
                  <a:ext uri="{FF2B5EF4-FFF2-40B4-BE49-F238E27FC236}">
                    <a16:creationId xmlns:a16="http://schemas.microsoft.com/office/drawing/2014/main" id="{94AF56A0-6522-440C-8A9E-417C38BEA662}"/>
                  </a:ext>
                </a:extLst>
              </p:cNvPr>
              <p:cNvSpPr/>
              <p:nvPr/>
            </p:nvSpPr>
            <p:spPr>
              <a:xfrm>
                <a:off x="8381766" y="846764"/>
                <a:ext cx="2718663" cy="4197100"/>
              </a:xfrm>
              <a:prstGeom prst="rect">
                <a:avLst/>
              </a:prstGeom>
              <a:solidFill>
                <a:srgbClr val="4A4A4A"/>
              </a:solidFill>
            </p:spPr>
            <p:style>
              <a:lnRef idx="2">
                <a:schemeClr val="accent1">
                  <a:shade val="50000"/>
                </a:schemeClr>
              </a:lnRef>
              <a:fillRef idx="1">
                <a:schemeClr val="accent1"/>
              </a:fillRef>
              <a:effectRef idx="0">
                <a:schemeClr val="accent1"/>
              </a:effectRef>
              <a:fontRef idx="minor">
                <a:schemeClr val="lt1"/>
              </a:fontRef>
            </p:style>
            <p:txBody>
              <a:bodyPr tIns="360000" rtlCol="0" anchor="t" anchorCtr="1"/>
              <a:lstStyle/>
              <a:p>
                <a:pPr algn="ctr"/>
                <a:r>
                  <a:rPr lang="en-US" dirty="0"/>
                  <a:t>Train – Test Split</a:t>
                </a:r>
                <a:endParaRPr lang="en-IN" dirty="0"/>
              </a:p>
            </p:txBody>
          </p:sp>
          <p:sp>
            <p:nvSpPr>
              <p:cNvPr id="39" name="Isosceles Triangle 38">
                <a:extLst>
                  <a:ext uri="{FF2B5EF4-FFF2-40B4-BE49-F238E27FC236}">
                    <a16:creationId xmlns:a16="http://schemas.microsoft.com/office/drawing/2014/main" id="{7D5DED83-33EE-4A37-9003-4BCA6BAB59B9}"/>
                  </a:ext>
                </a:extLst>
              </p:cNvPr>
              <p:cNvSpPr/>
              <p:nvPr/>
            </p:nvSpPr>
            <p:spPr>
              <a:xfrm rot="5400000">
                <a:off x="10814239" y="1824992"/>
                <a:ext cx="1174629" cy="637958"/>
              </a:xfrm>
              <a:prstGeom prst="triangle">
                <a:avLst/>
              </a:prstGeom>
              <a:solidFill>
                <a:srgbClr val="3A3A3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5" name="TextBox 34">
              <a:extLst>
                <a:ext uri="{FF2B5EF4-FFF2-40B4-BE49-F238E27FC236}">
                  <a16:creationId xmlns:a16="http://schemas.microsoft.com/office/drawing/2014/main" id="{13CFE37B-EDCD-4385-B13C-152CFF6C367C}"/>
                </a:ext>
              </a:extLst>
            </p:cNvPr>
            <p:cNvSpPr txBox="1"/>
            <p:nvPr/>
          </p:nvSpPr>
          <p:spPr>
            <a:xfrm>
              <a:off x="8590197" y="2748532"/>
              <a:ext cx="2272121" cy="1569660"/>
            </a:xfrm>
            <a:prstGeom prst="rect">
              <a:avLst/>
            </a:prstGeom>
            <a:noFill/>
          </p:spPr>
          <p:txBody>
            <a:bodyPr wrap="square" rtlCol="0">
              <a:spAutoFit/>
            </a:bodyPr>
            <a:lstStyle/>
            <a:p>
              <a:pPr algn="ctr"/>
              <a:r>
                <a:rPr lang="en-US" sz="1600" dirty="0">
                  <a:solidFill>
                    <a:schemeClr val="bg1"/>
                  </a:solidFill>
                </a:rPr>
                <a:t>Split the dataset into </a:t>
              </a:r>
              <a:r>
                <a:rPr lang="en-US" sz="1600" b="1" dirty="0">
                  <a:solidFill>
                    <a:schemeClr val="bg1"/>
                  </a:solidFill>
                </a:rPr>
                <a:t>80% training data</a:t>
              </a:r>
              <a:r>
                <a:rPr lang="en-US" sz="1600" dirty="0">
                  <a:solidFill>
                    <a:schemeClr val="bg1"/>
                  </a:solidFill>
                </a:rPr>
                <a:t> and </a:t>
              </a:r>
              <a:r>
                <a:rPr lang="en-US" sz="1600" b="1" dirty="0">
                  <a:solidFill>
                    <a:schemeClr val="bg1"/>
                  </a:solidFill>
                </a:rPr>
                <a:t>20% testing data</a:t>
              </a:r>
              <a:r>
                <a:rPr lang="en-US" sz="1600" dirty="0">
                  <a:solidFill>
                    <a:schemeClr val="bg1"/>
                  </a:solidFill>
                </a:rPr>
                <a:t> to evaluate model generalization and predictive accuracy.</a:t>
              </a:r>
              <a:endParaRPr lang="en-IN" sz="1600" dirty="0">
                <a:solidFill>
                  <a:schemeClr val="bg1"/>
                </a:solidFill>
              </a:endParaRPr>
            </a:p>
          </p:txBody>
        </p:sp>
      </p:grpSp>
      <p:grpSp>
        <p:nvGrpSpPr>
          <p:cNvPr id="51" name="Group 50">
            <a:extLst>
              <a:ext uri="{FF2B5EF4-FFF2-40B4-BE49-F238E27FC236}">
                <a16:creationId xmlns:a16="http://schemas.microsoft.com/office/drawing/2014/main" id="{FF7E0387-CB87-4E30-890B-55AA7A8DC3FE}"/>
              </a:ext>
            </a:extLst>
          </p:cNvPr>
          <p:cNvGrpSpPr/>
          <p:nvPr/>
        </p:nvGrpSpPr>
        <p:grpSpPr>
          <a:xfrm>
            <a:off x="5622559" y="847609"/>
            <a:ext cx="3356622" cy="4197100"/>
            <a:chOff x="5640789" y="847609"/>
            <a:chExt cx="3356622" cy="4197100"/>
          </a:xfrm>
        </p:grpSpPr>
        <p:grpSp>
          <p:nvGrpSpPr>
            <p:cNvPr id="47" name="Group 46">
              <a:extLst>
                <a:ext uri="{FF2B5EF4-FFF2-40B4-BE49-F238E27FC236}">
                  <a16:creationId xmlns:a16="http://schemas.microsoft.com/office/drawing/2014/main" id="{EB9B4A26-B6DF-4896-B60B-62215E18E393}"/>
                </a:ext>
              </a:extLst>
            </p:cNvPr>
            <p:cNvGrpSpPr/>
            <p:nvPr/>
          </p:nvGrpSpPr>
          <p:grpSpPr>
            <a:xfrm>
              <a:off x="5640789" y="847609"/>
              <a:ext cx="3356622" cy="4197100"/>
              <a:chOff x="5640789" y="847609"/>
              <a:chExt cx="3356622" cy="4197100"/>
            </a:xfrm>
          </p:grpSpPr>
          <p:sp>
            <p:nvSpPr>
              <p:cNvPr id="31" name="Rectangle 30">
                <a:extLst>
                  <a:ext uri="{FF2B5EF4-FFF2-40B4-BE49-F238E27FC236}">
                    <a16:creationId xmlns:a16="http://schemas.microsoft.com/office/drawing/2014/main" id="{1501E2ED-137E-4C79-A96C-C559997EDB91}"/>
                  </a:ext>
                </a:extLst>
              </p:cNvPr>
              <p:cNvSpPr/>
              <p:nvPr/>
            </p:nvSpPr>
            <p:spPr>
              <a:xfrm>
                <a:off x="5640789" y="847609"/>
                <a:ext cx="2718663" cy="4197100"/>
              </a:xfrm>
              <a:prstGeom prst="rect">
                <a:avLst/>
              </a:prstGeom>
              <a:solidFill>
                <a:srgbClr val="D9E6F2"/>
              </a:solidFill>
            </p:spPr>
            <p:style>
              <a:lnRef idx="2">
                <a:schemeClr val="accent1">
                  <a:shade val="50000"/>
                </a:schemeClr>
              </a:lnRef>
              <a:fillRef idx="1">
                <a:schemeClr val="accent1"/>
              </a:fillRef>
              <a:effectRef idx="0">
                <a:schemeClr val="accent1"/>
              </a:effectRef>
              <a:fontRef idx="minor">
                <a:schemeClr val="lt1"/>
              </a:fontRef>
            </p:style>
            <p:txBody>
              <a:bodyPr tIns="360000" rtlCol="0" anchor="t" anchorCtr="1"/>
              <a:lstStyle/>
              <a:p>
                <a:pPr algn="ctr"/>
                <a:r>
                  <a:rPr lang="en-US" dirty="0">
                    <a:solidFill>
                      <a:schemeClr val="tx1"/>
                    </a:solidFill>
                  </a:rPr>
                  <a:t>Feature Scaling</a:t>
                </a:r>
                <a:endParaRPr lang="en-IN" dirty="0">
                  <a:solidFill>
                    <a:schemeClr val="tx1"/>
                  </a:solidFill>
                </a:endParaRPr>
              </a:p>
            </p:txBody>
          </p:sp>
          <p:sp>
            <p:nvSpPr>
              <p:cNvPr id="38" name="Isosceles Triangle 37">
                <a:extLst>
                  <a:ext uri="{FF2B5EF4-FFF2-40B4-BE49-F238E27FC236}">
                    <a16:creationId xmlns:a16="http://schemas.microsoft.com/office/drawing/2014/main" id="{2B305E5D-B659-42D0-AA1E-16C4D061B3A8}"/>
                  </a:ext>
                </a:extLst>
              </p:cNvPr>
              <p:cNvSpPr/>
              <p:nvPr/>
            </p:nvSpPr>
            <p:spPr>
              <a:xfrm rot="5400000">
                <a:off x="8091117" y="1840117"/>
                <a:ext cx="1174629" cy="637958"/>
              </a:xfrm>
              <a:prstGeom prst="triangle">
                <a:avLst/>
              </a:prstGeom>
              <a:solidFill>
                <a:srgbClr val="D9E6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4" name="TextBox 33">
              <a:extLst>
                <a:ext uri="{FF2B5EF4-FFF2-40B4-BE49-F238E27FC236}">
                  <a16:creationId xmlns:a16="http://schemas.microsoft.com/office/drawing/2014/main" id="{77B269FB-91CB-441B-8297-64CE99FC43F5}"/>
                </a:ext>
              </a:extLst>
            </p:cNvPr>
            <p:cNvSpPr txBox="1"/>
            <p:nvPr/>
          </p:nvSpPr>
          <p:spPr>
            <a:xfrm>
              <a:off x="5772078" y="2768113"/>
              <a:ext cx="2272121" cy="1815882"/>
            </a:xfrm>
            <a:prstGeom prst="rect">
              <a:avLst/>
            </a:prstGeom>
            <a:noFill/>
          </p:spPr>
          <p:txBody>
            <a:bodyPr wrap="square" rtlCol="0">
              <a:spAutoFit/>
            </a:bodyPr>
            <a:lstStyle/>
            <a:p>
              <a:pPr algn="ctr"/>
              <a:r>
                <a:rPr lang="en-US" sz="1600" dirty="0"/>
                <a:t>Applied </a:t>
              </a:r>
              <a:r>
                <a:rPr lang="en-US" sz="1600" b="1" dirty="0"/>
                <a:t>Min–Max Scaling</a:t>
              </a:r>
              <a:r>
                <a:rPr lang="en-US" sz="1600" dirty="0"/>
                <a:t> to independent variables to normalize feature ranges and improve model stability and performance.</a:t>
              </a:r>
              <a:endParaRPr lang="en-IN" sz="1600" dirty="0"/>
            </a:p>
          </p:txBody>
        </p:sp>
      </p:grpSp>
      <p:grpSp>
        <p:nvGrpSpPr>
          <p:cNvPr id="50" name="Group 49">
            <a:extLst>
              <a:ext uri="{FF2B5EF4-FFF2-40B4-BE49-F238E27FC236}">
                <a16:creationId xmlns:a16="http://schemas.microsoft.com/office/drawing/2014/main" id="{E6585067-BF93-4192-B881-D42679136137}"/>
              </a:ext>
            </a:extLst>
          </p:cNvPr>
          <p:cNvGrpSpPr/>
          <p:nvPr/>
        </p:nvGrpSpPr>
        <p:grpSpPr>
          <a:xfrm>
            <a:off x="2873309" y="851255"/>
            <a:ext cx="3369800" cy="4197100"/>
            <a:chOff x="2895767" y="846763"/>
            <a:chExt cx="3369800" cy="4197100"/>
          </a:xfrm>
        </p:grpSpPr>
        <p:grpSp>
          <p:nvGrpSpPr>
            <p:cNvPr id="46" name="Group 45">
              <a:extLst>
                <a:ext uri="{FF2B5EF4-FFF2-40B4-BE49-F238E27FC236}">
                  <a16:creationId xmlns:a16="http://schemas.microsoft.com/office/drawing/2014/main" id="{12C227D3-E811-4FC5-BD60-7637B37F087B}"/>
                </a:ext>
              </a:extLst>
            </p:cNvPr>
            <p:cNvGrpSpPr/>
            <p:nvPr/>
          </p:nvGrpSpPr>
          <p:grpSpPr>
            <a:xfrm>
              <a:off x="2895767" y="846763"/>
              <a:ext cx="3369800" cy="4197100"/>
              <a:chOff x="2897719" y="846764"/>
              <a:chExt cx="3369800" cy="4197100"/>
            </a:xfrm>
          </p:grpSpPr>
          <p:sp>
            <p:nvSpPr>
              <p:cNvPr id="44" name="Rectangle 43">
                <a:extLst>
                  <a:ext uri="{FF2B5EF4-FFF2-40B4-BE49-F238E27FC236}">
                    <a16:creationId xmlns:a16="http://schemas.microsoft.com/office/drawing/2014/main" id="{2C1C583C-DEBA-4486-9A6F-C3B0BB6B3478}"/>
                  </a:ext>
                </a:extLst>
              </p:cNvPr>
              <p:cNvSpPr/>
              <p:nvPr/>
            </p:nvSpPr>
            <p:spPr>
              <a:xfrm>
                <a:off x="2897719" y="846764"/>
                <a:ext cx="2718663" cy="4197100"/>
              </a:xfrm>
              <a:prstGeom prst="rect">
                <a:avLst/>
              </a:prstGeom>
              <a:solidFill>
                <a:srgbClr val="328CC1"/>
              </a:solidFill>
            </p:spPr>
            <p:style>
              <a:lnRef idx="2">
                <a:schemeClr val="accent1">
                  <a:shade val="50000"/>
                </a:schemeClr>
              </a:lnRef>
              <a:fillRef idx="1">
                <a:schemeClr val="accent1"/>
              </a:fillRef>
              <a:effectRef idx="0">
                <a:schemeClr val="accent1"/>
              </a:effectRef>
              <a:fontRef idx="minor">
                <a:schemeClr val="lt1"/>
              </a:fontRef>
            </p:style>
            <p:txBody>
              <a:bodyPr tIns="360000" rtlCol="0" anchor="t" anchorCtr="1"/>
              <a:lstStyle/>
              <a:p>
                <a:pPr algn="ctr"/>
                <a:r>
                  <a:rPr lang="en-US" dirty="0"/>
                  <a:t>Categorical Variable Encoding</a:t>
                </a:r>
                <a:endParaRPr lang="en-IN" dirty="0"/>
              </a:p>
            </p:txBody>
          </p:sp>
          <p:sp>
            <p:nvSpPr>
              <p:cNvPr id="45" name="Isosceles Triangle 44">
                <a:extLst>
                  <a:ext uri="{FF2B5EF4-FFF2-40B4-BE49-F238E27FC236}">
                    <a16:creationId xmlns:a16="http://schemas.microsoft.com/office/drawing/2014/main" id="{5B66A9F2-3BEC-4A13-8DD8-889B32AF3C0C}"/>
                  </a:ext>
                </a:extLst>
              </p:cNvPr>
              <p:cNvSpPr/>
              <p:nvPr/>
            </p:nvSpPr>
            <p:spPr>
              <a:xfrm rot="5400000">
                <a:off x="5361225" y="1835881"/>
                <a:ext cx="1174629" cy="637958"/>
              </a:xfrm>
              <a:prstGeom prst="triangle">
                <a:avLst/>
              </a:prstGeom>
              <a:solidFill>
                <a:srgbClr val="328CC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3" name="TextBox 32">
              <a:extLst>
                <a:ext uri="{FF2B5EF4-FFF2-40B4-BE49-F238E27FC236}">
                  <a16:creationId xmlns:a16="http://schemas.microsoft.com/office/drawing/2014/main" id="{147D7F12-0AF0-46FC-9A38-F75607496DAC}"/>
                </a:ext>
              </a:extLst>
            </p:cNvPr>
            <p:cNvSpPr txBox="1"/>
            <p:nvPr/>
          </p:nvSpPr>
          <p:spPr>
            <a:xfrm>
              <a:off x="3086380" y="2783648"/>
              <a:ext cx="2272121" cy="1815882"/>
            </a:xfrm>
            <a:prstGeom prst="rect">
              <a:avLst/>
            </a:prstGeom>
            <a:noFill/>
          </p:spPr>
          <p:txBody>
            <a:bodyPr wrap="square" rtlCol="0">
              <a:spAutoFit/>
            </a:bodyPr>
            <a:lstStyle/>
            <a:p>
              <a:pPr algn="ctr"/>
              <a:r>
                <a:rPr lang="en-US" sz="1600" dirty="0">
                  <a:solidFill>
                    <a:schemeClr val="bg1"/>
                  </a:solidFill>
                </a:rPr>
                <a:t>Converted categorical features into numerical format using </a:t>
              </a:r>
              <a:r>
                <a:rPr lang="en-US" sz="1600" b="1" dirty="0">
                  <a:solidFill>
                    <a:schemeClr val="bg1"/>
                  </a:solidFill>
                </a:rPr>
                <a:t>One-Hot Encoding</a:t>
              </a:r>
              <a:r>
                <a:rPr lang="en-US" sz="1600" dirty="0">
                  <a:solidFill>
                    <a:schemeClr val="bg1"/>
                  </a:solidFill>
                </a:rPr>
                <a:t> to enable effective machine learning modeling.</a:t>
              </a:r>
              <a:endParaRPr lang="en-IN" sz="1600" dirty="0">
                <a:solidFill>
                  <a:schemeClr val="bg1"/>
                </a:solidFill>
              </a:endParaRPr>
            </a:p>
          </p:txBody>
        </p:sp>
      </p:grpSp>
      <p:grpSp>
        <p:nvGrpSpPr>
          <p:cNvPr id="49" name="Group 48">
            <a:extLst>
              <a:ext uri="{FF2B5EF4-FFF2-40B4-BE49-F238E27FC236}">
                <a16:creationId xmlns:a16="http://schemas.microsoft.com/office/drawing/2014/main" id="{53E390F3-9149-4035-B7B8-497FDA8E32E6}"/>
              </a:ext>
            </a:extLst>
          </p:cNvPr>
          <p:cNvGrpSpPr/>
          <p:nvPr/>
        </p:nvGrpSpPr>
        <p:grpSpPr>
          <a:xfrm>
            <a:off x="155696" y="847610"/>
            <a:ext cx="3355572" cy="4197100"/>
            <a:chOff x="155696" y="847610"/>
            <a:chExt cx="3355572" cy="4197100"/>
          </a:xfrm>
        </p:grpSpPr>
        <p:grpSp>
          <p:nvGrpSpPr>
            <p:cNvPr id="43" name="Group 42">
              <a:extLst>
                <a:ext uri="{FF2B5EF4-FFF2-40B4-BE49-F238E27FC236}">
                  <a16:creationId xmlns:a16="http://schemas.microsoft.com/office/drawing/2014/main" id="{0704DD87-B9A0-4920-AADC-20542C4276FA}"/>
                </a:ext>
              </a:extLst>
            </p:cNvPr>
            <p:cNvGrpSpPr/>
            <p:nvPr/>
          </p:nvGrpSpPr>
          <p:grpSpPr>
            <a:xfrm>
              <a:off x="155696" y="847610"/>
              <a:ext cx="3355572" cy="4197100"/>
              <a:chOff x="155696" y="847610"/>
              <a:chExt cx="3355572" cy="4197100"/>
            </a:xfrm>
          </p:grpSpPr>
          <p:sp>
            <p:nvSpPr>
              <p:cNvPr id="41" name="Rectangle 40">
                <a:extLst>
                  <a:ext uri="{FF2B5EF4-FFF2-40B4-BE49-F238E27FC236}">
                    <a16:creationId xmlns:a16="http://schemas.microsoft.com/office/drawing/2014/main" id="{75B2E089-13AF-42A2-BD02-B9D187AE16F6}"/>
                  </a:ext>
                </a:extLst>
              </p:cNvPr>
              <p:cNvSpPr/>
              <p:nvPr/>
            </p:nvSpPr>
            <p:spPr>
              <a:xfrm>
                <a:off x="155696" y="847610"/>
                <a:ext cx="2718663" cy="4197100"/>
              </a:xfrm>
              <a:prstGeom prst="rect">
                <a:avLst/>
              </a:prstGeom>
              <a:solidFill>
                <a:srgbClr val="0B3C5D"/>
              </a:solidFill>
            </p:spPr>
            <p:style>
              <a:lnRef idx="2">
                <a:schemeClr val="accent1">
                  <a:shade val="50000"/>
                </a:schemeClr>
              </a:lnRef>
              <a:fillRef idx="1">
                <a:schemeClr val="accent1"/>
              </a:fillRef>
              <a:effectRef idx="0">
                <a:schemeClr val="accent1"/>
              </a:effectRef>
              <a:fontRef idx="minor">
                <a:schemeClr val="lt1"/>
              </a:fontRef>
            </p:style>
            <p:txBody>
              <a:bodyPr tIns="360000" rtlCol="0" anchor="t" anchorCtr="1"/>
              <a:lstStyle/>
              <a:p>
                <a:pPr algn="ctr"/>
                <a:r>
                  <a:rPr lang="en-US" dirty="0"/>
                  <a:t>Handling Missing Values</a:t>
                </a:r>
                <a:endParaRPr lang="en-IN" dirty="0"/>
              </a:p>
            </p:txBody>
          </p:sp>
          <p:sp>
            <p:nvSpPr>
              <p:cNvPr id="42" name="Isosceles Triangle 41">
                <a:extLst>
                  <a:ext uri="{FF2B5EF4-FFF2-40B4-BE49-F238E27FC236}">
                    <a16:creationId xmlns:a16="http://schemas.microsoft.com/office/drawing/2014/main" id="{32F54E83-97FA-478C-9DBD-4A2ABFB5C725}"/>
                  </a:ext>
                </a:extLst>
              </p:cNvPr>
              <p:cNvSpPr/>
              <p:nvPr/>
            </p:nvSpPr>
            <p:spPr>
              <a:xfrm rot="5400000">
                <a:off x="2604974" y="1835882"/>
                <a:ext cx="1174629" cy="637958"/>
              </a:xfrm>
              <a:prstGeom prst="triangle">
                <a:avLst/>
              </a:prstGeom>
              <a:solidFill>
                <a:srgbClr val="0B3C5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2" name="TextBox 31">
              <a:extLst>
                <a:ext uri="{FF2B5EF4-FFF2-40B4-BE49-F238E27FC236}">
                  <a16:creationId xmlns:a16="http://schemas.microsoft.com/office/drawing/2014/main" id="{A28632E6-B0A9-4D2D-B169-0762949A030A}"/>
                </a:ext>
              </a:extLst>
            </p:cNvPr>
            <p:cNvSpPr txBox="1"/>
            <p:nvPr/>
          </p:nvSpPr>
          <p:spPr>
            <a:xfrm>
              <a:off x="302617" y="2746410"/>
              <a:ext cx="2272121" cy="1815882"/>
            </a:xfrm>
            <a:prstGeom prst="rect">
              <a:avLst/>
            </a:prstGeom>
            <a:noFill/>
          </p:spPr>
          <p:txBody>
            <a:bodyPr wrap="square" rtlCol="0">
              <a:spAutoFit/>
            </a:bodyPr>
            <a:lstStyle/>
            <a:p>
              <a:pPr algn="ctr"/>
              <a:r>
                <a:rPr lang="en-US" sz="1600" dirty="0">
                  <a:solidFill>
                    <a:schemeClr val="bg1"/>
                  </a:solidFill>
                </a:rPr>
                <a:t>Conducted a missing value analysis and confirmed that the dataset contains </a:t>
              </a:r>
              <a:r>
                <a:rPr lang="en-US" sz="1600" b="1" dirty="0">
                  <a:solidFill>
                    <a:schemeClr val="bg1"/>
                  </a:solidFill>
                </a:rPr>
                <a:t>no null or missing values</a:t>
              </a:r>
              <a:r>
                <a:rPr lang="en-US" sz="1600" dirty="0">
                  <a:solidFill>
                    <a:schemeClr val="bg1"/>
                  </a:solidFill>
                </a:rPr>
                <a:t>, ensuring data completeness.</a:t>
              </a:r>
              <a:endParaRPr lang="en-IN" sz="1600" dirty="0">
                <a:solidFill>
                  <a:schemeClr val="bg1"/>
                </a:solidFill>
              </a:endParaRPr>
            </a:p>
          </p:txBody>
        </p:sp>
      </p:grpSp>
    </p:spTree>
    <p:extLst>
      <p:ext uri="{BB962C8B-B14F-4D97-AF65-F5344CB8AC3E}">
        <p14:creationId xmlns:p14="http://schemas.microsoft.com/office/powerpoint/2010/main" val="37538138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407">
        <p159:morph option="byObject"/>
      </p:transition>
    </mc:Choice>
    <mc:Fallback>
      <p:transition spd="slow" advTm="407">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0"/>
            <a:ext cx="12192000" cy="5899199"/>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2776286" y="5172125"/>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989" y="5989752"/>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713" y="6037065"/>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038045" y="5437507"/>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50113" y="6002776"/>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2783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28765" y="5923980"/>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17393" y="5879551"/>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0" name="TextBox 19">
            <a:extLst>
              <a:ext uri="{FF2B5EF4-FFF2-40B4-BE49-F238E27FC236}">
                <a16:creationId xmlns:a16="http://schemas.microsoft.com/office/drawing/2014/main" id="{A731746A-8115-464C-894B-4E756B3F3442}"/>
              </a:ext>
            </a:extLst>
          </p:cNvPr>
          <p:cNvSpPr txBox="1"/>
          <p:nvPr/>
        </p:nvSpPr>
        <p:spPr>
          <a:xfrm>
            <a:off x="3824243" y="242848"/>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ENCODING STRATEGY</a:t>
            </a:r>
            <a:endParaRPr lang="en-IN" sz="2000" b="1" u="sng" dirty="0">
              <a:solidFill>
                <a:schemeClr val="bg1"/>
              </a:solidFill>
              <a:latin typeface="Calibri" panose="020F0502020204030204" pitchFamily="34" charset="0"/>
              <a:cs typeface="Calibri" panose="020F0502020204030204" pitchFamily="34" charset="0"/>
            </a:endParaRPr>
          </a:p>
        </p:txBody>
      </p:sp>
      <p:grpSp>
        <p:nvGrpSpPr>
          <p:cNvPr id="21" name="Group 20">
            <a:extLst>
              <a:ext uri="{FF2B5EF4-FFF2-40B4-BE49-F238E27FC236}">
                <a16:creationId xmlns:a16="http://schemas.microsoft.com/office/drawing/2014/main" id="{6FB66D14-A495-4331-A4AB-864522A9CAC9}"/>
              </a:ext>
            </a:extLst>
          </p:cNvPr>
          <p:cNvGrpSpPr/>
          <p:nvPr/>
        </p:nvGrpSpPr>
        <p:grpSpPr>
          <a:xfrm>
            <a:off x="610149" y="714194"/>
            <a:ext cx="11168109" cy="4581504"/>
            <a:chOff x="511945" y="1108063"/>
            <a:chExt cx="11168109" cy="4295097"/>
          </a:xfrm>
        </p:grpSpPr>
        <p:sp>
          <p:nvSpPr>
            <p:cNvPr id="24" name="Rectangle: Rounded Corners 23">
              <a:extLst>
                <a:ext uri="{FF2B5EF4-FFF2-40B4-BE49-F238E27FC236}">
                  <a16:creationId xmlns:a16="http://schemas.microsoft.com/office/drawing/2014/main" id="{F05A1BF8-DD6F-4B3F-94CD-E8C242C50C13}"/>
                </a:ext>
              </a:extLst>
            </p:cNvPr>
            <p:cNvSpPr/>
            <p:nvPr/>
          </p:nvSpPr>
          <p:spPr>
            <a:xfrm>
              <a:off x="511945" y="1108063"/>
              <a:ext cx="11168109" cy="40920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q"/>
              </a:pPr>
              <a:endParaRPr lang="en-IN" dirty="0"/>
            </a:p>
          </p:txBody>
        </p:sp>
        <p:sp>
          <p:nvSpPr>
            <p:cNvPr id="26" name="TextBox 25">
              <a:extLst>
                <a:ext uri="{FF2B5EF4-FFF2-40B4-BE49-F238E27FC236}">
                  <a16:creationId xmlns:a16="http://schemas.microsoft.com/office/drawing/2014/main" id="{5728D399-B28A-4F8A-8BD2-F95C24A5017D}"/>
                </a:ext>
              </a:extLst>
            </p:cNvPr>
            <p:cNvSpPr txBox="1"/>
            <p:nvPr/>
          </p:nvSpPr>
          <p:spPr>
            <a:xfrm>
              <a:off x="1082192" y="1217399"/>
              <a:ext cx="9790137" cy="4185761"/>
            </a:xfrm>
            <a:prstGeom prst="rect">
              <a:avLst/>
            </a:prstGeom>
            <a:noFill/>
          </p:spPr>
          <p:txBody>
            <a:bodyPr wrap="square" rtlCol="0">
              <a:spAutoFit/>
            </a:bodyPr>
            <a:lstStyle/>
            <a:p>
              <a:pPr marL="342900" indent="-342900" algn="just">
                <a:buFont typeface="+mj-lt"/>
                <a:buAutoNum type="arabicParenR"/>
              </a:pPr>
              <a:r>
                <a:rPr lang="en-IN" sz="1400" dirty="0">
                  <a:solidFill>
                    <a:schemeClr val="bg1"/>
                  </a:solidFill>
                </a:rPr>
                <a:t>Encoding Decisions Overview :-</a:t>
              </a:r>
            </a:p>
            <a:p>
              <a:pPr marL="742950" lvl="1" indent="-285750" algn="just">
                <a:buFont typeface="Wingdings" panose="05000000000000000000" pitchFamily="2" charset="2"/>
                <a:buChar char="Ø"/>
              </a:pPr>
              <a:r>
                <a:rPr lang="en-US" sz="1400" dirty="0">
                  <a:solidFill>
                    <a:schemeClr val="bg1"/>
                  </a:solidFill>
                </a:rPr>
                <a:t>Different encoding techniques were applied based on the </a:t>
              </a:r>
              <a:r>
                <a:rPr lang="en-US" sz="1400" b="1" dirty="0">
                  <a:solidFill>
                    <a:schemeClr val="bg1"/>
                  </a:solidFill>
                </a:rPr>
                <a:t>nature of each categorical variable</a:t>
              </a:r>
              <a:r>
                <a:rPr lang="en-US" sz="1400" dirty="0">
                  <a:solidFill>
                    <a:schemeClr val="bg1"/>
                  </a:solidFill>
                </a:rPr>
                <a:t> and </a:t>
              </a:r>
              <a:r>
                <a:rPr lang="en-US" sz="1400" b="1" dirty="0">
                  <a:solidFill>
                    <a:schemeClr val="bg1"/>
                  </a:solidFill>
                </a:rPr>
                <a:t>model assumptions</a:t>
              </a:r>
              <a:r>
                <a:rPr lang="en-US" sz="1400" dirty="0">
                  <a:solidFill>
                    <a:schemeClr val="bg1"/>
                  </a:solidFill>
                </a:rPr>
                <a:t>.</a:t>
              </a:r>
              <a:endParaRPr lang="en-IN" sz="1400" dirty="0">
                <a:solidFill>
                  <a:schemeClr val="bg1"/>
                </a:solidFill>
              </a:endParaRPr>
            </a:p>
            <a:p>
              <a:pPr marL="342900" indent="-342900" algn="just">
                <a:buFont typeface="+mj-lt"/>
                <a:buAutoNum type="arabicParenR"/>
              </a:pPr>
              <a:r>
                <a:rPr lang="en-IN" sz="1400" dirty="0">
                  <a:solidFill>
                    <a:schemeClr val="bg1"/>
                  </a:solidFill>
                </a:rPr>
                <a:t>Encoding Approach Used :-</a:t>
              </a:r>
            </a:p>
            <a:p>
              <a:pPr marL="742950" lvl="1" indent="-285750" algn="just">
                <a:buFont typeface="Wingdings" panose="05000000000000000000" pitchFamily="2" charset="2"/>
                <a:buChar char="Ø"/>
              </a:pPr>
              <a:r>
                <a:rPr lang="en-US" sz="1400" dirty="0">
                  <a:solidFill>
                    <a:schemeClr val="bg1"/>
                  </a:solidFill>
                </a:rPr>
                <a:t>Binary Encoding (Label Mapping) Applied To</a:t>
              </a:r>
              <a:endParaRPr lang="en-IN" sz="1400" dirty="0">
                <a:solidFill>
                  <a:schemeClr val="bg1"/>
                </a:solidFill>
              </a:endParaRPr>
            </a:p>
            <a:p>
              <a:pPr marL="742950" lvl="1" indent="-285750" algn="just">
                <a:buFont typeface="Wingdings" panose="05000000000000000000" pitchFamily="2" charset="2"/>
                <a:buChar char="Ø"/>
              </a:pPr>
              <a:r>
                <a:rPr lang="en-IN" sz="1400" b="1" dirty="0">
                  <a:solidFill>
                    <a:schemeClr val="bg1"/>
                  </a:solidFill>
                </a:rPr>
                <a:t>Gender:</a:t>
              </a:r>
              <a:r>
                <a:rPr lang="en-IN" sz="1400" dirty="0">
                  <a:solidFill>
                    <a:schemeClr val="bg1"/>
                  </a:solidFill>
                </a:rPr>
                <a:t> Male = 1, Female = 0</a:t>
              </a:r>
            </a:p>
            <a:p>
              <a:pPr marL="742950" lvl="1" indent="-285750" algn="just">
                <a:buFont typeface="Wingdings" panose="05000000000000000000" pitchFamily="2" charset="2"/>
                <a:buChar char="Ø"/>
              </a:pPr>
              <a:r>
                <a:rPr lang="en-US" sz="1400" b="1" dirty="0">
                  <a:solidFill>
                    <a:schemeClr val="bg1"/>
                  </a:solidFill>
                </a:rPr>
                <a:t>Returning Customer:</a:t>
              </a:r>
              <a:r>
                <a:rPr lang="en-US" sz="1400" dirty="0">
                  <a:solidFill>
                    <a:schemeClr val="bg1"/>
                  </a:solidFill>
                </a:rPr>
                <a:t> Yes = 1, No = 0</a:t>
              </a:r>
              <a:endParaRPr lang="en-IN" sz="1400" dirty="0">
                <a:solidFill>
                  <a:schemeClr val="bg1"/>
                </a:solidFill>
              </a:endParaRPr>
            </a:p>
            <a:p>
              <a:pPr marL="742950" lvl="1" indent="-285750" algn="just">
                <a:buFont typeface="Wingdings" panose="05000000000000000000" pitchFamily="2" charset="2"/>
                <a:buChar char="Ø"/>
              </a:pPr>
              <a:r>
                <a:rPr lang="en-IN" sz="1400" dirty="0">
                  <a:solidFill>
                    <a:schemeClr val="bg1"/>
                  </a:solidFill>
                </a:rPr>
                <a:t>Reason :- </a:t>
              </a:r>
              <a:r>
                <a:rPr lang="en-US" sz="1400" dirty="0">
                  <a:solidFill>
                    <a:schemeClr val="bg1"/>
                  </a:solidFill>
                </a:rPr>
                <a:t>These variables are </a:t>
              </a:r>
              <a:r>
                <a:rPr lang="en-US" sz="1400" b="1" dirty="0">
                  <a:solidFill>
                    <a:schemeClr val="bg1"/>
                  </a:solidFill>
                </a:rPr>
                <a:t>binary and non-ordinal</a:t>
              </a:r>
              <a:r>
                <a:rPr lang="en-US" sz="1400" dirty="0">
                  <a:solidFill>
                    <a:schemeClr val="bg1"/>
                  </a:solidFill>
                </a:rPr>
                <a:t>, making numeric mapping appropriate and model-safe.</a:t>
              </a:r>
              <a:endParaRPr lang="en-IN" sz="1400" dirty="0">
                <a:solidFill>
                  <a:schemeClr val="bg1"/>
                </a:solidFill>
              </a:endParaRPr>
            </a:p>
            <a:p>
              <a:pPr marL="342900" indent="-342900" algn="just">
                <a:buFont typeface="+mj-lt"/>
                <a:buAutoNum type="arabicParenR"/>
              </a:pPr>
              <a:r>
                <a:rPr lang="en-IN" sz="1400" dirty="0">
                  <a:solidFill>
                    <a:schemeClr val="bg1"/>
                  </a:solidFill>
                </a:rPr>
                <a:t>One-Hot Encoding Applied To :-</a:t>
              </a:r>
            </a:p>
            <a:p>
              <a:pPr marL="742950" lvl="1" indent="-285750" algn="just">
                <a:buFont typeface="Wingdings" panose="05000000000000000000" pitchFamily="2" charset="2"/>
                <a:buChar char="Ø"/>
              </a:pPr>
              <a:r>
                <a:rPr lang="en-IN" sz="1400" dirty="0">
                  <a:solidFill>
                    <a:schemeClr val="bg1"/>
                  </a:solidFill>
                </a:rPr>
                <a:t>Location (Country)</a:t>
              </a:r>
            </a:p>
            <a:p>
              <a:pPr marL="742950" lvl="1" indent="-285750" algn="just">
                <a:buFont typeface="Wingdings" panose="05000000000000000000" pitchFamily="2" charset="2"/>
                <a:buChar char="Ø"/>
              </a:pPr>
              <a:r>
                <a:rPr lang="en-IN" sz="1400" dirty="0">
                  <a:solidFill>
                    <a:schemeClr val="bg1"/>
                  </a:solidFill>
                </a:rPr>
                <a:t>Product Category</a:t>
              </a:r>
            </a:p>
            <a:p>
              <a:pPr marL="742950" lvl="1" indent="-285750" algn="just">
                <a:buFont typeface="Wingdings" panose="05000000000000000000" pitchFamily="2" charset="2"/>
                <a:buChar char="Ø"/>
              </a:pPr>
              <a:r>
                <a:rPr lang="en-IN" sz="1400" dirty="0">
                  <a:solidFill>
                    <a:schemeClr val="bg1"/>
                  </a:solidFill>
                </a:rPr>
                <a:t>Reason :-</a:t>
              </a:r>
            </a:p>
            <a:p>
              <a:pPr marL="1200150" lvl="2" indent="-285750" algn="just">
                <a:buFont typeface="Wingdings" panose="05000000000000000000" pitchFamily="2" charset="2"/>
                <a:buChar char="ü"/>
              </a:pPr>
              <a:r>
                <a:rPr lang="en-US" sz="1400" dirty="0">
                  <a:solidFill>
                    <a:schemeClr val="bg1"/>
                  </a:solidFill>
                </a:rPr>
                <a:t>Categories have </a:t>
              </a:r>
              <a:r>
                <a:rPr lang="en-US" sz="1400" b="1" dirty="0">
                  <a:solidFill>
                    <a:schemeClr val="bg1"/>
                  </a:solidFill>
                </a:rPr>
                <a:t>no natural order</a:t>
              </a:r>
              <a:endParaRPr lang="en-IN" sz="1400" b="1" dirty="0">
                <a:solidFill>
                  <a:schemeClr val="bg1"/>
                </a:solidFill>
              </a:endParaRPr>
            </a:p>
            <a:p>
              <a:pPr marL="1200150" lvl="2" indent="-285750" algn="just">
                <a:buFont typeface="Wingdings" panose="05000000000000000000" pitchFamily="2" charset="2"/>
                <a:buChar char="ü"/>
              </a:pPr>
              <a:r>
                <a:rPr lang="en-IN" sz="1400" dirty="0">
                  <a:solidFill>
                    <a:schemeClr val="bg1"/>
                  </a:solidFill>
                </a:rPr>
                <a:t>Prevents misleading numerical relationships</a:t>
              </a:r>
              <a:endParaRPr lang="en-IN" sz="1400" b="1" dirty="0">
                <a:solidFill>
                  <a:schemeClr val="bg1"/>
                </a:solidFill>
              </a:endParaRPr>
            </a:p>
            <a:p>
              <a:pPr marL="1200150" lvl="2" indent="-285750" algn="just">
                <a:buFont typeface="Wingdings" panose="05000000000000000000" pitchFamily="2" charset="2"/>
                <a:buChar char="ü"/>
              </a:pPr>
              <a:r>
                <a:rPr lang="en-US" sz="1400" dirty="0">
                  <a:solidFill>
                    <a:schemeClr val="bg1"/>
                  </a:solidFill>
                </a:rPr>
                <a:t>Ensures fair contribution of each category in linear regression</a:t>
              </a:r>
              <a:endParaRPr lang="en-IN" sz="1400" dirty="0">
                <a:solidFill>
                  <a:schemeClr val="bg1"/>
                </a:solidFill>
              </a:endParaRPr>
            </a:p>
            <a:p>
              <a:pPr marL="342900" indent="-342900" algn="just">
                <a:buFont typeface="+mj-lt"/>
                <a:buAutoNum type="arabicParenR"/>
              </a:pPr>
              <a:r>
                <a:rPr lang="en-IN" sz="1400" dirty="0">
                  <a:solidFill>
                    <a:schemeClr val="bg1"/>
                  </a:solidFill>
                </a:rPr>
                <a:t>Business &amp; Model Benefit :-</a:t>
              </a:r>
            </a:p>
            <a:p>
              <a:pPr marL="742950" lvl="1" indent="-285750" algn="just">
                <a:buFont typeface="Wingdings" panose="05000000000000000000" pitchFamily="2" charset="2"/>
                <a:buChar char="Ø"/>
              </a:pPr>
              <a:r>
                <a:rPr lang="en-IN" sz="1400" dirty="0">
                  <a:solidFill>
                    <a:schemeClr val="bg1"/>
                  </a:solidFill>
                </a:rPr>
                <a:t>Preserves correct feature interpretation</a:t>
              </a:r>
            </a:p>
            <a:p>
              <a:pPr marL="742950" lvl="1" indent="-285750" algn="just">
                <a:buFont typeface="Wingdings" panose="05000000000000000000" pitchFamily="2" charset="2"/>
                <a:buChar char="Ø"/>
              </a:pPr>
              <a:r>
                <a:rPr lang="en-US" sz="1400" dirty="0">
                  <a:solidFill>
                    <a:schemeClr val="bg1"/>
                  </a:solidFill>
                </a:rPr>
                <a:t>Improves model stability and accuracy</a:t>
              </a:r>
              <a:endParaRPr lang="en-IN" sz="1400" dirty="0">
                <a:solidFill>
                  <a:schemeClr val="bg1"/>
                </a:solidFill>
              </a:endParaRPr>
            </a:p>
            <a:p>
              <a:pPr marL="742950" lvl="1" indent="-285750" algn="just">
                <a:buFont typeface="Wingdings" panose="05000000000000000000" pitchFamily="2" charset="2"/>
                <a:buChar char="Ø"/>
              </a:pPr>
              <a:r>
                <a:rPr lang="en-US" sz="1400" dirty="0">
                  <a:solidFill>
                    <a:schemeClr val="bg1"/>
                  </a:solidFill>
                </a:rPr>
                <a:t>Aligns encoding strategy with regression assumptions</a:t>
              </a:r>
              <a:endParaRPr lang="en-IN" sz="1400" dirty="0">
                <a:solidFill>
                  <a:schemeClr val="bg1"/>
                </a:solidFill>
              </a:endParaRPr>
            </a:p>
          </p:txBody>
        </p:sp>
      </p:grpSp>
    </p:spTree>
    <p:extLst>
      <p:ext uri="{BB962C8B-B14F-4D97-AF65-F5344CB8AC3E}">
        <p14:creationId xmlns:p14="http://schemas.microsoft.com/office/powerpoint/2010/main" val="4096431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435">
        <p159:morph option="byObject"/>
      </p:transition>
    </mc:Choice>
    <mc:Fallback>
      <p:transition spd="slow" advTm="435">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0"/>
            <a:ext cx="12192000" cy="5899199"/>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3515082" y="5185441"/>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989" y="5989752"/>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713" y="6037065"/>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37893" y="5990079"/>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50113" y="6002776"/>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56072" y="5425747"/>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28765" y="5923980"/>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17393" y="5879551"/>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0" name="TextBox 19">
            <a:extLst>
              <a:ext uri="{FF2B5EF4-FFF2-40B4-BE49-F238E27FC236}">
                <a16:creationId xmlns:a16="http://schemas.microsoft.com/office/drawing/2014/main" id="{50B6F4D8-516A-4A38-A281-98BB9D5E2BD7}"/>
              </a:ext>
            </a:extLst>
          </p:cNvPr>
          <p:cNvSpPr txBox="1"/>
          <p:nvPr/>
        </p:nvSpPr>
        <p:spPr>
          <a:xfrm>
            <a:off x="3824243" y="242848"/>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BASELINE MODEL</a:t>
            </a:r>
            <a:endParaRPr lang="en-IN" sz="2000" b="1" u="sng" dirty="0">
              <a:solidFill>
                <a:schemeClr val="bg1"/>
              </a:solidFill>
              <a:latin typeface="Calibri" panose="020F0502020204030204" pitchFamily="34" charset="0"/>
              <a:cs typeface="Calibri" panose="020F0502020204030204" pitchFamily="34" charset="0"/>
            </a:endParaRPr>
          </a:p>
        </p:txBody>
      </p:sp>
      <p:grpSp>
        <p:nvGrpSpPr>
          <p:cNvPr id="21" name="Group 20">
            <a:extLst>
              <a:ext uri="{FF2B5EF4-FFF2-40B4-BE49-F238E27FC236}">
                <a16:creationId xmlns:a16="http://schemas.microsoft.com/office/drawing/2014/main" id="{A7973F41-A5E6-4BFC-905E-ACACA565EC21}"/>
              </a:ext>
            </a:extLst>
          </p:cNvPr>
          <p:cNvGrpSpPr/>
          <p:nvPr/>
        </p:nvGrpSpPr>
        <p:grpSpPr>
          <a:xfrm>
            <a:off x="610149" y="714194"/>
            <a:ext cx="11168109" cy="4364914"/>
            <a:chOff x="511945" y="1108063"/>
            <a:chExt cx="11168109" cy="4092047"/>
          </a:xfrm>
        </p:grpSpPr>
        <p:sp>
          <p:nvSpPr>
            <p:cNvPr id="24" name="Rectangle: Rounded Corners 23">
              <a:extLst>
                <a:ext uri="{FF2B5EF4-FFF2-40B4-BE49-F238E27FC236}">
                  <a16:creationId xmlns:a16="http://schemas.microsoft.com/office/drawing/2014/main" id="{DFC8BA68-9AF1-4166-9C6F-AFF30E665DCD}"/>
                </a:ext>
              </a:extLst>
            </p:cNvPr>
            <p:cNvSpPr/>
            <p:nvPr/>
          </p:nvSpPr>
          <p:spPr>
            <a:xfrm>
              <a:off x="511945" y="1108063"/>
              <a:ext cx="11168109" cy="40920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q"/>
              </a:pPr>
              <a:endParaRPr lang="en-IN" dirty="0"/>
            </a:p>
          </p:txBody>
        </p:sp>
        <p:sp>
          <p:nvSpPr>
            <p:cNvPr id="26" name="TextBox 25">
              <a:extLst>
                <a:ext uri="{FF2B5EF4-FFF2-40B4-BE49-F238E27FC236}">
                  <a16:creationId xmlns:a16="http://schemas.microsoft.com/office/drawing/2014/main" id="{42055B50-B98C-4F94-B00F-0FFD9C8FB89A}"/>
                </a:ext>
              </a:extLst>
            </p:cNvPr>
            <p:cNvSpPr txBox="1"/>
            <p:nvPr/>
          </p:nvSpPr>
          <p:spPr>
            <a:xfrm>
              <a:off x="910510" y="1605197"/>
              <a:ext cx="9790137" cy="2712242"/>
            </a:xfrm>
            <a:prstGeom prst="rect">
              <a:avLst/>
            </a:prstGeom>
            <a:noFill/>
          </p:spPr>
          <p:txBody>
            <a:bodyPr wrap="square" rtlCol="0">
              <a:spAutoFit/>
            </a:bodyPr>
            <a:lstStyle/>
            <a:p>
              <a:pPr marL="342900" indent="-342900" algn="just">
                <a:buFont typeface="+mj-lt"/>
                <a:buAutoNum type="arabicParenR"/>
              </a:pPr>
              <a:r>
                <a:rPr lang="en-IN" sz="1400" dirty="0">
                  <a:solidFill>
                    <a:schemeClr val="bg1"/>
                  </a:solidFill>
                </a:rPr>
                <a:t>Model Selection</a:t>
              </a:r>
            </a:p>
            <a:p>
              <a:pPr marL="742950" lvl="1" indent="-285750" algn="just">
                <a:buFont typeface="Wingdings" panose="05000000000000000000" pitchFamily="2" charset="2"/>
                <a:buChar char="Ø"/>
              </a:pPr>
              <a:r>
                <a:rPr lang="en-US" sz="1400" dirty="0">
                  <a:solidFill>
                    <a:schemeClr val="bg1"/>
                  </a:solidFill>
                </a:rPr>
                <a:t>Applied </a:t>
              </a:r>
              <a:r>
                <a:rPr lang="en-US" sz="1400" b="1" dirty="0">
                  <a:solidFill>
                    <a:schemeClr val="bg1"/>
                  </a:solidFill>
                </a:rPr>
                <a:t>Linear Regression</a:t>
              </a:r>
              <a:r>
                <a:rPr lang="en-US" sz="1400" dirty="0">
                  <a:solidFill>
                    <a:schemeClr val="bg1"/>
                  </a:solidFill>
                </a:rPr>
                <a:t> as the baseline model to predict </a:t>
              </a:r>
              <a:r>
                <a:rPr lang="en-US" sz="1400" b="1" dirty="0">
                  <a:solidFill>
                    <a:schemeClr val="bg1"/>
                  </a:solidFill>
                </a:rPr>
                <a:t>Purchase Amount</a:t>
              </a:r>
              <a:endParaRPr lang="en-IN" sz="1400" dirty="0">
                <a:solidFill>
                  <a:schemeClr val="bg1"/>
                </a:solidFill>
              </a:endParaRPr>
            </a:p>
            <a:p>
              <a:pPr marL="342900" indent="-342900" algn="just">
                <a:buFont typeface="+mj-lt"/>
                <a:buAutoNum type="arabicParenR"/>
              </a:pPr>
              <a:r>
                <a:rPr lang="en-IN" sz="1400" dirty="0">
                  <a:solidFill>
                    <a:schemeClr val="bg1"/>
                  </a:solidFill>
                </a:rPr>
                <a:t>Features Used</a:t>
              </a:r>
            </a:p>
            <a:p>
              <a:pPr marL="742950" lvl="1" indent="-285750" algn="just">
                <a:buFont typeface="Wingdings" panose="05000000000000000000" pitchFamily="2" charset="2"/>
                <a:buChar char="Ø"/>
              </a:pPr>
              <a:r>
                <a:rPr lang="en-US" sz="1400" b="1" dirty="0">
                  <a:solidFill>
                    <a:schemeClr val="bg1"/>
                  </a:solidFill>
                </a:rPr>
                <a:t>Demographic Features:</a:t>
              </a:r>
              <a:r>
                <a:rPr lang="en-US" sz="1400" dirty="0">
                  <a:solidFill>
                    <a:schemeClr val="bg1"/>
                  </a:solidFill>
                </a:rPr>
                <a:t> Age, Gender, Location</a:t>
              </a:r>
              <a:endParaRPr lang="en-IN" sz="1400" dirty="0">
                <a:solidFill>
                  <a:schemeClr val="bg1"/>
                </a:solidFill>
              </a:endParaRPr>
            </a:p>
            <a:p>
              <a:pPr marL="742950" lvl="1" indent="-285750" algn="just">
                <a:buFont typeface="Wingdings" panose="05000000000000000000" pitchFamily="2" charset="2"/>
                <a:buChar char="Ø"/>
              </a:pPr>
              <a:r>
                <a:rPr lang="en-US" sz="1400" b="1" dirty="0">
                  <a:solidFill>
                    <a:schemeClr val="bg1"/>
                  </a:solidFill>
                </a:rPr>
                <a:t>Behavioral &amp; Category Features:</a:t>
              </a:r>
              <a:r>
                <a:rPr lang="en-US" sz="1400" dirty="0">
                  <a:solidFill>
                    <a:schemeClr val="bg1"/>
                  </a:solidFill>
                </a:rPr>
                <a:t> Product Category, Returning Customer</a:t>
              </a:r>
              <a:endParaRPr lang="en-IN" sz="1400" dirty="0">
                <a:solidFill>
                  <a:schemeClr val="bg1"/>
                </a:solidFill>
              </a:endParaRPr>
            </a:p>
            <a:p>
              <a:pPr marL="342900" indent="-342900" algn="just">
                <a:buFont typeface="+mj-lt"/>
                <a:buAutoNum type="arabicParenR"/>
              </a:pPr>
              <a:r>
                <a:rPr lang="en-IN" sz="1400" dirty="0">
                  <a:solidFill>
                    <a:schemeClr val="bg1"/>
                  </a:solidFill>
                </a:rPr>
                <a:t>Model Assumptions</a:t>
              </a:r>
            </a:p>
            <a:p>
              <a:pPr marL="742950" lvl="1" indent="-285750" algn="just">
                <a:buFont typeface="Wingdings" panose="05000000000000000000" pitchFamily="2" charset="2"/>
                <a:buChar char="Ø"/>
              </a:pPr>
              <a:r>
                <a:rPr lang="en-US" sz="1400" dirty="0">
                  <a:solidFill>
                    <a:schemeClr val="bg1"/>
                  </a:solidFill>
                </a:rPr>
                <a:t>Assumes a </a:t>
              </a:r>
              <a:r>
                <a:rPr lang="en-US" sz="1400" b="1" dirty="0">
                  <a:solidFill>
                    <a:schemeClr val="bg1"/>
                  </a:solidFill>
                </a:rPr>
                <a:t>linear relationship</a:t>
              </a:r>
              <a:r>
                <a:rPr lang="en-US" sz="1400" dirty="0">
                  <a:solidFill>
                    <a:schemeClr val="bg1"/>
                  </a:solidFill>
                </a:rPr>
                <a:t> between independent variables and purchase amount</a:t>
              </a:r>
              <a:endParaRPr lang="en-IN" sz="1400" dirty="0">
                <a:solidFill>
                  <a:schemeClr val="bg1"/>
                </a:solidFill>
              </a:endParaRPr>
            </a:p>
            <a:p>
              <a:pPr marL="742950" lvl="1" indent="-285750" algn="just">
                <a:buFont typeface="Wingdings" panose="05000000000000000000" pitchFamily="2" charset="2"/>
                <a:buChar char="Ø"/>
              </a:pPr>
              <a:r>
                <a:rPr lang="en-US" sz="1400" dirty="0">
                  <a:solidFill>
                    <a:schemeClr val="bg1"/>
                  </a:solidFill>
                </a:rPr>
                <a:t>Assumes </a:t>
              </a:r>
              <a:r>
                <a:rPr lang="en-US" sz="1400" b="1" dirty="0">
                  <a:solidFill>
                    <a:schemeClr val="bg1"/>
                  </a:solidFill>
                </a:rPr>
                <a:t>independence of observations</a:t>
              </a:r>
              <a:r>
                <a:rPr lang="en-US" sz="1400" dirty="0">
                  <a:solidFill>
                    <a:schemeClr val="bg1"/>
                  </a:solidFill>
                </a:rPr>
                <a:t> and </a:t>
              </a:r>
              <a:r>
                <a:rPr lang="en-US" sz="1400" b="1" dirty="0">
                  <a:solidFill>
                    <a:schemeClr val="bg1"/>
                  </a:solidFill>
                </a:rPr>
                <a:t>additive feature effects</a:t>
              </a:r>
              <a:endParaRPr lang="en-IN" sz="1400" b="1" dirty="0">
                <a:solidFill>
                  <a:schemeClr val="bg1"/>
                </a:solidFill>
              </a:endParaRPr>
            </a:p>
            <a:p>
              <a:pPr marL="742950" lvl="1" indent="-285750" algn="just">
                <a:buFont typeface="Wingdings" panose="05000000000000000000" pitchFamily="2" charset="2"/>
                <a:buChar char="Ø"/>
              </a:pPr>
              <a:r>
                <a:rPr lang="en-IN" sz="1400" dirty="0">
                  <a:solidFill>
                    <a:schemeClr val="bg1"/>
                  </a:solidFill>
                </a:rPr>
                <a:t>Suitable as a </a:t>
              </a:r>
              <a:r>
                <a:rPr lang="en-IN" sz="1400" b="1" dirty="0">
                  <a:solidFill>
                    <a:schemeClr val="bg1"/>
                  </a:solidFill>
                </a:rPr>
                <a:t>benchmark model</a:t>
              </a:r>
              <a:r>
                <a:rPr lang="en-IN" sz="1400" dirty="0">
                  <a:solidFill>
                    <a:schemeClr val="bg1"/>
                  </a:solidFill>
                </a:rPr>
                <a:t> for performance comparison</a:t>
              </a:r>
            </a:p>
            <a:p>
              <a:pPr marL="342900" indent="-342900" algn="just">
                <a:buFont typeface="+mj-lt"/>
                <a:buAutoNum type="arabicParenR"/>
              </a:pPr>
              <a:r>
                <a:rPr lang="en-IN" sz="1400" dirty="0">
                  <a:solidFill>
                    <a:schemeClr val="bg1"/>
                  </a:solidFill>
                </a:rPr>
                <a:t>Purpose of the Model </a:t>
              </a:r>
            </a:p>
            <a:p>
              <a:pPr marL="742950" lvl="1" indent="-285750" algn="just">
                <a:buFont typeface="Wingdings" panose="05000000000000000000" pitchFamily="2" charset="2"/>
                <a:buChar char="Ø"/>
              </a:pPr>
              <a:r>
                <a:rPr lang="en-US" sz="1400" dirty="0">
                  <a:solidFill>
                    <a:schemeClr val="bg1"/>
                  </a:solidFill>
                </a:rPr>
                <a:t>Establish a </a:t>
              </a:r>
              <a:r>
                <a:rPr lang="en-US" sz="1400" b="1" dirty="0">
                  <a:solidFill>
                    <a:schemeClr val="bg1"/>
                  </a:solidFill>
                </a:rPr>
                <a:t>baseline predictive performance</a:t>
              </a:r>
              <a:endParaRPr lang="en-IN" sz="1400" b="1" dirty="0">
                <a:solidFill>
                  <a:schemeClr val="bg1"/>
                </a:solidFill>
              </a:endParaRPr>
            </a:p>
            <a:p>
              <a:pPr marL="742950" lvl="1" indent="-285750" algn="just">
                <a:buFont typeface="Wingdings" panose="05000000000000000000" pitchFamily="2" charset="2"/>
                <a:buChar char="Ø"/>
              </a:pPr>
              <a:r>
                <a:rPr lang="en-US" sz="1400" dirty="0">
                  <a:solidFill>
                    <a:schemeClr val="bg1"/>
                  </a:solidFill>
                </a:rPr>
                <a:t>Understand feature influence through </a:t>
              </a:r>
              <a:r>
                <a:rPr lang="en-US" sz="1400" b="1" dirty="0">
                  <a:solidFill>
                    <a:schemeClr val="bg1"/>
                  </a:solidFill>
                </a:rPr>
                <a:t>interpretable coefficients</a:t>
              </a:r>
              <a:endParaRPr lang="en-IN" sz="1400" b="1" dirty="0">
                <a:solidFill>
                  <a:schemeClr val="bg1"/>
                </a:solidFill>
              </a:endParaRPr>
            </a:p>
            <a:p>
              <a:pPr marL="742950" lvl="1" indent="-285750" algn="just">
                <a:buFont typeface="Wingdings" panose="05000000000000000000" pitchFamily="2" charset="2"/>
                <a:buChar char="Ø"/>
              </a:pPr>
              <a:r>
                <a:rPr lang="en-US" sz="1400" dirty="0">
                  <a:solidFill>
                    <a:schemeClr val="bg1"/>
                  </a:solidFill>
                </a:rPr>
                <a:t>Identify limitations before applying advanced models</a:t>
              </a:r>
              <a:endParaRPr lang="en-IN" sz="1400" dirty="0">
                <a:solidFill>
                  <a:schemeClr val="bg1"/>
                </a:solidFill>
              </a:endParaRPr>
            </a:p>
          </p:txBody>
        </p:sp>
      </p:grpSp>
    </p:spTree>
    <p:extLst>
      <p:ext uri="{BB962C8B-B14F-4D97-AF65-F5344CB8AC3E}">
        <p14:creationId xmlns:p14="http://schemas.microsoft.com/office/powerpoint/2010/main" val="33738975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33">
        <p159:morph option="byObject"/>
      </p:transition>
    </mc:Choice>
    <mc:Fallback>
      <p:transition spd="slow" advTm="333">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12702"/>
            <a:ext cx="12192000" cy="5886500"/>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4405702" y="5224214"/>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989" y="5989752"/>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713" y="6037065"/>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37893" y="5990079"/>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50113" y="6002776"/>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0716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28765" y="5923980"/>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44877" y="5490769"/>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0" name="TextBox 19">
            <a:extLst>
              <a:ext uri="{FF2B5EF4-FFF2-40B4-BE49-F238E27FC236}">
                <a16:creationId xmlns:a16="http://schemas.microsoft.com/office/drawing/2014/main" id="{80393848-2470-49BF-A212-E8A239DF2AAE}"/>
              </a:ext>
            </a:extLst>
          </p:cNvPr>
          <p:cNvSpPr txBox="1"/>
          <p:nvPr/>
        </p:nvSpPr>
        <p:spPr>
          <a:xfrm>
            <a:off x="3824243" y="242848"/>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INITIAL MODEL PERFORMANCE</a:t>
            </a:r>
            <a:endParaRPr lang="en-IN" sz="2000" b="1" u="sng" dirty="0">
              <a:solidFill>
                <a:schemeClr val="bg1"/>
              </a:solidFill>
              <a:latin typeface="Calibri" panose="020F0502020204030204" pitchFamily="34" charset="0"/>
              <a:cs typeface="Calibri" panose="020F0502020204030204" pitchFamily="34" charset="0"/>
            </a:endParaRPr>
          </a:p>
        </p:txBody>
      </p:sp>
      <p:grpSp>
        <p:nvGrpSpPr>
          <p:cNvPr id="43" name="Group 42">
            <a:extLst>
              <a:ext uri="{FF2B5EF4-FFF2-40B4-BE49-F238E27FC236}">
                <a16:creationId xmlns:a16="http://schemas.microsoft.com/office/drawing/2014/main" id="{AC19D13A-0D7D-4259-9819-E2820AE15F0C}"/>
              </a:ext>
            </a:extLst>
          </p:cNvPr>
          <p:cNvGrpSpPr/>
          <p:nvPr/>
        </p:nvGrpSpPr>
        <p:grpSpPr>
          <a:xfrm>
            <a:off x="208536" y="2933276"/>
            <a:ext cx="8042831" cy="1348064"/>
            <a:chOff x="208540" y="315114"/>
            <a:chExt cx="8042831" cy="1348064"/>
          </a:xfrm>
        </p:grpSpPr>
        <p:sp>
          <p:nvSpPr>
            <p:cNvPr id="5" name="Rectangle 4">
              <a:extLst>
                <a:ext uri="{FF2B5EF4-FFF2-40B4-BE49-F238E27FC236}">
                  <a16:creationId xmlns:a16="http://schemas.microsoft.com/office/drawing/2014/main" id="{D400E1CA-667C-4618-BD48-0944D81B8AE6}"/>
                </a:ext>
              </a:extLst>
            </p:cNvPr>
            <p:cNvSpPr/>
            <p:nvPr/>
          </p:nvSpPr>
          <p:spPr>
            <a:xfrm>
              <a:off x="208544" y="815108"/>
              <a:ext cx="8042827" cy="839522"/>
            </a:xfrm>
            <a:prstGeom prst="rect">
              <a:avLst/>
            </a:prstGeom>
            <a:solidFill>
              <a:srgbClr val="C2410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Isosceles Triangle 30">
              <a:extLst>
                <a:ext uri="{FF2B5EF4-FFF2-40B4-BE49-F238E27FC236}">
                  <a16:creationId xmlns:a16="http://schemas.microsoft.com/office/drawing/2014/main" id="{2B5730C7-9799-4F65-8927-BA8BA18269D0}"/>
                </a:ext>
              </a:extLst>
            </p:cNvPr>
            <p:cNvSpPr/>
            <p:nvPr/>
          </p:nvSpPr>
          <p:spPr>
            <a:xfrm>
              <a:off x="208540" y="315114"/>
              <a:ext cx="1322773" cy="607480"/>
            </a:xfrm>
            <a:prstGeom prst="triangle">
              <a:avLst/>
            </a:prstGeom>
            <a:solidFill>
              <a:srgbClr val="C24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F6D21794-A4BF-4955-8CB7-59F7917439C3}"/>
                </a:ext>
              </a:extLst>
            </p:cNvPr>
            <p:cNvSpPr txBox="1"/>
            <p:nvPr/>
          </p:nvSpPr>
          <p:spPr>
            <a:xfrm>
              <a:off x="1753101" y="801404"/>
              <a:ext cx="4788804" cy="861774"/>
            </a:xfrm>
            <a:prstGeom prst="rect">
              <a:avLst/>
            </a:prstGeom>
            <a:noFill/>
          </p:spPr>
          <p:txBody>
            <a:bodyPr wrap="square" rtlCol="0">
              <a:spAutoFit/>
            </a:bodyPr>
            <a:lstStyle/>
            <a:p>
              <a:pPr marL="285750" indent="-285750">
                <a:buFont typeface="Wingdings" panose="05000000000000000000" pitchFamily="2" charset="2"/>
                <a:buChar char="q"/>
              </a:pPr>
              <a:r>
                <a:rPr lang="en-IN" sz="1000" dirty="0">
                  <a:solidFill>
                    <a:schemeClr val="bg1"/>
                  </a:solidFill>
                </a:rPr>
                <a:t>Key Performance Metrics</a:t>
              </a:r>
            </a:p>
            <a:p>
              <a:pPr marL="628650" lvl="1" indent="-171450">
                <a:buFont typeface="Wingdings" panose="05000000000000000000" pitchFamily="2" charset="2"/>
                <a:buChar char="Ø"/>
              </a:pPr>
              <a:r>
                <a:rPr lang="en-IN" sz="1000" b="1" dirty="0">
                  <a:solidFill>
                    <a:schemeClr val="bg1"/>
                  </a:solidFill>
                </a:rPr>
                <a:t>MAE:</a:t>
              </a:r>
              <a:r>
                <a:rPr lang="en-IN" sz="1000" dirty="0">
                  <a:solidFill>
                    <a:schemeClr val="bg1"/>
                  </a:solidFill>
                </a:rPr>
                <a:t> 0.71</a:t>
              </a:r>
            </a:p>
            <a:p>
              <a:pPr marL="628650" lvl="1" indent="-171450">
                <a:buFont typeface="Wingdings" panose="05000000000000000000" pitchFamily="2" charset="2"/>
                <a:buChar char="Ø"/>
              </a:pPr>
              <a:r>
                <a:rPr lang="en-IN" sz="1000" b="1" dirty="0">
                  <a:solidFill>
                    <a:schemeClr val="bg1"/>
                  </a:solidFill>
                </a:rPr>
                <a:t>MAPE:</a:t>
              </a:r>
              <a:r>
                <a:rPr lang="en-IN" sz="1000" dirty="0">
                  <a:solidFill>
                    <a:schemeClr val="bg1"/>
                  </a:solidFill>
                </a:rPr>
                <a:t> 0.13 (13%)</a:t>
              </a:r>
            </a:p>
            <a:p>
              <a:pPr marL="628650" lvl="1" indent="-171450">
                <a:buFont typeface="Wingdings" panose="05000000000000000000" pitchFamily="2" charset="2"/>
                <a:buChar char="Ø"/>
              </a:pPr>
              <a:r>
                <a:rPr lang="en-IN" sz="1000" b="1" dirty="0">
                  <a:solidFill>
                    <a:schemeClr val="bg1"/>
                  </a:solidFill>
                </a:rPr>
                <a:t>RMSE:</a:t>
              </a:r>
              <a:r>
                <a:rPr lang="en-IN" sz="1000" dirty="0">
                  <a:solidFill>
                    <a:schemeClr val="bg1"/>
                  </a:solidFill>
                </a:rPr>
                <a:t> 0.93</a:t>
              </a:r>
            </a:p>
            <a:p>
              <a:pPr marL="628650" lvl="1" indent="-171450">
                <a:buFont typeface="Wingdings" panose="05000000000000000000" pitchFamily="2" charset="2"/>
                <a:buChar char="Ø"/>
              </a:pPr>
              <a:r>
                <a:rPr lang="en-IN" sz="1000" b="1" dirty="0">
                  <a:solidFill>
                    <a:schemeClr val="bg1"/>
                  </a:solidFill>
                </a:rPr>
                <a:t>R² Score:</a:t>
              </a:r>
              <a:r>
                <a:rPr lang="en-IN" sz="1000" dirty="0">
                  <a:solidFill>
                    <a:schemeClr val="bg1"/>
                  </a:solidFill>
                </a:rPr>
                <a:t> ~0.00</a:t>
              </a:r>
            </a:p>
          </p:txBody>
        </p:sp>
      </p:grpSp>
      <p:grpSp>
        <p:nvGrpSpPr>
          <p:cNvPr id="42" name="Group 41">
            <a:extLst>
              <a:ext uri="{FF2B5EF4-FFF2-40B4-BE49-F238E27FC236}">
                <a16:creationId xmlns:a16="http://schemas.microsoft.com/office/drawing/2014/main" id="{E767F6AB-DB68-402B-92E9-2363A7523D5E}"/>
              </a:ext>
            </a:extLst>
          </p:cNvPr>
          <p:cNvGrpSpPr/>
          <p:nvPr/>
        </p:nvGrpSpPr>
        <p:grpSpPr>
          <a:xfrm>
            <a:off x="200034" y="3103515"/>
            <a:ext cx="8042831" cy="1383616"/>
            <a:chOff x="208540" y="1141336"/>
            <a:chExt cx="8042831" cy="1383616"/>
          </a:xfrm>
        </p:grpSpPr>
        <p:sp>
          <p:nvSpPr>
            <p:cNvPr id="21" name="Rectangle 20">
              <a:extLst>
                <a:ext uri="{FF2B5EF4-FFF2-40B4-BE49-F238E27FC236}">
                  <a16:creationId xmlns:a16="http://schemas.microsoft.com/office/drawing/2014/main" id="{8589A462-AD6D-4469-B6DB-A1038FA59001}"/>
                </a:ext>
              </a:extLst>
            </p:cNvPr>
            <p:cNvSpPr/>
            <p:nvPr/>
          </p:nvSpPr>
          <p:spPr>
            <a:xfrm>
              <a:off x="208544" y="1666703"/>
              <a:ext cx="8042827" cy="839522"/>
            </a:xfrm>
            <a:prstGeom prst="rect">
              <a:avLst/>
            </a:prstGeom>
            <a:solidFill>
              <a:srgbClr val="EAB30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BC764D7A-9245-4329-A174-0765EE5E2D60}"/>
                </a:ext>
              </a:extLst>
            </p:cNvPr>
            <p:cNvSpPr txBox="1"/>
            <p:nvPr/>
          </p:nvSpPr>
          <p:spPr>
            <a:xfrm>
              <a:off x="1753101" y="1663178"/>
              <a:ext cx="6498270" cy="861774"/>
            </a:xfrm>
            <a:prstGeom prst="rect">
              <a:avLst/>
            </a:prstGeom>
            <a:noFill/>
          </p:spPr>
          <p:txBody>
            <a:bodyPr wrap="square" rtlCol="0">
              <a:spAutoFit/>
            </a:bodyPr>
            <a:lstStyle/>
            <a:p>
              <a:pPr marL="285750" indent="-285750">
                <a:buFont typeface="Wingdings" panose="05000000000000000000" pitchFamily="2" charset="2"/>
                <a:buChar char="q"/>
              </a:pPr>
              <a:r>
                <a:rPr lang="en-IN" sz="1000" dirty="0">
                  <a:solidFill>
                    <a:schemeClr val="bg1"/>
                  </a:solidFill>
                </a:rPr>
                <a:t>Performance Interpretation</a:t>
              </a:r>
            </a:p>
            <a:p>
              <a:pPr marL="628650" lvl="1" indent="-171450">
                <a:buFont typeface="Wingdings" panose="05000000000000000000" pitchFamily="2" charset="2"/>
                <a:buChar char="Ø"/>
              </a:pPr>
              <a:r>
                <a:rPr lang="en-US" sz="1000" dirty="0">
                  <a:solidFill>
                    <a:schemeClr val="bg1"/>
                  </a:solidFill>
                </a:rPr>
                <a:t>Low MAE and RMSE indicate predictions are </a:t>
              </a:r>
              <a:r>
                <a:rPr lang="en-US" sz="1000" b="1" dirty="0">
                  <a:solidFill>
                    <a:schemeClr val="bg1"/>
                  </a:solidFill>
                </a:rPr>
                <a:t>numerically close to the average purchase value</a:t>
              </a:r>
            </a:p>
            <a:p>
              <a:pPr marL="628650" lvl="1" indent="-171450">
                <a:buFont typeface="Wingdings" panose="05000000000000000000" pitchFamily="2" charset="2"/>
                <a:buChar char="Ø"/>
              </a:pPr>
              <a:r>
                <a:rPr lang="en-US" sz="1000" dirty="0">
                  <a:solidFill>
                    <a:schemeClr val="bg1"/>
                  </a:solidFill>
                </a:rPr>
                <a:t>However, </a:t>
              </a:r>
              <a:r>
                <a:rPr lang="en-US" sz="1000" b="1" dirty="0">
                  <a:solidFill>
                    <a:schemeClr val="bg1"/>
                  </a:solidFill>
                </a:rPr>
                <a:t>R² near zero</a:t>
              </a:r>
              <a:r>
                <a:rPr lang="en-US" sz="1000" dirty="0">
                  <a:solidFill>
                    <a:schemeClr val="bg1"/>
                  </a:solidFill>
                </a:rPr>
                <a:t> shows the model explains </a:t>
              </a:r>
              <a:r>
                <a:rPr lang="en-US" sz="1000" b="1" dirty="0">
                  <a:solidFill>
                    <a:schemeClr val="bg1"/>
                  </a:solidFill>
                </a:rPr>
                <a:t>almost none of the variability</a:t>
              </a:r>
              <a:r>
                <a:rPr lang="en-US" sz="1000" dirty="0">
                  <a:solidFill>
                    <a:schemeClr val="bg1"/>
                  </a:solidFill>
                </a:rPr>
                <a:t> in purchase amounts</a:t>
              </a:r>
              <a:endParaRPr lang="en-US" sz="1000" b="1" dirty="0">
                <a:solidFill>
                  <a:schemeClr val="bg1"/>
                </a:solidFill>
              </a:endParaRPr>
            </a:p>
            <a:p>
              <a:pPr marL="628650" lvl="1" indent="-171450">
                <a:buFont typeface="Wingdings" panose="05000000000000000000" pitchFamily="2" charset="2"/>
                <a:buChar char="Ø"/>
              </a:pPr>
              <a:r>
                <a:rPr lang="en-US" sz="1000" dirty="0">
                  <a:solidFill>
                    <a:schemeClr val="bg1"/>
                  </a:solidFill>
                </a:rPr>
                <a:t>Model fails to capture patterns beyond the overall mean</a:t>
              </a:r>
            </a:p>
          </p:txBody>
        </p:sp>
        <p:sp>
          <p:nvSpPr>
            <p:cNvPr id="30" name="Isosceles Triangle 29">
              <a:extLst>
                <a:ext uri="{FF2B5EF4-FFF2-40B4-BE49-F238E27FC236}">
                  <a16:creationId xmlns:a16="http://schemas.microsoft.com/office/drawing/2014/main" id="{3DA78788-052C-4E4C-8B29-1F309BAF4298}"/>
                </a:ext>
              </a:extLst>
            </p:cNvPr>
            <p:cNvSpPr/>
            <p:nvPr/>
          </p:nvSpPr>
          <p:spPr>
            <a:xfrm>
              <a:off x="208540" y="1141336"/>
              <a:ext cx="1322773" cy="607480"/>
            </a:xfrm>
            <a:prstGeom prst="triangle">
              <a:avLst/>
            </a:prstGeom>
            <a:solidFill>
              <a:srgbClr val="EAB3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1" name="Group 40">
            <a:extLst>
              <a:ext uri="{FF2B5EF4-FFF2-40B4-BE49-F238E27FC236}">
                <a16:creationId xmlns:a16="http://schemas.microsoft.com/office/drawing/2014/main" id="{FA3A7E8A-B8F7-4043-B0C2-E1ABAF571305}"/>
              </a:ext>
            </a:extLst>
          </p:cNvPr>
          <p:cNvGrpSpPr/>
          <p:nvPr/>
        </p:nvGrpSpPr>
        <p:grpSpPr>
          <a:xfrm>
            <a:off x="204285" y="3300091"/>
            <a:ext cx="8042831" cy="1371364"/>
            <a:chOff x="208540" y="1994626"/>
            <a:chExt cx="8042831" cy="1371364"/>
          </a:xfrm>
        </p:grpSpPr>
        <p:sp>
          <p:nvSpPr>
            <p:cNvPr id="24" name="Rectangle 23">
              <a:extLst>
                <a:ext uri="{FF2B5EF4-FFF2-40B4-BE49-F238E27FC236}">
                  <a16:creationId xmlns:a16="http://schemas.microsoft.com/office/drawing/2014/main" id="{C46E328B-DF5C-4806-A46F-5F2E189DAD43}"/>
                </a:ext>
              </a:extLst>
            </p:cNvPr>
            <p:cNvSpPr/>
            <p:nvPr/>
          </p:nvSpPr>
          <p:spPr>
            <a:xfrm>
              <a:off x="208544" y="2526468"/>
              <a:ext cx="8042827" cy="839522"/>
            </a:xfrm>
            <a:prstGeom prst="rect">
              <a:avLst/>
            </a:prstGeom>
            <a:solidFill>
              <a:srgbClr val="0F766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Isosceles Triangle 28">
              <a:extLst>
                <a:ext uri="{FF2B5EF4-FFF2-40B4-BE49-F238E27FC236}">
                  <a16:creationId xmlns:a16="http://schemas.microsoft.com/office/drawing/2014/main" id="{55637360-1ECF-4D05-B351-D92BF544233B}"/>
                </a:ext>
              </a:extLst>
            </p:cNvPr>
            <p:cNvSpPr/>
            <p:nvPr/>
          </p:nvSpPr>
          <p:spPr>
            <a:xfrm>
              <a:off x="208540" y="1994626"/>
              <a:ext cx="1322773" cy="607480"/>
            </a:xfrm>
            <a:prstGeom prst="triangle">
              <a:avLst/>
            </a:prstGeom>
            <a:solidFill>
              <a:srgbClr val="0F76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ED96BADB-D431-4E86-8377-CD5BE10AB5D9}"/>
                </a:ext>
              </a:extLst>
            </p:cNvPr>
            <p:cNvSpPr txBox="1"/>
            <p:nvPr/>
          </p:nvSpPr>
          <p:spPr>
            <a:xfrm>
              <a:off x="1753101" y="2524459"/>
              <a:ext cx="6333588" cy="707886"/>
            </a:xfrm>
            <a:prstGeom prst="rect">
              <a:avLst/>
            </a:prstGeom>
            <a:noFill/>
          </p:spPr>
          <p:txBody>
            <a:bodyPr wrap="square" rtlCol="0">
              <a:spAutoFit/>
            </a:bodyPr>
            <a:lstStyle/>
            <a:p>
              <a:pPr marL="285750" indent="-285750">
                <a:buFont typeface="Wingdings" panose="05000000000000000000" pitchFamily="2" charset="2"/>
                <a:buChar char="q"/>
              </a:pPr>
              <a:r>
                <a:rPr lang="en-IN" sz="1000" dirty="0">
                  <a:solidFill>
                    <a:schemeClr val="bg1"/>
                  </a:solidFill>
                </a:rPr>
                <a:t>Key Observation</a:t>
              </a:r>
            </a:p>
            <a:p>
              <a:pPr marL="628650" lvl="1" indent="-171450">
                <a:buFont typeface="Wingdings" panose="05000000000000000000" pitchFamily="2" charset="2"/>
                <a:buChar char="Ø"/>
              </a:pPr>
              <a:r>
                <a:rPr lang="en-IN" sz="1000" dirty="0">
                  <a:solidFill>
                    <a:schemeClr val="bg1"/>
                  </a:solidFill>
                </a:rPr>
                <a:t>Underfitting detected</a:t>
              </a:r>
              <a:endParaRPr lang="en-IN" sz="1000" b="1" dirty="0">
                <a:solidFill>
                  <a:schemeClr val="bg1"/>
                </a:solidFill>
              </a:endParaRPr>
            </a:p>
            <a:p>
              <a:pPr marL="628650" lvl="1" indent="-171450">
                <a:buFont typeface="Wingdings" panose="05000000000000000000" pitchFamily="2" charset="2"/>
                <a:buChar char="Ø"/>
              </a:pPr>
              <a:r>
                <a:rPr lang="en-US" sz="1000" dirty="0">
                  <a:solidFill>
                    <a:schemeClr val="bg1"/>
                  </a:solidFill>
                </a:rPr>
                <a:t>Predictions are overly simplistic and </a:t>
              </a:r>
              <a:r>
                <a:rPr lang="en-US" sz="1000" b="1" dirty="0">
                  <a:solidFill>
                    <a:schemeClr val="bg1"/>
                  </a:solidFill>
                </a:rPr>
                <a:t>cluster around the mean</a:t>
              </a:r>
              <a:r>
                <a:rPr lang="en-US" sz="1000" dirty="0">
                  <a:solidFill>
                    <a:schemeClr val="bg1"/>
                  </a:solidFill>
                </a:rPr>
                <a:t>, ignoring customer and category differences</a:t>
              </a:r>
              <a:endParaRPr lang="en-IN" sz="1000" dirty="0">
                <a:solidFill>
                  <a:schemeClr val="bg1"/>
                </a:solidFill>
              </a:endParaRPr>
            </a:p>
          </p:txBody>
        </p:sp>
      </p:grpSp>
      <p:grpSp>
        <p:nvGrpSpPr>
          <p:cNvPr id="40" name="Group 39">
            <a:extLst>
              <a:ext uri="{FF2B5EF4-FFF2-40B4-BE49-F238E27FC236}">
                <a16:creationId xmlns:a16="http://schemas.microsoft.com/office/drawing/2014/main" id="{C4EA75CF-585C-476A-A28B-8E21227D7098}"/>
              </a:ext>
            </a:extLst>
          </p:cNvPr>
          <p:cNvGrpSpPr/>
          <p:nvPr/>
        </p:nvGrpSpPr>
        <p:grpSpPr>
          <a:xfrm>
            <a:off x="208540" y="3514444"/>
            <a:ext cx="8042831" cy="1347478"/>
            <a:chOff x="208540" y="2883539"/>
            <a:chExt cx="8042831" cy="1347478"/>
          </a:xfrm>
        </p:grpSpPr>
        <p:sp>
          <p:nvSpPr>
            <p:cNvPr id="26" name="Rectangle 25">
              <a:extLst>
                <a:ext uri="{FF2B5EF4-FFF2-40B4-BE49-F238E27FC236}">
                  <a16:creationId xmlns:a16="http://schemas.microsoft.com/office/drawing/2014/main" id="{21350029-04BB-49CF-9FCF-B553D86113E7}"/>
                </a:ext>
              </a:extLst>
            </p:cNvPr>
            <p:cNvSpPr/>
            <p:nvPr/>
          </p:nvSpPr>
          <p:spPr>
            <a:xfrm>
              <a:off x="208544" y="3391495"/>
              <a:ext cx="8042827" cy="839522"/>
            </a:xfrm>
            <a:prstGeom prst="rect">
              <a:avLst/>
            </a:prstGeom>
            <a:solidFill>
              <a:srgbClr val="F5E6D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Isosceles Triangle 27">
              <a:extLst>
                <a:ext uri="{FF2B5EF4-FFF2-40B4-BE49-F238E27FC236}">
                  <a16:creationId xmlns:a16="http://schemas.microsoft.com/office/drawing/2014/main" id="{162435ED-0B3F-4877-8C60-351579CB9057}"/>
                </a:ext>
              </a:extLst>
            </p:cNvPr>
            <p:cNvSpPr/>
            <p:nvPr/>
          </p:nvSpPr>
          <p:spPr>
            <a:xfrm>
              <a:off x="208540" y="2883539"/>
              <a:ext cx="1322773" cy="607480"/>
            </a:xfrm>
            <a:prstGeom prst="triangle">
              <a:avLst/>
            </a:prstGeom>
            <a:solidFill>
              <a:srgbClr val="F5E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69E2F395-598A-4473-97CC-7D4E33F22E16}"/>
                </a:ext>
              </a:extLst>
            </p:cNvPr>
            <p:cNvSpPr txBox="1"/>
            <p:nvPr/>
          </p:nvSpPr>
          <p:spPr>
            <a:xfrm>
              <a:off x="1753101" y="3402450"/>
              <a:ext cx="4788804" cy="553998"/>
            </a:xfrm>
            <a:prstGeom prst="rect">
              <a:avLst/>
            </a:prstGeom>
            <a:noFill/>
          </p:spPr>
          <p:txBody>
            <a:bodyPr wrap="square" rtlCol="0">
              <a:spAutoFit/>
            </a:bodyPr>
            <a:lstStyle/>
            <a:p>
              <a:pPr marL="285750" indent="-285750">
                <a:buFont typeface="Wingdings" panose="05000000000000000000" pitchFamily="2" charset="2"/>
                <a:buChar char="q"/>
              </a:pPr>
              <a:r>
                <a:rPr lang="en-IN" sz="1000" dirty="0"/>
                <a:t>Business Impact</a:t>
              </a:r>
              <a:endParaRPr lang="en-IN" sz="1000" dirty="0">
                <a:solidFill>
                  <a:schemeClr val="bg1"/>
                </a:solidFill>
              </a:endParaRPr>
            </a:p>
            <a:p>
              <a:pPr marL="628650" lvl="1" indent="-171450">
                <a:buFont typeface="Wingdings" panose="05000000000000000000" pitchFamily="2" charset="2"/>
                <a:buChar char="Ø"/>
              </a:pPr>
              <a:r>
                <a:rPr lang="en-IN" sz="1000" dirty="0"/>
                <a:t>Limited usefulness for decision-making</a:t>
              </a:r>
              <a:endParaRPr lang="en-IN" sz="1000" b="1" dirty="0">
                <a:solidFill>
                  <a:schemeClr val="bg1"/>
                </a:solidFill>
              </a:endParaRPr>
            </a:p>
            <a:p>
              <a:pPr marL="628650" lvl="1" indent="-171450">
                <a:buFont typeface="Wingdings" panose="05000000000000000000" pitchFamily="2" charset="2"/>
                <a:buChar char="Ø"/>
              </a:pPr>
              <a:r>
                <a:rPr lang="en-US" sz="1000" dirty="0"/>
                <a:t>Inadequate for identifying high-value customers or revenue drivers</a:t>
              </a:r>
              <a:endParaRPr lang="en-IN" sz="1000" dirty="0">
                <a:solidFill>
                  <a:schemeClr val="bg1"/>
                </a:solidFill>
              </a:endParaRPr>
            </a:p>
          </p:txBody>
        </p:sp>
      </p:grpSp>
      <p:grpSp>
        <p:nvGrpSpPr>
          <p:cNvPr id="37" name="Group 36">
            <a:extLst>
              <a:ext uri="{FF2B5EF4-FFF2-40B4-BE49-F238E27FC236}">
                <a16:creationId xmlns:a16="http://schemas.microsoft.com/office/drawing/2014/main" id="{58570181-085E-49C3-B377-2D30D6FE37B2}"/>
              </a:ext>
            </a:extLst>
          </p:cNvPr>
          <p:cNvGrpSpPr/>
          <p:nvPr/>
        </p:nvGrpSpPr>
        <p:grpSpPr>
          <a:xfrm>
            <a:off x="208540" y="3725502"/>
            <a:ext cx="8042831" cy="1347478"/>
            <a:chOff x="208540" y="3725502"/>
            <a:chExt cx="8042831" cy="1347478"/>
          </a:xfrm>
        </p:grpSpPr>
        <p:sp>
          <p:nvSpPr>
            <p:cNvPr id="27" name="Rectangle 26">
              <a:extLst>
                <a:ext uri="{FF2B5EF4-FFF2-40B4-BE49-F238E27FC236}">
                  <a16:creationId xmlns:a16="http://schemas.microsoft.com/office/drawing/2014/main" id="{2157BBCC-A862-472C-8364-9390B6666220}"/>
                </a:ext>
              </a:extLst>
            </p:cNvPr>
            <p:cNvSpPr/>
            <p:nvPr/>
          </p:nvSpPr>
          <p:spPr>
            <a:xfrm>
              <a:off x="208544" y="4233458"/>
              <a:ext cx="8042827" cy="839522"/>
            </a:xfrm>
            <a:prstGeom prst="rect">
              <a:avLst/>
            </a:prstGeom>
            <a:solidFill>
              <a:srgbClr val="3F2A1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Isosceles Triangle 12">
              <a:extLst>
                <a:ext uri="{FF2B5EF4-FFF2-40B4-BE49-F238E27FC236}">
                  <a16:creationId xmlns:a16="http://schemas.microsoft.com/office/drawing/2014/main" id="{E4225A0B-1B92-48A1-9031-BE6F8B03BBB3}"/>
                </a:ext>
              </a:extLst>
            </p:cNvPr>
            <p:cNvSpPr/>
            <p:nvPr/>
          </p:nvSpPr>
          <p:spPr>
            <a:xfrm>
              <a:off x="208540" y="3725502"/>
              <a:ext cx="1322773" cy="607480"/>
            </a:xfrm>
            <a:prstGeom prst="triangle">
              <a:avLst/>
            </a:prstGeom>
            <a:solidFill>
              <a:srgbClr val="3F2A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A4922F61-B240-4686-9EB2-7054F8C2B70F}"/>
                </a:ext>
              </a:extLst>
            </p:cNvPr>
            <p:cNvSpPr txBox="1"/>
            <p:nvPr/>
          </p:nvSpPr>
          <p:spPr>
            <a:xfrm>
              <a:off x="1753101" y="4283142"/>
              <a:ext cx="6333588" cy="707886"/>
            </a:xfrm>
            <a:prstGeom prst="rect">
              <a:avLst/>
            </a:prstGeom>
            <a:noFill/>
          </p:spPr>
          <p:txBody>
            <a:bodyPr wrap="square" rtlCol="0">
              <a:spAutoFit/>
            </a:bodyPr>
            <a:lstStyle/>
            <a:p>
              <a:pPr marL="285750" indent="-285750">
                <a:buFont typeface="Wingdings" panose="05000000000000000000" pitchFamily="2" charset="2"/>
                <a:buChar char="q"/>
              </a:pPr>
              <a:r>
                <a:rPr lang="en-IN" sz="1000" dirty="0">
                  <a:solidFill>
                    <a:schemeClr val="bg1"/>
                  </a:solidFill>
                </a:rPr>
                <a:t>Decision &amp; Next Step</a:t>
              </a:r>
            </a:p>
            <a:p>
              <a:pPr marL="628650" lvl="1" indent="-171450">
                <a:buFont typeface="Wingdings" panose="05000000000000000000" pitchFamily="2" charset="2"/>
                <a:buChar char="Ø"/>
              </a:pPr>
              <a:r>
                <a:rPr lang="en-US" sz="1000" dirty="0">
                  <a:solidFill>
                    <a:schemeClr val="bg1"/>
                  </a:solidFill>
                </a:rPr>
                <a:t>Treat Linear Regression as a </a:t>
              </a:r>
              <a:r>
                <a:rPr lang="en-US" sz="1000" b="1" dirty="0">
                  <a:solidFill>
                    <a:schemeClr val="bg1"/>
                  </a:solidFill>
                </a:rPr>
                <a:t>baseline benchmark only</a:t>
              </a:r>
              <a:endParaRPr lang="en-IN" sz="1000" b="1" dirty="0">
                <a:solidFill>
                  <a:schemeClr val="bg1"/>
                </a:solidFill>
              </a:endParaRPr>
            </a:p>
            <a:p>
              <a:pPr marL="628650" lvl="1" indent="-171450">
                <a:buFont typeface="Wingdings" panose="05000000000000000000" pitchFamily="2" charset="2"/>
                <a:buChar char="Ø"/>
              </a:pPr>
              <a:r>
                <a:rPr lang="en-US" sz="1000" dirty="0">
                  <a:solidFill>
                    <a:schemeClr val="bg1"/>
                  </a:solidFill>
                </a:rPr>
                <a:t>Proceed with </a:t>
              </a:r>
              <a:r>
                <a:rPr lang="en-US" sz="1000" b="1" dirty="0">
                  <a:solidFill>
                    <a:schemeClr val="bg1"/>
                  </a:solidFill>
                </a:rPr>
                <a:t>non-linear models</a:t>
              </a:r>
              <a:r>
                <a:rPr lang="en-US" sz="1000" dirty="0">
                  <a:solidFill>
                    <a:schemeClr val="bg1"/>
                  </a:solidFill>
                </a:rPr>
                <a:t> (Random Forest, </a:t>
              </a:r>
              <a:r>
                <a:rPr lang="en-US" sz="1000" dirty="0" err="1">
                  <a:solidFill>
                    <a:schemeClr val="bg1"/>
                  </a:solidFill>
                </a:rPr>
                <a:t>XGBoost</a:t>
              </a:r>
              <a:r>
                <a:rPr lang="en-US" sz="1000" dirty="0">
                  <a:solidFill>
                    <a:schemeClr val="bg1"/>
                  </a:solidFill>
                </a:rPr>
                <a:t>) to capture complex spending behavior</a:t>
              </a:r>
              <a:endParaRPr lang="en-IN" sz="1000" dirty="0">
                <a:solidFill>
                  <a:schemeClr val="bg1"/>
                </a:solidFill>
              </a:endParaRPr>
            </a:p>
          </p:txBody>
        </p:sp>
      </p:grpSp>
    </p:spTree>
    <p:extLst>
      <p:ext uri="{BB962C8B-B14F-4D97-AF65-F5344CB8AC3E}">
        <p14:creationId xmlns:p14="http://schemas.microsoft.com/office/powerpoint/2010/main" val="19673209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480">
        <p159:morph option="byObject"/>
      </p:transition>
    </mc:Choice>
    <mc:Fallback>
      <p:transition spd="slow" advTm="48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12702"/>
            <a:ext cx="12192000" cy="5886500"/>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4405702" y="5224214"/>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989" y="5989752"/>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713" y="6037065"/>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37893" y="5990079"/>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50113" y="6002776"/>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0716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28765" y="5923980"/>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44877" y="5490769"/>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0" name="TextBox 19">
            <a:extLst>
              <a:ext uri="{FF2B5EF4-FFF2-40B4-BE49-F238E27FC236}">
                <a16:creationId xmlns:a16="http://schemas.microsoft.com/office/drawing/2014/main" id="{80393848-2470-49BF-A212-E8A239DF2AAE}"/>
              </a:ext>
            </a:extLst>
          </p:cNvPr>
          <p:cNvSpPr txBox="1"/>
          <p:nvPr/>
        </p:nvSpPr>
        <p:spPr>
          <a:xfrm>
            <a:off x="3824243" y="242848"/>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INITIAL MODEL PERFORMANCE</a:t>
            </a:r>
            <a:endParaRPr lang="en-IN" sz="2000" b="1" u="sng" dirty="0">
              <a:solidFill>
                <a:schemeClr val="bg1"/>
              </a:solidFill>
              <a:latin typeface="Calibri" panose="020F0502020204030204" pitchFamily="34" charset="0"/>
              <a:cs typeface="Calibri" panose="020F0502020204030204" pitchFamily="34" charset="0"/>
            </a:endParaRPr>
          </a:p>
        </p:txBody>
      </p:sp>
      <p:graphicFrame>
        <p:nvGraphicFramePr>
          <p:cNvPr id="9" name="Table 12">
            <a:extLst>
              <a:ext uri="{FF2B5EF4-FFF2-40B4-BE49-F238E27FC236}">
                <a16:creationId xmlns:a16="http://schemas.microsoft.com/office/drawing/2014/main" id="{47498505-53D9-40C5-B95E-2152A7F5E6E4}"/>
              </a:ext>
            </a:extLst>
          </p:cNvPr>
          <p:cNvGraphicFramePr>
            <a:graphicFrameLocks noGrp="1"/>
          </p:cNvGraphicFramePr>
          <p:nvPr>
            <p:extLst>
              <p:ext uri="{D42A27DB-BD31-4B8C-83A1-F6EECF244321}">
                <p14:modId xmlns:p14="http://schemas.microsoft.com/office/powerpoint/2010/main" val="581286666"/>
              </p:ext>
            </p:extLst>
          </p:nvPr>
        </p:nvGraphicFramePr>
        <p:xfrm>
          <a:off x="8359387" y="820122"/>
          <a:ext cx="3618096" cy="2040912"/>
        </p:xfrm>
        <a:graphic>
          <a:graphicData uri="http://schemas.openxmlformats.org/drawingml/2006/table">
            <a:tbl>
              <a:tblPr firstRow="1" bandRow="1">
                <a:tableStyleId>{5C22544A-7EE6-4342-B048-85BDC9FD1C3A}</a:tableStyleId>
              </a:tblPr>
              <a:tblGrid>
                <a:gridCol w="2657801">
                  <a:extLst>
                    <a:ext uri="{9D8B030D-6E8A-4147-A177-3AD203B41FA5}">
                      <a16:colId xmlns:a16="http://schemas.microsoft.com/office/drawing/2014/main" val="2615126862"/>
                    </a:ext>
                  </a:extLst>
                </a:gridCol>
                <a:gridCol w="960295">
                  <a:extLst>
                    <a:ext uri="{9D8B030D-6E8A-4147-A177-3AD203B41FA5}">
                      <a16:colId xmlns:a16="http://schemas.microsoft.com/office/drawing/2014/main" val="1557647858"/>
                    </a:ext>
                  </a:extLst>
                </a:gridCol>
              </a:tblGrid>
              <a:tr h="340152">
                <a:tc>
                  <a:txBody>
                    <a:bodyPr/>
                    <a:lstStyle/>
                    <a:p>
                      <a:r>
                        <a:rPr lang="en-US" sz="1200" dirty="0"/>
                        <a:t>Metrics</a:t>
                      </a:r>
                      <a:endParaRPr lang="en-IN" sz="1200" dirty="0"/>
                    </a:p>
                  </a:txBody>
                  <a:tcPr/>
                </a:tc>
                <a:tc>
                  <a:txBody>
                    <a:bodyPr/>
                    <a:lstStyle/>
                    <a:p>
                      <a:r>
                        <a:rPr lang="en-US" sz="1200" dirty="0"/>
                        <a:t>Value</a:t>
                      </a:r>
                      <a:endParaRPr lang="en-IN" sz="1200" dirty="0"/>
                    </a:p>
                  </a:txBody>
                  <a:tcPr/>
                </a:tc>
                <a:extLst>
                  <a:ext uri="{0D108BD9-81ED-4DB2-BD59-A6C34878D82A}">
                    <a16:rowId xmlns:a16="http://schemas.microsoft.com/office/drawing/2014/main" val="2840065732"/>
                  </a:ext>
                </a:extLst>
              </a:tr>
              <a:tr h="340152">
                <a:tc>
                  <a:txBody>
                    <a:bodyPr/>
                    <a:lstStyle/>
                    <a:p>
                      <a:r>
                        <a:rPr lang="en-US" sz="1200" dirty="0"/>
                        <a:t>Mean Absolute Error</a:t>
                      </a:r>
                      <a:endParaRPr lang="en-IN" sz="1200" dirty="0"/>
                    </a:p>
                  </a:txBody>
                  <a:tcPr/>
                </a:tc>
                <a:tc>
                  <a:txBody>
                    <a:bodyPr/>
                    <a:lstStyle/>
                    <a:p>
                      <a:r>
                        <a:rPr lang="en-US" sz="1200" dirty="0"/>
                        <a:t>0.71</a:t>
                      </a:r>
                      <a:endParaRPr lang="en-IN" sz="1200" dirty="0"/>
                    </a:p>
                  </a:txBody>
                  <a:tcPr/>
                </a:tc>
                <a:extLst>
                  <a:ext uri="{0D108BD9-81ED-4DB2-BD59-A6C34878D82A}">
                    <a16:rowId xmlns:a16="http://schemas.microsoft.com/office/drawing/2014/main" val="3946286090"/>
                  </a:ext>
                </a:extLst>
              </a:tr>
              <a:tr h="340152">
                <a:tc>
                  <a:txBody>
                    <a:bodyPr/>
                    <a:lstStyle/>
                    <a:p>
                      <a:r>
                        <a:rPr lang="en-US" sz="1200" dirty="0"/>
                        <a:t>Mean Absolute Percentage Error</a:t>
                      </a:r>
                      <a:endParaRPr lang="en-IN" sz="1200" dirty="0"/>
                    </a:p>
                  </a:txBody>
                  <a:tcPr/>
                </a:tc>
                <a:tc>
                  <a:txBody>
                    <a:bodyPr/>
                    <a:lstStyle/>
                    <a:p>
                      <a:r>
                        <a:rPr lang="en-US" sz="1200" dirty="0"/>
                        <a:t>0.13 (13%)</a:t>
                      </a:r>
                      <a:endParaRPr lang="en-IN" sz="1200" dirty="0"/>
                    </a:p>
                  </a:txBody>
                  <a:tcPr/>
                </a:tc>
                <a:extLst>
                  <a:ext uri="{0D108BD9-81ED-4DB2-BD59-A6C34878D82A}">
                    <a16:rowId xmlns:a16="http://schemas.microsoft.com/office/drawing/2014/main" val="2523925717"/>
                  </a:ext>
                </a:extLst>
              </a:tr>
              <a:tr h="340152">
                <a:tc>
                  <a:txBody>
                    <a:bodyPr/>
                    <a:lstStyle/>
                    <a:p>
                      <a:r>
                        <a:rPr lang="en-US" sz="1200" dirty="0"/>
                        <a:t>Mean Squared Error</a:t>
                      </a:r>
                      <a:endParaRPr lang="en-IN" sz="1200" dirty="0"/>
                    </a:p>
                  </a:txBody>
                  <a:tcPr/>
                </a:tc>
                <a:tc>
                  <a:txBody>
                    <a:bodyPr/>
                    <a:lstStyle/>
                    <a:p>
                      <a:r>
                        <a:rPr lang="en-US" sz="1200" dirty="0"/>
                        <a:t>0.87</a:t>
                      </a:r>
                      <a:endParaRPr lang="en-IN" sz="1200" dirty="0"/>
                    </a:p>
                  </a:txBody>
                  <a:tcPr/>
                </a:tc>
                <a:extLst>
                  <a:ext uri="{0D108BD9-81ED-4DB2-BD59-A6C34878D82A}">
                    <a16:rowId xmlns:a16="http://schemas.microsoft.com/office/drawing/2014/main" val="4268180795"/>
                  </a:ext>
                </a:extLst>
              </a:tr>
              <a:tr h="340152">
                <a:tc>
                  <a:txBody>
                    <a:bodyPr/>
                    <a:lstStyle/>
                    <a:p>
                      <a:r>
                        <a:rPr lang="en-US" sz="1200" dirty="0"/>
                        <a:t>Root Mean Squared Error</a:t>
                      </a:r>
                      <a:endParaRPr lang="en-IN" sz="1200" dirty="0"/>
                    </a:p>
                  </a:txBody>
                  <a:tcPr/>
                </a:tc>
                <a:tc>
                  <a:txBody>
                    <a:bodyPr/>
                    <a:lstStyle/>
                    <a:p>
                      <a:r>
                        <a:rPr lang="en-US" sz="1200" dirty="0"/>
                        <a:t>0.93</a:t>
                      </a:r>
                      <a:endParaRPr lang="en-IN" sz="1200" dirty="0"/>
                    </a:p>
                  </a:txBody>
                  <a:tcPr/>
                </a:tc>
                <a:extLst>
                  <a:ext uri="{0D108BD9-81ED-4DB2-BD59-A6C34878D82A}">
                    <a16:rowId xmlns:a16="http://schemas.microsoft.com/office/drawing/2014/main" val="2157002640"/>
                  </a:ext>
                </a:extLst>
              </a:tr>
              <a:tr h="340152">
                <a:tc>
                  <a:txBody>
                    <a:bodyPr/>
                    <a:lstStyle/>
                    <a:p>
                      <a:r>
                        <a:rPr lang="en-US" sz="1200" dirty="0"/>
                        <a:t>R2 Score</a:t>
                      </a:r>
                      <a:endParaRPr lang="en-IN" sz="1200" dirty="0"/>
                    </a:p>
                  </a:txBody>
                  <a:tcPr/>
                </a:tc>
                <a:tc>
                  <a:txBody>
                    <a:bodyPr/>
                    <a:lstStyle/>
                    <a:p>
                      <a:r>
                        <a:rPr lang="en-US" sz="1200" dirty="0"/>
                        <a:t>0.0</a:t>
                      </a:r>
                      <a:endParaRPr lang="en-IN" sz="1200" dirty="0"/>
                    </a:p>
                  </a:txBody>
                  <a:tcPr/>
                </a:tc>
                <a:extLst>
                  <a:ext uri="{0D108BD9-81ED-4DB2-BD59-A6C34878D82A}">
                    <a16:rowId xmlns:a16="http://schemas.microsoft.com/office/drawing/2014/main" val="801467782"/>
                  </a:ext>
                </a:extLst>
              </a:tr>
            </a:tbl>
          </a:graphicData>
        </a:graphic>
      </p:graphicFrame>
      <p:grpSp>
        <p:nvGrpSpPr>
          <p:cNvPr id="43" name="Group 42">
            <a:extLst>
              <a:ext uri="{FF2B5EF4-FFF2-40B4-BE49-F238E27FC236}">
                <a16:creationId xmlns:a16="http://schemas.microsoft.com/office/drawing/2014/main" id="{AC19D13A-0D7D-4259-9819-E2820AE15F0C}"/>
              </a:ext>
            </a:extLst>
          </p:cNvPr>
          <p:cNvGrpSpPr/>
          <p:nvPr/>
        </p:nvGrpSpPr>
        <p:grpSpPr>
          <a:xfrm>
            <a:off x="232026" y="212642"/>
            <a:ext cx="8042831" cy="1348064"/>
            <a:chOff x="208540" y="315114"/>
            <a:chExt cx="8042831" cy="1348064"/>
          </a:xfrm>
        </p:grpSpPr>
        <p:sp>
          <p:nvSpPr>
            <p:cNvPr id="5" name="Rectangle 4">
              <a:extLst>
                <a:ext uri="{FF2B5EF4-FFF2-40B4-BE49-F238E27FC236}">
                  <a16:creationId xmlns:a16="http://schemas.microsoft.com/office/drawing/2014/main" id="{D400E1CA-667C-4618-BD48-0944D81B8AE6}"/>
                </a:ext>
              </a:extLst>
            </p:cNvPr>
            <p:cNvSpPr/>
            <p:nvPr/>
          </p:nvSpPr>
          <p:spPr>
            <a:xfrm>
              <a:off x="208544" y="815108"/>
              <a:ext cx="8042827" cy="839522"/>
            </a:xfrm>
            <a:prstGeom prst="rect">
              <a:avLst/>
            </a:prstGeom>
            <a:solidFill>
              <a:srgbClr val="C2410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Isosceles Triangle 30">
              <a:extLst>
                <a:ext uri="{FF2B5EF4-FFF2-40B4-BE49-F238E27FC236}">
                  <a16:creationId xmlns:a16="http://schemas.microsoft.com/office/drawing/2014/main" id="{2B5730C7-9799-4F65-8927-BA8BA18269D0}"/>
                </a:ext>
              </a:extLst>
            </p:cNvPr>
            <p:cNvSpPr/>
            <p:nvPr/>
          </p:nvSpPr>
          <p:spPr>
            <a:xfrm>
              <a:off x="208540" y="315114"/>
              <a:ext cx="1322773" cy="607480"/>
            </a:xfrm>
            <a:prstGeom prst="triangle">
              <a:avLst/>
            </a:prstGeom>
            <a:solidFill>
              <a:srgbClr val="C24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F6D21794-A4BF-4955-8CB7-59F7917439C3}"/>
                </a:ext>
              </a:extLst>
            </p:cNvPr>
            <p:cNvSpPr txBox="1"/>
            <p:nvPr/>
          </p:nvSpPr>
          <p:spPr>
            <a:xfrm>
              <a:off x="1753101" y="801404"/>
              <a:ext cx="4788804" cy="861774"/>
            </a:xfrm>
            <a:prstGeom prst="rect">
              <a:avLst/>
            </a:prstGeom>
            <a:noFill/>
          </p:spPr>
          <p:txBody>
            <a:bodyPr wrap="square" rtlCol="0">
              <a:spAutoFit/>
            </a:bodyPr>
            <a:lstStyle/>
            <a:p>
              <a:pPr marL="285750" indent="-285750">
                <a:buFont typeface="Wingdings" panose="05000000000000000000" pitchFamily="2" charset="2"/>
                <a:buChar char="q"/>
              </a:pPr>
              <a:r>
                <a:rPr lang="en-IN" sz="1000" dirty="0">
                  <a:solidFill>
                    <a:schemeClr val="bg1"/>
                  </a:solidFill>
                </a:rPr>
                <a:t>Key Performance Metrics</a:t>
              </a:r>
            </a:p>
            <a:p>
              <a:pPr marL="628650" lvl="1" indent="-171450">
                <a:buFont typeface="Wingdings" panose="05000000000000000000" pitchFamily="2" charset="2"/>
                <a:buChar char="Ø"/>
              </a:pPr>
              <a:r>
                <a:rPr lang="en-IN" sz="1000" b="1" dirty="0">
                  <a:solidFill>
                    <a:schemeClr val="bg1"/>
                  </a:solidFill>
                </a:rPr>
                <a:t>MAE:</a:t>
              </a:r>
              <a:r>
                <a:rPr lang="en-IN" sz="1000" dirty="0">
                  <a:solidFill>
                    <a:schemeClr val="bg1"/>
                  </a:solidFill>
                </a:rPr>
                <a:t> 0.71</a:t>
              </a:r>
            </a:p>
            <a:p>
              <a:pPr marL="628650" lvl="1" indent="-171450">
                <a:buFont typeface="Wingdings" panose="05000000000000000000" pitchFamily="2" charset="2"/>
                <a:buChar char="Ø"/>
              </a:pPr>
              <a:r>
                <a:rPr lang="en-IN" sz="1000" b="1" dirty="0">
                  <a:solidFill>
                    <a:schemeClr val="bg1"/>
                  </a:solidFill>
                </a:rPr>
                <a:t>MAPE:</a:t>
              </a:r>
              <a:r>
                <a:rPr lang="en-IN" sz="1000" dirty="0">
                  <a:solidFill>
                    <a:schemeClr val="bg1"/>
                  </a:solidFill>
                </a:rPr>
                <a:t> 0.13 (13%)</a:t>
              </a:r>
            </a:p>
            <a:p>
              <a:pPr marL="628650" lvl="1" indent="-171450">
                <a:buFont typeface="Wingdings" panose="05000000000000000000" pitchFamily="2" charset="2"/>
                <a:buChar char="Ø"/>
              </a:pPr>
              <a:r>
                <a:rPr lang="en-IN" sz="1000" b="1" dirty="0">
                  <a:solidFill>
                    <a:schemeClr val="bg1"/>
                  </a:solidFill>
                </a:rPr>
                <a:t>RMSE:</a:t>
              </a:r>
              <a:r>
                <a:rPr lang="en-IN" sz="1000" dirty="0">
                  <a:solidFill>
                    <a:schemeClr val="bg1"/>
                  </a:solidFill>
                </a:rPr>
                <a:t> 0.93</a:t>
              </a:r>
            </a:p>
            <a:p>
              <a:pPr marL="628650" lvl="1" indent="-171450">
                <a:buFont typeface="Wingdings" panose="05000000000000000000" pitchFamily="2" charset="2"/>
                <a:buChar char="Ø"/>
              </a:pPr>
              <a:r>
                <a:rPr lang="en-IN" sz="1000" b="1" dirty="0">
                  <a:solidFill>
                    <a:schemeClr val="bg1"/>
                  </a:solidFill>
                </a:rPr>
                <a:t>R² Score:</a:t>
              </a:r>
              <a:r>
                <a:rPr lang="en-IN" sz="1000" dirty="0">
                  <a:solidFill>
                    <a:schemeClr val="bg1"/>
                  </a:solidFill>
                </a:rPr>
                <a:t> ~0.00</a:t>
              </a:r>
            </a:p>
          </p:txBody>
        </p:sp>
      </p:grpSp>
      <p:grpSp>
        <p:nvGrpSpPr>
          <p:cNvPr id="42" name="Group 41">
            <a:extLst>
              <a:ext uri="{FF2B5EF4-FFF2-40B4-BE49-F238E27FC236}">
                <a16:creationId xmlns:a16="http://schemas.microsoft.com/office/drawing/2014/main" id="{E767F6AB-DB68-402B-92E9-2363A7523D5E}"/>
              </a:ext>
            </a:extLst>
          </p:cNvPr>
          <p:cNvGrpSpPr/>
          <p:nvPr/>
        </p:nvGrpSpPr>
        <p:grpSpPr>
          <a:xfrm>
            <a:off x="232027" y="1017493"/>
            <a:ext cx="8042831" cy="1383616"/>
            <a:chOff x="208540" y="1141336"/>
            <a:chExt cx="8042831" cy="1383616"/>
          </a:xfrm>
        </p:grpSpPr>
        <p:sp>
          <p:nvSpPr>
            <p:cNvPr id="21" name="Rectangle 20">
              <a:extLst>
                <a:ext uri="{FF2B5EF4-FFF2-40B4-BE49-F238E27FC236}">
                  <a16:creationId xmlns:a16="http://schemas.microsoft.com/office/drawing/2014/main" id="{8589A462-AD6D-4469-B6DB-A1038FA59001}"/>
                </a:ext>
              </a:extLst>
            </p:cNvPr>
            <p:cNvSpPr/>
            <p:nvPr/>
          </p:nvSpPr>
          <p:spPr>
            <a:xfrm>
              <a:off x="208544" y="1666703"/>
              <a:ext cx="8042827" cy="839522"/>
            </a:xfrm>
            <a:prstGeom prst="rect">
              <a:avLst/>
            </a:prstGeom>
            <a:solidFill>
              <a:srgbClr val="EAB30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BC764D7A-9245-4329-A174-0765EE5E2D60}"/>
                </a:ext>
              </a:extLst>
            </p:cNvPr>
            <p:cNvSpPr txBox="1"/>
            <p:nvPr/>
          </p:nvSpPr>
          <p:spPr>
            <a:xfrm>
              <a:off x="1753101" y="1663178"/>
              <a:ext cx="6498270" cy="861774"/>
            </a:xfrm>
            <a:prstGeom prst="rect">
              <a:avLst/>
            </a:prstGeom>
            <a:noFill/>
          </p:spPr>
          <p:txBody>
            <a:bodyPr wrap="square" rtlCol="0">
              <a:spAutoFit/>
            </a:bodyPr>
            <a:lstStyle/>
            <a:p>
              <a:pPr marL="285750" indent="-285750">
                <a:buFont typeface="Wingdings" panose="05000000000000000000" pitchFamily="2" charset="2"/>
                <a:buChar char="q"/>
              </a:pPr>
              <a:r>
                <a:rPr lang="en-IN" sz="1000" dirty="0">
                  <a:solidFill>
                    <a:schemeClr val="bg1"/>
                  </a:solidFill>
                </a:rPr>
                <a:t>Performance Interpretation</a:t>
              </a:r>
            </a:p>
            <a:p>
              <a:pPr marL="628650" lvl="1" indent="-171450">
                <a:buFont typeface="Wingdings" panose="05000000000000000000" pitchFamily="2" charset="2"/>
                <a:buChar char="Ø"/>
              </a:pPr>
              <a:r>
                <a:rPr lang="en-US" sz="1000" dirty="0">
                  <a:solidFill>
                    <a:schemeClr val="bg1"/>
                  </a:solidFill>
                </a:rPr>
                <a:t>Low MAE and RMSE indicate predictions are </a:t>
              </a:r>
              <a:r>
                <a:rPr lang="en-US" sz="1000" b="1" dirty="0">
                  <a:solidFill>
                    <a:schemeClr val="bg1"/>
                  </a:solidFill>
                </a:rPr>
                <a:t>numerically close to the average purchase value</a:t>
              </a:r>
            </a:p>
            <a:p>
              <a:pPr marL="628650" lvl="1" indent="-171450">
                <a:buFont typeface="Wingdings" panose="05000000000000000000" pitchFamily="2" charset="2"/>
                <a:buChar char="Ø"/>
              </a:pPr>
              <a:r>
                <a:rPr lang="en-US" sz="1000" dirty="0">
                  <a:solidFill>
                    <a:schemeClr val="bg1"/>
                  </a:solidFill>
                </a:rPr>
                <a:t>However, </a:t>
              </a:r>
              <a:r>
                <a:rPr lang="en-US" sz="1000" b="1" dirty="0">
                  <a:solidFill>
                    <a:schemeClr val="bg1"/>
                  </a:solidFill>
                </a:rPr>
                <a:t>R² near zero</a:t>
              </a:r>
              <a:r>
                <a:rPr lang="en-US" sz="1000" dirty="0">
                  <a:solidFill>
                    <a:schemeClr val="bg1"/>
                  </a:solidFill>
                </a:rPr>
                <a:t> shows the model explains </a:t>
              </a:r>
              <a:r>
                <a:rPr lang="en-US" sz="1000" b="1" dirty="0">
                  <a:solidFill>
                    <a:schemeClr val="bg1"/>
                  </a:solidFill>
                </a:rPr>
                <a:t>almost none of the variability</a:t>
              </a:r>
              <a:r>
                <a:rPr lang="en-US" sz="1000" dirty="0">
                  <a:solidFill>
                    <a:schemeClr val="bg1"/>
                  </a:solidFill>
                </a:rPr>
                <a:t> in purchase amounts</a:t>
              </a:r>
              <a:endParaRPr lang="en-US" sz="1000" b="1" dirty="0">
                <a:solidFill>
                  <a:schemeClr val="bg1"/>
                </a:solidFill>
              </a:endParaRPr>
            </a:p>
            <a:p>
              <a:pPr marL="628650" lvl="1" indent="-171450">
                <a:buFont typeface="Wingdings" panose="05000000000000000000" pitchFamily="2" charset="2"/>
                <a:buChar char="Ø"/>
              </a:pPr>
              <a:r>
                <a:rPr lang="en-US" sz="1000" dirty="0">
                  <a:solidFill>
                    <a:schemeClr val="bg1"/>
                  </a:solidFill>
                </a:rPr>
                <a:t>Model fails to capture patterns beyond the overall mean</a:t>
              </a:r>
            </a:p>
          </p:txBody>
        </p:sp>
        <p:sp>
          <p:nvSpPr>
            <p:cNvPr id="30" name="Isosceles Triangle 29">
              <a:extLst>
                <a:ext uri="{FF2B5EF4-FFF2-40B4-BE49-F238E27FC236}">
                  <a16:creationId xmlns:a16="http://schemas.microsoft.com/office/drawing/2014/main" id="{3DA78788-052C-4E4C-8B29-1F309BAF4298}"/>
                </a:ext>
              </a:extLst>
            </p:cNvPr>
            <p:cNvSpPr/>
            <p:nvPr/>
          </p:nvSpPr>
          <p:spPr>
            <a:xfrm>
              <a:off x="208540" y="1141336"/>
              <a:ext cx="1322773" cy="607480"/>
            </a:xfrm>
            <a:prstGeom prst="triangle">
              <a:avLst/>
            </a:prstGeom>
            <a:solidFill>
              <a:srgbClr val="EAB3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1" name="Group 40">
            <a:extLst>
              <a:ext uri="{FF2B5EF4-FFF2-40B4-BE49-F238E27FC236}">
                <a16:creationId xmlns:a16="http://schemas.microsoft.com/office/drawing/2014/main" id="{FA3A7E8A-B8F7-4043-B0C2-E1ABAF571305}"/>
              </a:ext>
            </a:extLst>
          </p:cNvPr>
          <p:cNvGrpSpPr/>
          <p:nvPr/>
        </p:nvGrpSpPr>
        <p:grpSpPr>
          <a:xfrm>
            <a:off x="232027" y="1834563"/>
            <a:ext cx="8042831" cy="1371364"/>
            <a:chOff x="208540" y="1994626"/>
            <a:chExt cx="8042831" cy="1371364"/>
          </a:xfrm>
        </p:grpSpPr>
        <p:sp>
          <p:nvSpPr>
            <p:cNvPr id="24" name="Rectangle 23">
              <a:extLst>
                <a:ext uri="{FF2B5EF4-FFF2-40B4-BE49-F238E27FC236}">
                  <a16:creationId xmlns:a16="http://schemas.microsoft.com/office/drawing/2014/main" id="{C46E328B-DF5C-4806-A46F-5F2E189DAD43}"/>
                </a:ext>
              </a:extLst>
            </p:cNvPr>
            <p:cNvSpPr/>
            <p:nvPr/>
          </p:nvSpPr>
          <p:spPr>
            <a:xfrm>
              <a:off x="208544" y="2526468"/>
              <a:ext cx="8042827" cy="839522"/>
            </a:xfrm>
            <a:prstGeom prst="rect">
              <a:avLst/>
            </a:prstGeom>
            <a:solidFill>
              <a:srgbClr val="0F766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Isosceles Triangle 28">
              <a:extLst>
                <a:ext uri="{FF2B5EF4-FFF2-40B4-BE49-F238E27FC236}">
                  <a16:creationId xmlns:a16="http://schemas.microsoft.com/office/drawing/2014/main" id="{55637360-1ECF-4D05-B351-D92BF544233B}"/>
                </a:ext>
              </a:extLst>
            </p:cNvPr>
            <p:cNvSpPr/>
            <p:nvPr/>
          </p:nvSpPr>
          <p:spPr>
            <a:xfrm>
              <a:off x="208540" y="1994626"/>
              <a:ext cx="1322773" cy="607480"/>
            </a:xfrm>
            <a:prstGeom prst="triangle">
              <a:avLst/>
            </a:prstGeom>
            <a:solidFill>
              <a:srgbClr val="0F76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ED96BADB-D431-4E86-8377-CD5BE10AB5D9}"/>
                </a:ext>
              </a:extLst>
            </p:cNvPr>
            <p:cNvSpPr txBox="1"/>
            <p:nvPr/>
          </p:nvSpPr>
          <p:spPr>
            <a:xfrm>
              <a:off x="1753101" y="2524459"/>
              <a:ext cx="6333588" cy="707886"/>
            </a:xfrm>
            <a:prstGeom prst="rect">
              <a:avLst/>
            </a:prstGeom>
            <a:noFill/>
          </p:spPr>
          <p:txBody>
            <a:bodyPr wrap="square" rtlCol="0">
              <a:spAutoFit/>
            </a:bodyPr>
            <a:lstStyle/>
            <a:p>
              <a:pPr marL="285750" indent="-285750">
                <a:buFont typeface="Wingdings" panose="05000000000000000000" pitchFamily="2" charset="2"/>
                <a:buChar char="q"/>
              </a:pPr>
              <a:r>
                <a:rPr lang="en-IN" sz="1000" dirty="0">
                  <a:solidFill>
                    <a:schemeClr val="bg1"/>
                  </a:solidFill>
                </a:rPr>
                <a:t>Key Observation</a:t>
              </a:r>
            </a:p>
            <a:p>
              <a:pPr marL="628650" lvl="1" indent="-171450">
                <a:buFont typeface="Wingdings" panose="05000000000000000000" pitchFamily="2" charset="2"/>
                <a:buChar char="Ø"/>
              </a:pPr>
              <a:r>
                <a:rPr lang="en-IN" sz="1000" dirty="0">
                  <a:solidFill>
                    <a:schemeClr val="bg1"/>
                  </a:solidFill>
                </a:rPr>
                <a:t>Underfitting detected</a:t>
              </a:r>
              <a:endParaRPr lang="en-IN" sz="1000" b="1" dirty="0">
                <a:solidFill>
                  <a:schemeClr val="bg1"/>
                </a:solidFill>
              </a:endParaRPr>
            </a:p>
            <a:p>
              <a:pPr marL="628650" lvl="1" indent="-171450">
                <a:buFont typeface="Wingdings" panose="05000000000000000000" pitchFamily="2" charset="2"/>
                <a:buChar char="Ø"/>
              </a:pPr>
              <a:r>
                <a:rPr lang="en-US" sz="1000" dirty="0">
                  <a:solidFill>
                    <a:schemeClr val="bg1"/>
                  </a:solidFill>
                </a:rPr>
                <a:t>Predictions are overly simplistic and </a:t>
              </a:r>
              <a:r>
                <a:rPr lang="en-US" sz="1000" b="1" dirty="0">
                  <a:solidFill>
                    <a:schemeClr val="bg1"/>
                  </a:solidFill>
                </a:rPr>
                <a:t>cluster around the mean</a:t>
              </a:r>
              <a:r>
                <a:rPr lang="en-US" sz="1000" dirty="0">
                  <a:solidFill>
                    <a:schemeClr val="bg1"/>
                  </a:solidFill>
                </a:rPr>
                <a:t>, ignoring customer and category differences</a:t>
              </a:r>
              <a:endParaRPr lang="en-IN" sz="1000" dirty="0">
                <a:solidFill>
                  <a:schemeClr val="bg1"/>
                </a:solidFill>
              </a:endParaRPr>
            </a:p>
          </p:txBody>
        </p:sp>
      </p:grpSp>
      <p:grpSp>
        <p:nvGrpSpPr>
          <p:cNvPr id="40" name="Group 39">
            <a:extLst>
              <a:ext uri="{FF2B5EF4-FFF2-40B4-BE49-F238E27FC236}">
                <a16:creationId xmlns:a16="http://schemas.microsoft.com/office/drawing/2014/main" id="{C4EA75CF-585C-476A-A28B-8E21227D7098}"/>
              </a:ext>
            </a:extLst>
          </p:cNvPr>
          <p:cNvGrpSpPr/>
          <p:nvPr/>
        </p:nvGrpSpPr>
        <p:grpSpPr>
          <a:xfrm>
            <a:off x="231940" y="2726067"/>
            <a:ext cx="8042831" cy="1347478"/>
            <a:chOff x="208540" y="2883539"/>
            <a:chExt cx="8042831" cy="1347478"/>
          </a:xfrm>
        </p:grpSpPr>
        <p:sp>
          <p:nvSpPr>
            <p:cNvPr id="26" name="Rectangle 25">
              <a:extLst>
                <a:ext uri="{FF2B5EF4-FFF2-40B4-BE49-F238E27FC236}">
                  <a16:creationId xmlns:a16="http://schemas.microsoft.com/office/drawing/2014/main" id="{21350029-04BB-49CF-9FCF-B553D86113E7}"/>
                </a:ext>
              </a:extLst>
            </p:cNvPr>
            <p:cNvSpPr/>
            <p:nvPr/>
          </p:nvSpPr>
          <p:spPr>
            <a:xfrm>
              <a:off x="208544" y="3391495"/>
              <a:ext cx="8042827" cy="839522"/>
            </a:xfrm>
            <a:prstGeom prst="rect">
              <a:avLst/>
            </a:prstGeom>
            <a:solidFill>
              <a:srgbClr val="F5E6D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Isosceles Triangle 27">
              <a:extLst>
                <a:ext uri="{FF2B5EF4-FFF2-40B4-BE49-F238E27FC236}">
                  <a16:creationId xmlns:a16="http://schemas.microsoft.com/office/drawing/2014/main" id="{162435ED-0B3F-4877-8C60-351579CB9057}"/>
                </a:ext>
              </a:extLst>
            </p:cNvPr>
            <p:cNvSpPr/>
            <p:nvPr/>
          </p:nvSpPr>
          <p:spPr>
            <a:xfrm>
              <a:off x="208540" y="2883539"/>
              <a:ext cx="1322773" cy="607480"/>
            </a:xfrm>
            <a:prstGeom prst="triangle">
              <a:avLst/>
            </a:prstGeom>
            <a:solidFill>
              <a:srgbClr val="F5E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69E2F395-598A-4473-97CC-7D4E33F22E16}"/>
                </a:ext>
              </a:extLst>
            </p:cNvPr>
            <p:cNvSpPr txBox="1"/>
            <p:nvPr/>
          </p:nvSpPr>
          <p:spPr>
            <a:xfrm>
              <a:off x="1753101" y="3402450"/>
              <a:ext cx="4788804" cy="553998"/>
            </a:xfrm>
            <a:prstGeom prst="rect">
              <a:avLst/>
            </a:prstGeom>
            <a:noFill/>
          </p:spPr>
          <p:txBody>
            <a:bodyPr wrap="square" rtlCol="0">
              <a:spAutoFit/>
            </a:bodyPr>
            <a:lstStyle/>
            <a:p>
              <a:pPr marL="285750" indent="-285750">
                <a:buFont typeface="Wingdings" panose="05000000000000000000" pitchFamily="2" charset="2"/>
                <a:buChar char="q"/>
              </a:pPr>
              <a:r>
                <a:rPr lang="en-IN" sz="1000" dirty="0"/>
                <a:t>Business Impact</a:t>
              </a:r>
              <a:endParaRPr lang="en-IN" sz="1000" dirty="0">
                <a:solidFill>
                  <a:schemeClr val="bg1"/>
                </a:solidFill>
              </a:endParaRPr>
            </a:p>
            <a:p>
              <a:pPr marL="628650" lvl="1" indent="-171450">
                <a:buFont typeface="Wingdings" panose="05000000000000000000" pitchFamily="2" charset="2"/>
                <a:buChar char="Ø"/>
              </a:pPr>
              <a:r>
                <a:rPr lang="en-IN" sz="1000" dirty="0"/>
                <a:t>Limited usefulness for decision-making</a:t>
              </a:r>
              <a:endParaRPr lang="en-IN" sz="1000" b="1" dirty="0">
                <a:solidFill>
                  <a:schemeClr val="bg1"/>
                </a:solidFill>
              </a:endParaRPr>
            </a:p>
            <a:p>
              <a:pPr marL="628650" lvl="1" indent="-171450">
                <a:buFont typeface="Wingdings" panose="05000000000000000000" pitchFamily="2" charset="2"/>
                <a:buChar char="Ø"/>
              </a:pPr>
              <a:r>
                <a:rPr lang="en-US" sz="1000" dirty="0"/>
                <a:t>Inadequate for identifying high-value customers or revenue drivers</a:t>
              </a:r>
              <a:endParaRPr lang="en-IN" sz="1000" dirty="0">
                <a:solidFill>
                  <a:schemeClr val="bg1"/>
                </a:solidFill>
              </a:endParaRPr>
            </a:p>
          </p:txBody>
        </p:sp>
      </p:grpSp>
      <p:grpSp>
        <p:nvGrpSpPr>
          <p:cNvPr id="37" name="Group 36">
            <a:extLst>
              <a:ext uri="{FF2B5EF4-FFF2-40B4-BE49-F238E27FC236}">
                <a16:creationId xmlns:a16="http://schemas.microsoft.com/office/drawing/2014/main" id="{58570181-085E-49C3-B377-2D30D6FE37B2}"/>
              </a:ext>
            </a:extLst>
          </p:cNvPr>
          <p:cNvGrpSpPr/>
          <p:nvPr/>
        </p:nvGrpSpPr>
        <p:grpSpPr>
          <a:xfrm>
            <a:off x="231941" y="3582690"/>
            <a:ext cx="8042831" cy="1347478"/>
            <a:chOff x="208540" y="3725502"/>
            <a:chExt cx="8042831" cy="1347478"/>
          </a:xfrm>
        </p:grpSpPr>
        <p:sp>
          <p:nvSpPr>
            <p:cNvPr id="27" name="Rectangle 26">
              <a:extLst>
                <a:ext uri="{FF2B5EF4-FFF2-40B4-BE49-F238E27FC236}">
                  <a16:creationId xmlns:a16="http://schemas.microsoft.com/office/drawing/2014/main" id="{2157BBCC-A862-472C-8364-9390B6666220}"/>
                </a:ext>
              </a:extLst>
            </p:cNvPr>
            <p:cNvSpPr/>
            <p:nvPr/>
          </p:nvSpPr>
          <p:spPr>
            <a:xfrm>
              <a:off x="208544" y="4233458"/>
              <a:ext cx="8042827" cy="839522"/>
            </a:xfrm>
            <a:prstGeom prst="rect">
              <a:avLst/>
            </a:prstGeom>
            <a:solidFill>
              <a:srgbClr val="3F2A1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Isosceles Triangle 12">
              <a:extLst>
                <a:ext uri="{FF2B5EF4-FFF2-40B4-BE49-F238E27FC236}">
                  <a16:creationId xmlns:a16="http://schemas.microsoft.com/office/drawing/2014/main" id="{E4225A0B-1B92-48A1-9031-BE6F8B03BBB3}"/>
                </a:ext>
              </a:extLst>
            </p:cNvPr>
            <p:cNvSpPr/>
            <p:nvPr/>
          </p:nvSpPr>
          <p:spPr>
            <a:xfrm>
              <a:off x="208540" y="3725502"/>
              <a:ext cx="1322773" cy="607480"/>
            </a:xfrm>
            <a:prstGeom prst="triangle">
              <a:avLst/>
            </a:prstGeom>
            <a:solidFill>
              <a:srgbClr val="3F2A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A4922F61-B240-4686-9EB2-7054F8C2B70F}"/>
                </a:ext>
              </a:extLst>
            </p:cNvPr>
            <p:cNvSpPr txBox="1"/>
            <p:nvPr/>
          </p:nvSpPr>
          <p:spPr>
            <a:xfrm>
              <a:off x="1753101" y="4283142"/>
              <a:ext cx="6333588" cy="707886"/>
            </a:xfrm>
            <a:prstGeom prst="rect">
              <a:avLst/>
            </a:prstGeom>
            <a:noFill/>
          </p:spPr>
          <p:txBody>
            <a:bodyPr wrap="square" rtlCol="0">
              <a:spAutoFit/>
            </a:bodyPr>
            <a:lstStyle/>
            <a:p>
              <a:pPr marL="285750" indent="-285750">
                <a:buFont typeface="Wingdings" panose="05000000000000000000" pitchFamily="2" charset="2"/>
                <a:buChar char="q"/>
              </a:pPr>
              <a:r>
                <a:rPr lang="en-IN" sz="1000" dirty="0">
                  <a:solidFill>
                    <a:schemeClr val="bg1"/>
                  </a:solidFill>
                </a:rPr>
                <a:t>Decision &amp; Next Step</a:t>
              </a:r>
            </a:p>
            <a:p>
              <a:pPr marL="628650" lvl="1" indent="-171450">
                <a:buFont typeface="Wingdings" panose="05000000000000000000" pitchFamily="2" charset="2"/>
                <a:buChar char="Ø"/>
              </a:pPr>
              <a:r>
                <a:rPr lang="en-US" sz="1000" dirty="0">
                  <a:solidFill>
                    <a:schemeClr val="bg1"/>
                  </a:solidFill>
                </a:rPr>
                <a:t>Treat Linear Regression as a </a:t>
              </a:r>
              <a:r>
                <a:rPr lang="en-US" sz="1000" b="1" dirty="0">
                  <a:solidFill>
                    <a:schemeClr val="bg1"/>
                  </a:solidFill>
                </a:rPr>
                <a:t>baseline benchmark only</a:t>
              </a:r>
              <a:endParaRPr lang="en-IN" sz="1000" b="1" dirty="0">
                <a:solidFill>
                  <a:schemeClr val="bg1"/>
                </a:solidFill>
              </a:endParaRPr>
            </a:p>
            <a:p>
              <a:pPr marL="628650" lvl="1" indent="-171450">
                <a:buFont typeface="Wingdings" panose="05000000000000000000" pitchFamily="2" charset="2"/>
                <a:buChar char="Ø"/>
              </a:pPr>
              <a:r>
                <a:rPr lang="en-US" sz="1000" dirty="0">
                  <a:solidFill>
                    <a:schemeClr val="bg1"/>
                  </a:solidFill>
                </a:rPr>
                <a:t>Proceed with </a:t>
              </a:r>
              <a:r>
                <a:rPr lang="en-US" sz="1000" b="1" dirty="0">
                  <a:solidFill>
                    <a:schemeClr val="bg1"/>
                  </a:solidFill>
                </a:rPr>
                <a:t>non-linear models</a:t>
              </a:r>
              <a:r>
                <a:rPr lang="en-US" sz="1000" dirty="0">
                  <a:solidFill>
                    <a:schemeClr val="bg1"/>
                  </a:solidFill>
                </a:rPr>
                <a:t> (Random Forest, </a:t>
              </a:r>
              <a:r>
                <a:rPr lang="en-US" sz="1000" dirty="0" err="1">
                  <a:solidFill>
                    <a:schemeClr val="bg1"/>
                  </a:solidFill>
                </a:rPr>
                <a:t>XGBoost</a:t>
              </a:r>
              <a:r>
                <a:rPr lang="en-US" sz="1000" dirty="0">
                  <a:solidFill>
                    <a:schemeClr val="bg1"/>
                  </a:solidFill>
                </a:rPr>
                <a:t>) to capture complex spending behavior</a:t>
              </a:r>
              <a:endParaRPr lang="en-IN" sz="1000" dirty="0">
                <a:solidFill>
                  <a:schemeClr val="bg1"/>
                </a:solidFill>
              </a:endParaRPr>
            </a:p>
          </p:txBody>
        </p:sp>
      </p:grpSp>
    </p:spTree>
    <p:extLst>
      <p:ext uri="{BB962C8B-B14F-4D97-AF65-F5344CB8AC3E}">
        <p14:creationId xmlns:p14="http://schemas.microsoft.com/office/powerpoint/2010/main" val="29511770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72">
        <p159:morph option="byObject"/>
      </p:transition>
    </mc:Choice>
    <mc:Fallback>
      <p:transition spd="slow" advTm="272">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5" y="12075"/>
            <a:ext cx="12192000" cy="5899200"/>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5267924" y="5207034"/>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989" y="5989752"/>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713" y="6037065"/>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37893" y="5990079"/>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50113" y="6002776"/>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0716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95867" y="5433016"/>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552036" y="5923976"/>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0" name="TextBox 19">
            <a:extLst>
              <a:ext uri="{FF2B5EF4-FFF2-40B4-BE49-F238E27FC236}">
                <a16:creationId xmlns:a16="http://schemas.microsoft.com/office/drawing/2014/main" id="{D924EDB3-53CD-47C1-AAD1-1DB9951541F7}"/>
              </a:ext>
            </a:extLst>
          </p:cNvPr>
          <p:cNvSpPr txBox="1"/>
          <p:nvPr/>
        </p:nvSpPr>
        <p:spPr>
          <a:xfrm>
            <a:off x="3824243" y="242848"/>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ERROR ANALYSIS</a:t>
            </a:r>
            <a:endParaRPr lang="en-IN" sz="2000" b="1" u="sng" dirty="0">
              <a:solidFill>
                <a:schemeClr val="bg1"/>
              </a:solidFill>
              <a:latin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F4669C23-B664-4919-BD69-E2A52D862C1A}"/>
              </a:ext>
            </a:extLst>
          </p:cNvPr>
          <p:cNvGrpSpPr/>
          <p:nvPr/>
        </p:nvGrpSpPr>
        <p:grpSpPr>
          <a:xfrm>
            <a:off x="-10972129" y="506012"/>
            <a:ext cx="12191999" cy="2253342"/>
            <a:chOff x="-10972129" y="506012"/>
            <a:chExt cx="12191999" cy="2253342"/>
          </a:xfrm>
        </p:grpSpPr>
        <p:sp>
          <p:nvSpPr>
            <p:cNvPr id="5" name="Arrow: Right 4">
              <a:extLst>
                <a:ext uri="{FF2B5EF4-FFF2-40B4-BE49-F238E27FC236}">
                  <a16:creationId xmlns:a16="http://schemas.microsoft.com/office/drawing/2014/main" id="{8CC541A5-A2BD-47EA-BC60-17231DB4FE9B}"/>
                </a:ext>
              </a:extLst>
            </p:cNvPr>
            <p:cNvSpPr/>
            <p:nvPr/>
          </p:nvSpPr>
          <p:spPr>
            <a:xfrm>
              <a:off x="-10972129" y="506012"/>
              <a:ext cx="12191999" cy="2253342"/>
            </a:xfrm>
            <a:prstGeom prst="rightArrow">
              <a:avLst/>
            </a:prstGeom>
            <a:solidFill>
              <a:srgbClr val="88E96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A2EC99D-4504-42E5-A2F1-1F87C1938BF4}"/>
                </a:ext>
              </a:extLst>
            </p:cNvPr>
            <p:cNvSpPr txBox="1"/>
            <p:nvPr/>
          </p:nvSpPr>
          <p:spPr>
            <a:xfrm>
              <a:off x="-9715561" y="1288072"/>
              <a:ext cx="9715547"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1"/>
                  </a:solidFill>
                </a:rPr>
                <a:t>Represents the </a:t>
              </a:r>
              <a:r>
                <a:rPr lang="en-US" sz="1600" b="1" dirty="0">
                  <a:solidFill>
                    <a:schemeClr val="bg1"/>
                  </a:solidFill>
                </a:rPr>
                <a:t>average absolute difference</a:t>
              </a:r>
              <a:r>
                <a:rPr lang="en-US" sz="1600" dirty="0">
                  <a:solidFill>
                    <a:schemeClr val="bg1"/>
                  </a:solidFill>
                </a:rPr>
                <a:t> between predicted and actual purchase amounts</a:t>
              </a:r>
            </a:p>
            <a:p>
              <a:pPr marL="285750" indent="-285750">
                <a:buFont typeface="Arial" panose="020B0604020202020204" pitchFamily="34" charset="0"/>
                <a:buChar char="•"/>
              </a:pPr>
              <a:r>
                <a:rPr lang="en-US" sz="1600" dirty="0">
                  <a:solidFill>
                    <a:schemeClr val="bg1"/>
                  </a:solidFill>
                </a:rPr>
                <a:t>Measures </a:t>
              </a:r>
              <a:r>
                <a:rPr lang="en-US" sz="1600" b="1" dirty="0">
                  <a:solidFill>
                    <a:schemeClr val="bg1"/>
                  </a:solidFill>
                </a:rPr>
                <a:t>average prediction error as a percentage</a:t>
              </a:r>
              <a:endParaRPr lang="en-IN" sz="1600" dirty="0">
                <a:solidFill>
                  <a:schemeClr val="bg1"/>
                </a:solidFill>
              </a:endParaRPr>
            </a:p>
          </p:txBody>
        </p:sp>
      </p:grpSp>
      <p:grpSp>
        <p:nvGrpSpPr>
          <p:cNvPr id="17" name="Group 16">
            <a:extLst>
              <a:ext uri="{FF2B5EF4-FFF2-40B4-BE49-F238E27FC236}">
                <a16:creationId xmlns:a16="http://schemas.microsoft.com/office/drawing/2014/main" id="{DB238E2F-9690-457A-8132-D702D8395411}"/>
              </a:ext>
            </a:extLst>
          </p:cNvPr>
          <p:cNvGrpSpPr/>
          <p:nvPr/>
        </p:nvGrpSpPr>
        <p:grpSpPr>
          <a:xfrm>
            <a:off x="10969292" y="2707131"/>
            <a:ext cx="12160961" cy="2253342"/>
            <a:chOff x="10969292" y="2707131"/>
            <a:chExt cx="12160961" cy="2253342"/>
          </a:xfrm>
        </p:grpSpPr>
        <p:sp>
          <p:nvSpPr>
            <p:cNvPr id="21" name="Arrow: Right 20">
              <a:extLst>
                <a:ext uri="{FF2B5EF4-FFF2-40B4-BE49-F238E27FC236}">
                  <a16:creationId xmlns:a16="http://schemas.microsoft.com/office/drawing/2014/main" id="{95CF1A7C-993C-4033-9867-7AF2BB8B378B}"/>
                </a:ext>
              </a:extLst>
            </p:cNvPr>
            <p:cNvSpPr/>
            <p:nvPr/>
          </p:nvSpPr>
          <p:spPr>
            <a:xfrm flipH="1">
              <a:off x="10969292" y="2707131"/>
              <a:ext cx="12160961" cy="2253342"/>
            </a:xfrm>
            <a:prstGeom prst="rightArrow">
              <a:avLst/>
            </a:prstGeom>
            <a:solidFill>
              <a:srgbClr val="7CB9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63B7FE15-6158-4FBF-B110-C72FCBBC9E60}"/>
                </a:ext>
              </a:extLst>
            </p:cNvPr>
            <p:cNvSpPr txBox="1"/>
            <p:nvPr/>
          </p:nvSpPr>
          <p:spPr>
            <a:xfrm>
              <a:off x="12191995" y="3298581"/>
              <a:ext cx="9715547"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1"/>
                  </a:solidFill>
                </a:rPr>
                <a:t>Linear relationships were insufficient to capture complex customer spending behavior</a:t>
              </a:r>
            </a:p>
            <a:p>
              <a:pPr marL="285750" indent="-285750">
                <a:buFont typeface="Arial" panose="020B0604020202020204" pitchFamily="34" charset="0"/>
                <a:buChar char="•"/>
              </a:pPr>
              <a:r>
                <a:rPr lang="en-US" sz="1600" dirty="0">
                  <a:solidFill>
                    <a:schemeClr val="bg1"/>
                  </a:solidFill>
                </a:rPr>
                <a:t>High variability and non-linear patterns in purchase amounts reduced linear model accuracy</a:t>
              </a:r>
            </a:p>
            <a:p>
              <a:pPr marL="285750" indent="-285750">
                <a:buFont typeface="Arial" panose="020B0604020202020204" pitchFamily="34" charset="0"/>
                <a:buChar char="•"/>
              </a:pPr>
              <a:r>
                <a:rPr lang="en-US" sz="1600" dirty="0">
                  <a:solidFill>
                    <a:schemeClr val="bg1"/>
                  </a:solidFill>
                </a:rPr>
                <a:t>Errors indicate </a:t>
              </a:r>
              <a:r>
                <a:rPr lang="en-US" sz="1600" b="1" dirty="0">
                  <a:solidFill>
                    <a:schemeClr val="bg1"/>
                  </a:solidFill>
                </a:rPr>
                <a:t>underfitting</a:t>
              </a:r>
              <a:r>
                <a:rPr lang="en-US" sz="1600" dirty="0">
                  <a:solidFill>
                    <a:schemeClr val="bg1"/>
                  </a:solidFill>
                </a:rPr>
                <a:t>, where the model oversimplifies patterns and predicts values close to the mean</a:t>
              </a:r>
            </a:p>
          </p:txBody>
        </p:sp>
      </p:grpSp>
    </p:spTree>
    <p:extLst>
      <p:ext uri="{BB962C8B-B14F-4D97-AF65-F5344CB8AC3E}">
        <p14:creationId xmlns:p14="http://schemas.microsoft.com/office/powerpoint/2010/main" val="21192660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86">
        <p159:morph option="byObject"/>
      </p:transition>
    </mc:Choice>
    <mc:Fallback>
      <p:transition spd="slow" advTm="186">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5" y="12075"/>
            <a:ext cx="12192000" cy="5899200"/>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5267924" y="5207034"/>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989" y="5989752"/>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713" y="6037065"/>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37893" y="5990079"/>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50113" y="6002776"/>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0716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95867" y="5433016"/>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552036" y="5923976"/>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1905" y="5911278"/>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0" name="TextBox 19">
            <a:extLst>
              <a:ext uri="{FF2B5EF4-FFF2-40B4-BE49-F238E27FC236}">
                <a16:creationId xmlns:a16="http://schemas.microsoft.com/office/drawing/2014/main" id="{D924EDB3-53CD-47C1-AAD1-1DB9951541F7}"/>
              </a:ext>
            </a:extLst>
          </p:cNvPr>
          <p:cNvSpPr txBox="1"/>
          <p:nvPr/>
        </p:nvSpPr>
        <p:spPr>
          <a:xfrm>
            <a:off x="3824243" y="242848"/>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ERROR ANALYSIS</a:t>
            </a:r>
            <a:endParaRPr lang="en-IN" sz="2000" b="1" u="sng" dirty="0">
              <a:solidFill>
                <a:schemeClr val="bg1"/>
              </a:solidFill>
              <a:latin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F4669C23-B664-4919-BD69-E2A52D862C1A}"/>
              </a:ext>
            </a:extLst>
          </p:cNvPr>
          <p:cNvGrpSpPr/>
          <p:nvPr/>
        </p:nvGrpSpPr>
        <p:grpSpPr>
          <a:xfrm>
            <a:off x="-14" y="405804"/>
            <a:ext cx="12191999" cy="2253342"/>
            <a:chOff x="-10972129" y="506012"/>
            <a:chExt cx="12191999" cy="2253342"/>
          </a:xfrm>
        </p:grpSpPr>
        <p:sp>
          <p:nvSpPr>
            <p:cNvPr id="5" name="Arrow: Right 4">
              <a:extLst>
                <a:ext uri="{FF2B5EF4-FFF2-40B4-BE49-F238E27FC236}">
                  <a16:creationId xmlns:a16="http://schemas.microsoft.com/office/drawing/2014/main" id="{8CC541A5-A2BD-47EA-BC60-17231DB4FE9B}"/>
                </a:ext>
              </a:extLst>
            </p:cNvPr>
            <p:cNvSpPr/>
            <p:nvPr/>
          </p:nvSpPr>
          <p:spPr>
            <a:xfrm>
              <a:off x="-10972129" y="506012"/>
              <a:ext cx="12191999" cy="2253342"/>
            </a:xfrm>
            <a:prstGeom prst="rightArrow">
              <a:avLst/>
            </a:prstGeom>
            <a:solidFill>
              <a:srgbClr val="88E96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A2EC99D-4504-42E5-A2F1-1F87C1938BF4}"/>
                </a:ext>
              </a:extLst>
            </p:cNvPr>
            <p:cNvSpPr txBox="1"/>
            <p:nvPr/>
          </p:nvSpPr>
          <p:spPr>
            <a:xfrm>
              <a:off x="-9715561" y="1288072"/>
              <a:ext cx="9715547"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1"/>
                  </a:solidFill>
                </a:rPr>
                <a:t>Represents the </a:t>
              </a:r>
              <a:r>
                <a:rPr lang="en-US" sz="1600" b="1" dirty="0">
                  <a:solidFill>
                    <a:schemeClr val="bg1"/>
                  </a:solidFill>
                </a:rPr>
                <a:t>average absolute difference</a:t>
              </a:r>
              <a:r>
                <a:rPr lang="en-US" sz="1600" dirty="0">
                  <a:solidFill>
                    <a:schemeClr val="bg1"/>
                  </a:solidFill>
                </a:rPr>
                <a:t> between predicted and actual purchase amounts</a:t>
              </a:r>
            </a:p>
            <a:p>
              <a:pPr marL="285750" indent="-285750">
                <a:buFont typeface="Arial" panose="020B0604020202020204" pitchFamily="34" charset="0"/>
                <a:buChar char="•"/>
              </a:pPr>
              <a:r>
                <a:rPr lang="en-US" sz="1600" dirty="0">
                  <a:solidFill>
                    <a:schemeClr val="bg1"/>
                  </a:solidFill>
                </a:rPr>
                <a:t>Measures </a:t>
              </a:r>
              <a:r>
                <a:rPr lang="en-US" sz="1600" b="1" dirty="0">
                  <a:solidFill>
                    <a:schemeClr val="bg1"/>
                  </a:solidFill>
                </a:rPr>
                <a:t>average prediction error as a percentage</a:t>
              </a:r>
              <a:endParaRPr lang="en-IN" sz="1600" dirty="0">
                <a:solidFill>
                  <a:schemeClr val="bg1"/>
                </a:solidFill>
              </a:endParaRPr>
            </a:p>
          </p:txBody>
        </p:sp>
      </p:grpSp>
      <p:grpSp>
        <p:nvGrpSpPr>
          <p:cNvPr id="17" name="Group 16">
            <a:extLst>
              <a:ext uri="{FF2B5EF4-FFF2-40B4-BE49-F238E27FC236}">
                <a16:creationId xmlns:a16="http://schemas.microsoft.com/office/drawing/2014/main" id="{DB238E2F-9690-457A-8132-D702D8395411}"/>
              </a:ext>
            </a:extLst>
          </p:cNvPr>
          <p:cNvGrpSpPr/>
          <p:nvPr/>
        </p:nvGrpSpPr>
        <p:grpSpPr>
          <a:xfrm>
            <a:off x="31039" y="2720599"/>
            <a:ext cx="12160961" cy="2253342"/>
            <a:chOff x="10969292" y="2707131"/>
            <a:chExt cx="12160961" cy="2253342"/>
          </a:xfrm>
        </p:grpSpPr>
        <p:sp>
          <p:nvSpPr>
            <p:cNvPr id="21" name="Arrow: Right 20">
              <a:extLst>
                <a:ext uri="{FF2B5EF4-FFF2-40B4-BE49-F238E27FC236}">
                  <a16:creationId xmlns:a16="http://schemas.microsoft.com/office/drawing/2014/main" id="{95CF1A7C-993C-4033-9867-7AF2BB8B378B}"/>
                </a:ext>
              </a:extLst>
            </p:cNvPr>
            <p:cNvSpPr/>
            <p:nvPr/>
          </p:nvSpPr>
          <p:spPr>
            <a:xfrm flipH="1">
              <a:off x="10969292" y="2707131"/>
              <a:ext cx="12160961" cy="2253342"/>
            </a:xfrm>
            <a:prstGeom prst="rightArrow">
              <a:avLst/>
            </a:prstGeom>
            <a:solidFill>
              <a:srgbClr val="7CB9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63B7FE15-6158-4FBF-B110-C72FCBBC9E60}"/>
                </a:ext>
              </a:extLst>
            </p:cNvPr>
            <p:cNvSpPr txBox="1"/>
            <p:nvPr/>
          </p:nvSpPr>
          <p:spPr>
            <a:xfrm>
              <a:off x="12191995" y="3298581"/>
              <a:ext cx="9715547"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1"/>
                  </a:solidFill>
                </a:rPr>
                <a:t>Linear relationships were insufficient to capture complex customer spending behavior</a:t>
              </a:r>
            </a:p>
            <a:p>
              <a:pPr marL="285750" indent="-285750">
                <a:buFont typeface="Arial" panose="020B0604020202020204" pitchFamily="34" charset="0"/>
                <a:buChar char="•"/>
              </a:pPr>
              <a:r>
                <a:rPr lang="en-US" sz="1600" dirty="0">
                  <a:solidFill>
                    <a:schemeClr val="bg1"/>
                  </a:solidFill>
                </a:rPr>
                <a:t>High variability and non-linear patterns in purchase amounts reduced linear model accuracy</a:t>
              </a:r>
            </a:p>
            <a:p>
              <a:pPr marL="285750" indent="-285750">
                <a:buFont typeface="Arial" panose="020B0604020202020204" pitchFamily="34" charset="0"/>
                <a:buChar char="•"/>
              </a:pPr>
              <a:r>
                <a:rPr lang="en-US" sz="1600" dirty="0">
                  <a:solidFill>
                    <a:schemeClr val="bg1"/>
                  </a:solidFill>
                </a:rPr>
                <a:t>Errors indicate </a:t>
              </a:r>
              <a:r>
                <a:rPr lang="en-US" sz="1600" b="1" dirty="0">
                  <a:solidFill>
                    <a:schemeClr val="bg1"/>
                  </a:solidFill>
                </a:rPr>
                <a:t>underfitting</a:t>
              </a:r>
              <a:r>
                <a:rPr lang="en-US" sz="1600" dirty="0">
                  <a:solidFill>
                    <a:schemeClr val="bg1"/>
                  </a:solidFill>
                </a:rPr>
                <a:t>, where the model oversimplifies patterns and predicts values close to the mean</a:t>
              </a:r>
            </a:p>
          </p:txBody>
        </p:sp>
      </p:grpSp>
    </p:spTree>
    <p:extLst>
      <p:ext uri="{BB962C8B-B14F-4D97-AF65-F5344CB8AC3E}">
        <p14:creationId xmlns:p14="http://schemas.microsoft.com/office/powerpoint/2010/main" val="5520801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616">
        <p159:morph option="byObject"/>
      </p:transition>
    </mc:Choice>
    <mc:Fallback>
      <p:transition spd="slow" advTm="616">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0"/>
            <a:ext cx="12192000" cy="5886499"/>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6DDB08F0-86FB-44CB-84E9-8163356D8E32}"/>
              </a:ext>
            </a:extLst>
          </p:cNvPr>
          <p:cNvSpPr/>
          <p:nvPr/>
        </p:nvSpPr>
        <p:spPr>
          <a:xfrm>
            <a:off x="6235904" y="5155901"/>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989" y="5989752"/>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713" y="6037065"/>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37893" y="5990079"/>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50113" y="6002776"/>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0716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56129" y="5930932"/>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552036" y="5923976"/>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429098" y="5381882"/>
            <a:ext cx="665439" cy="648633"/>
          </a:xfrm>
          <a:prstGeom prst="rect">
            <a:avLst/>
          </a:prstGeom>
        </p:spPr>
      </p:pic>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2968" y="5935829"/>
            <a:ext cx="573721" cy="559232"/>
          </a:xfrm>
          <a:prstGeom prst="rect">
            <a:avLst/>
          </a:prstGeom>
        </p:spPr>
      </p:pic>
      <p:sp>
        <p:nvSpPr>
          <p:cNvPr id="20" name="TextBox 19">
            <a:extLst>
              <a:ext uri="{FF2B5EF4-FFF2-40B4-BE49-F238E27FC236}">
                <a16:creationId xmlns:a16="http://schemas.microsoft.com/office/drawing/2014/main" id="{779B5209-D981-485E-83A9-EE7B494C9C82}"/>
              </a:ext>
            </a:extLst>
          </p:cNvPr>
          <p:cNvSpPr txBox="1"/>
          <p:nvPr/>
        </p:nvSpPr>
        <p:spPr>
          <a:xfrm>
            <a:off x="1082192" y="155799"/>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FEATURE ENGINEERING STRATEGY</a:t>
            </a:r>
            <a:endParaRPr lang="en-IN" sz="2000" b="1" u="sng" dirty="0">
              <a:solidFill>
                <a:schemeClr val="bg1"/>
              </a:solidFill>
              <a:latin typeface="Calibri" panose="020F0502020204030204" pitchFamily="34" charset="0"/>
              <a:cs typeface="Calibri" panose="020F0502020204030204" pitchFamily="34" charset="0"/>
            </a:endParaRPr>
          </a:p>
        </p:txBody>
      </p:sp>
      <p:grpSp>
        <p:nvGrpSpPr>
          <p:cNvPr id="29" name="Group 28">
            <a:extLst>
              <a:ext uri="{FF2B5EF4-FFF2-40B4-BE49-F238E27FC236}">
                <a16:creationId xmlns:a16="http://schemas.microsoft.com/office/drawing/2014/main" id="{28340085-50FB-4912-AB21-77B0A5EAC5F2}"/>
              </a:ext>
            </a:extLst>
          </p:cNvPr>
          <p:cNvGrpSpPr/>
          <p:nvPr/>
        </p:nvGrpSpPr>
        <p:grpSpPr>
          <a:xfrm>
            <a:off x="482869" y="880784"/>
            <a:ext cx="5753035" cy="4390136"/>
            <a:chOff x="1246179" y="1103868"/>
            <a:chExt cx="7114018" cy="4037290"/>
          </a:xfrm>
        </p:grpSpPr>
        <p:grpSp>
          <p:nvGrpSpPr>
            <p:cNvPr id="13" name="Group 12">
              <a:extLst>
                <a:ext uri="{FF2B5EF4-FFF2-40B4-BE49-F238E27FC236}">
                  <a16:creationId xmlns:a16="http://schemas.microsoft.com/office/drawing/2014/main" id="{C27D29B3-F6E2-4410-85AD-DD81AC48B6B4}"/>
                </a:ext>
              </a:extLst>
            </p:cNvPr>
            <p:cNvGrpSpPr/>
            <p:nvPr/>
          </p:nvGrpSpPr>
          <p:grpSpPr>
            <a:xfrm>
              <a:off x="1246179" y="1103868"/>
              <a:ext cx="3514725" cy="1962150"/>
              <a:chOff x="1219200" y="1114425"/>
              <a:chExt cx="3514725" cy="1962150"/>
            </a:xfrm>
          </p:grpSpPr>
          <p:sp>
            <p:nvSpPr>
              <p:cNvPr id="5" name="Rectangle: Rounded Corners 4">
                <a:extLst>
                  <a:ext uri="{FF2B5EF4-FFF2-40B4-BE49-F238E27FC236}">
                    <a16:creationId xmlns:a16="http://schemas.microsoft.com/office/drawing/2014/main" id="{70273FF9-4F00-4462-BFB4-5A2668DAA502}"/>
                  </a:ext>
                </a:extLst>
              </p:cNvPr>
              <p:cNvSpPr/>
              <p:nvPr/>
            </p:nvSpPr>
            <p:spPr>
              <a:xfrm>
                <a:off x="1219200" y="1114425"/>
                <a:ext cx="3514725" cy="1962150"/>
              </a:xfrm>
              <a:prstGeom prst="roundRect">
                <a:avLst/>
              </a:prstGeom>
              <a:solidFill>
                <a:srgbClr val="F2502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089E8C67-6122-4D0B-A04B-E881E611CFA3}"/>
                  </a:ext>
                </a:extLst>
              </p:cNvPr>
              <p:cNvSpPr txBox="1"/>
              <p:nvPr/>
            </p:nvSpPr>
            <p:spPr>
              <a:xfrm>
                <a:off x="1388336" y="1235618"/>
                <a:ext cx="3176452" cy="1631216"/>
              </a:xfrm>
              <a:prstGeom prst="rect">
                <a:avLst/>
              </a:prstGeom>
              <a:noFill/>
            </p:spPr>
            <p:txBody>
              <a:bodyPr wrap="square" rtlCol="0">
                <a:spAutoFit/>
              </a:bodyPr>
              <a:lstStyle/>
              <a:p>
                <a:pPr algn="ctr"/>
                <a:r>
                  <a:rPr lang="en-IN" sz="1400" b="1" dirty="0">
                    <a:solidFill>
                      <a:schemeClr val="bg1"/>
                    </a:solidFill>
                  </a:rPr>
                  <a:t>Log Transformation of Target Variable</a:t>
                </a:r>
              </a:p>
              <a:p>
                <a:pPr marL="285750" indent="-285750">
                  <a:buFont typeface="Wingdings" panose="05000000000000000000" pitchFamily="2" charset="2"/>
                  <a:buChar char="Ø"/>
                </a:pPr>
                <a:r>
                  <a:rPr lang="en-US" sz="1200" dirty="0">
                    <a:solidFill>
                      <a:schemeClr val="bg1"/>
                    </a:solidFill>
                  </a:rPr>
                  <a:t>Applied </a:t>
                </a:r>
                <a:r>
                  <a:rPr lang="en-US" sz="1200" b="1" dirty="0">
                    <a:solidFill>
                      <a:schemeClr val="bg1"/>
                    </a:solidFill>
                  </a:rPr>
                  <a:t>log / log1p transformation</a:t>
                </a:r>
                <a:r>
                  <a:rPr lang="en-US" sz="1200" dirty="0">
                    <a:solidFill>
                      <a:schemeClr val="bg1"/>
                    </a:solidFill>
                  </a:rPr>
                  <a:t> to the purchase amount</a:t>
                </a:r>
                <a:endParaRPr lang="en-IN" sz="1200" b="1" dirty="0">
                  <a:solidFill>
                    <a:schemeClr val="bg1"/>
                  </a:solidFill>
                </a:endParaRPr>
              </a:p>
              <a:p>
                <a:pPr marL="285750" indent="-285750">
                  <a:buFont typeface="Wingdings" panose="05000000000000000000" pitchFamily="2" charset="2"/>
                  <a:buChar char="Ø"/>
                </a:pPr>
                <a:r>
                  <a:rPr lang="en-US" sz="1200" dirty="0">
                    <a:solidFill>
                      <a:schemeClr val="bg1"/>
                    </a:solidFill>
                  </a:rPr>
                  <a:t>Reduced skewness and stabilized variance</a:t>
                </a:r>
                <a:endParaRPr lang="en-IN" sz="1200" b="1" dirty="0">
                  <a:solidFill>
                    <a:schemeClr val="bg1"/>
                  </a:solidFill>
                </a:endParaRPr>
              </a:p>
              <a:p>
                <a:pPr marL="285750" indent="-285750">
                  <a:buFont typeface="Wingdings" panose="05000000000000000000" pitchFamily="2" charset="2"/>
                  <a:buChar char="Ø"/>
                </a:pPr>
                <a:r>
                  <a:rPr lang="en-US" sz="1200" dirty="0">
                    <a:solidFill>
                      <a:schemeClr val="bg1"/>
                    </a:solidFill>
                  </a:rPr>
                  <a:t>Improved model learning by handling high-value transactions effectively</a:t>
                </a:r>
                <a:endParaRPr lang="en-IN" sz="1200" b="1" dirty="0">
                  <a:solidFill>
                    <a:schemeClr val="bg1"/>
                  </a:solidFill>
                </a:endParaRPr>
              </a:p>
            </p:txBody>
          </p:sp>
        </p:grpSp>
        <p:grpSp>
          <p:nvGrpSpPr>
            <p:cNvPr id="17" name="Group 16">
              <a:extLst>
                <a:ext uri="{FF2B5EF4-FFF2-40B4-BE49-F238E27FC236}">
                  <a16:creationId xmlns:a16="http://schemas.microsoft.com/office/drawing/2014/main" id="{039C1911-A629-49FA-B2E8-73017EEB842A}"/>
                </a:ext>
              </a:extLst>
            </p:cNvPr>
            <p:cNvGrpSpPr/>
            <p:nvPr/>
          </p:nvGrpSpPr>
          <p:grpSpPr>
            <a:xfrm>
              <a:off x="4845472" y="1103868"/>
              <a:ext cx="3514725" cy="1962150"/>
              <a:chOff x="4845472" y="1114425"/>
              <a:chExt cx="3514725" cy="1962150"/>
            </a:xfrm>
          </p:grpSpPr>
          <p:sp>
            <p:nvSpPr>
              <p:cNvPr id="21" name="Rectangle: Rounded Corners 20">
                <a:extLst>
                  <a:ext uri="{FF2B5EF4-FFF2-40B4-BE49-F238E27FC236}">
                    <a16:creationId xmlns:a16="http://schemas.microsoft.com/office/drawing/2014/main" id="{19B1D809-7D9D-47F9-8F51-91A4409AB7B3}"/>
                  </a:ext>
                </a:extLst>
              </p:cNvPr>
              <p:cNvSpPr/>
              <p:nvPr/>
            </p:nvSpPr>
            <p:spPr>
              <a:xfrm>
                <a:off x="4845472" y="1114425"/>
                <a:ext cx="3514725" cy="1962150"/>
              </a:xfrm>
              <a:prstGeom prst="roundRect">
                <a:avLst/>
              </a:prstGeom>
              <a:solidFill>
                <a:srgbClr val="FFB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50D51062-1C4D-4C19-92EC-4937D32938AD}"/>
                  </a:ext>
                </a:extLst>
              </p:cNvPr>
              <p:cNvSpPr txBox="1"/>
              <p:nvPr/>
            </p:nvSpPr>
            <p:spPr>
              <a:xfrm>
                <a:off x="5014608" y="1272361"/>
                <a:ext cx="3176452" cy="1631216"/>
              </a:xfrm>
              <a:prstGeom prst="rect">
                <a:avLst/>
              </a:prstGeom>
              <a:noFill/>
            </p:spPr>
            <p:txBody>
              <a:bodyPr wrap="square" rtlCol="0">
                <a:spAutoFit/>
              </a:bodyPr>
              <a:lstStyle/>
              <a:p>
                <a:pPr algn="ctr"/>
                <a:r>
                  <a:rPr lang="en-US" sz="1400" dirty="0">
                    <a:solidFill>
                      <a:schemeClr val="bg1"/>
                    </a:solidFill>
                  </a:rPr>
                  <a:t>Feature Scaling of Independent Variables</a:t>
                </a:r>
              </a:p>
              <a:p>
                <a:pPr marL="171450" indent="-171450">
                  <a:buFont typeface="Wingdings" panose="05000000000000000000" pitchFamily="2" charset="2"/>
                  <a:buChar char="Ø"/>
                </a:pPr>
                <a:r>
                  <a:rPr lang="en-US" sz="1200" dirty="0">
                    <a:solidFill>
                      <a:schemeClr val="bg1"/>
                    </a:solidFill>
                  </a:rPr>
                  <a:t>Used </a:t>
                </a:r>
                <a:r>
                  <a:rPr lang="en-US" sz="1200" b="1" dirty="0">
                    <a:solidFill>
                      <a:schemeClr val="bg1"/>
                    </a:solidFill>
                  </a:rPr>
                  <a:t>Min–Max Scaling</a:t>
                </a:r>
                <a:r>
                  <a:rPr lang="en-US" sz="1200" dirty="0">
                    <a:solidFill>
                      <a:schemeClr val="bg1"/>
                    </a:solidFill>
                  </a:rPr>
                  <a:t> to normalize feature ranges</a:t>
                </a:r>
              </a:p>
              <a:p>
                <a:pPr marL="171450" indent="-171450">
                  <a:buFont typeface="Wingdings" panose="05000000000000000000" pitchFamily="2" charset="2"/>
                  <a:buChar char="Ø"/>
                </a:pPr>
                <a:r>
                  <a:rPr lang="en-US" sz="1200" dirty="0">
                    <a:solidFill>
                      <a:schemeClr val="bg1"/>
                    </a:solidFill>
                  </a:rPr>
                  <a:t>Ensured consistent contribution of all features</a:t>
                </a:r>
              </a:p>
              <a:p>
                <a:pPr marL="171450" indent="-171450">
                  <a:buFont typeface="Wingdings" panose="05000000000000000000" pitchFamily="2" charset="2"/>
                  <a:buChar char="Ø"/>
                </a:pPr>
                <a:r>
                  <a:rPr lang="en-US" sz="1200" dirty="0">
                    <a:solidFill>
                      <a:schemeClr val="bg1"/>
                    </a:solidFill>
                  </a:rPr>
                  <a:t>Enhanced model convergence and numerical stability</a:t>
                </a:r>
                <a:endParaRPr lang="en-IN" sz="1200" b="1" dirty="0">
                  <a:solidFill>
                    <a:schemeClr val="bg1"/>
                  </a:solidFill>
                </a:endParaRPr>
              </a:p>
            </p:txBody>
          </p:sp>
        </p:grpSp>
        <p:grpSp>
          <p:nvGrpSpPr>
            <p:cNvPr id="28" name="Group 27">
              <a:extLst>
                <a:ext uri="{FF2B5EF4-FFF2-40B4-BE49-F238E27FC236}">
                  <a16:creationId xmlns:a16="http://schemas.microsoft.com/office/drawing/2014/main" id="{5AD34ACF-C067-493E-8036-6A67691B7522}"/>
                </a:ext>
              </a:extLst>
            </p:cNvPr>
            <p:cNvGrpSpPr/>
            <p:nvPr/>
          </p:nvGrpSpPr>
          <p:grpSpPr>
            <a:xfrm>
              <a:off x="2914373" y="3179008"/>
              <a:ext cx="3514725" cy="1962150"/>
              <a:chOff x="2914373" y="3179008"/>
              <a:chExt cx="3514725" cy="1962150"/>
            </a:xfrm>
          </p:grpSpPr>
          <p:sp>
            <p:nvSpPr>
              <p:cNvPr id="24" name="Rectangle: Rounded Corners 23">
                <a:extLst>
                  <a:ext uri="{FF2B5EF4-FFF2-40B4-BE49-F238E27FC236}">
                    <a16:creationId xmlns:a16="http://schemas.microsoft.com/office/drawing/2014/main" id="{495F3BDA-08F6-456A-B361-7E6353D84E79}"/>
                  </a:ext>
                </a:extLst>
              </p:cNvPr>
              <p:cNvSpPr/>
              <p:nvPr/>
            </p:nvSpPr>
            <p:spPr>
              <a:xfrm>
                <a:off x="2914373" y="3179008"/>
                <a:ext cx="3514725" cy="1962150"/>
              </a:xfrm>
              <a:prstGeom prst="roundRect">
                <a:avLst/>
              </a:prstGeom>
              <a:solidFill>
                <a:srgbClr val="00A4E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B64A6B22-ABBE-467A-97F8-73A63D9E4A7D}"/>
                  </a:ext>
                </a:extLst>
              </p:cNvPr>
              <p:cNvSpPr txBox="1"/>
              <p:nvPr/>
            </p:nvSpPr>
            <p:spPr>
              <a:xfrm>
                <a:off x="3083509" y="3234511"/>
                <a:ext cx="3176452" cy="861774"/>
              </a:xfrm>
              <a:prstGeom prst="rect">
                <a:avLst/>
              </a:prstGeom>
              <a:noFill/>
            </p:spPr>
            <p:txBody>
              <a:bodyPr wrap="square" rtlCol="0">
                <a:spAutoFit/>
              </a:bodyPr>
              <a:lstStyle/>
              <a:p>
                <a:pPr algn="ctr"/>
                <a:r>
                  <a:rPr lang="en-IN" sz="1400" dirty="0">
                    <a:solidFill>
                      <a:schemeClr val="bg1"/>
                    </a:solidFill>
                  </a:rPr>
                  <a:t>Why This Strategy Matters</a:t>
                </a:r>
              </a:p>
              <a:p>
                <a:pPr marL="171450" indent="-171450">
                  <a:buFont typeface="Wingdings" panose="05000000000000000000" pitchFamily="2" charset="2"/>
                  <a:buChar char="Ø"/>
                </a:pPr>
                <a:r>
                  <a:rPr lang="en-IN" sz="1200" dirty="0">
                    <a:solidFill>
                      <a:schemeClr val="bg1"/>
                    </a:solidFill>
                  </a:rPr>
                  <a:t>Improves prediction accuracy</a:t>
                </a:r>
              </a:p>
              <a:p>
                <a:pPr marL="171450" indent="-171450">
                  <a:buFont typeface="Wingdings" panose="05000000000000000000" pitchFamily="2" charset="2"/>
                  <a:buChar char="Ø"/>
                </a:pPr>
                <a:r>
                  <a:rPr lang="en-IN" sz="1200" dirty="0">
                    <a:solidFill>
                      <a:schemeClr val="bg1"/>
                    </a:solidFill>
                  </a:rPr>
                  <a:t>Reduces impact of outliers</a:t>
                </a:r>
              </a:p>
              <a:p>
                <a:pPr marL="171450" indent="-171450">
                  <a:buFont typeface="Wingdings" panose="05000000000000000000" pitchFamily="2" charset="2"/>
                  <a:buChar char="Ø"/>
                </a:pPr>
                <a:r>
                  <a:rPr lang="en-US" sz="1200" dirty="0">
                    <a:solidFill>
                      <a:schemeClr val="bg1"/>
                    </a:solidFill>
                  </a:rPr>
                  <a:t>Aligns data with model assumptions</a:t>
                </a:r>
                <a:endParaRPr lang="en-IN" sz="1200" b="1" dirty="0">
                  <a:solidFill>
                    <a:schemeClr val="bg1"/>
                  </a:solidFill>
                </a:endParaRPr>
              </a:p>
            </p:txBody>
          </p:sp>
        </p:grpSp>
      </p:grpSp>
      <p:sp>
        <p:nvSpPr>
          <p:cNvPr id="30" name="TextBox 29">
            <a:extLst>
              <a:ext uri="{FF2B5EF4-FFF2-40B4-BE49-F238E27FC236}">
                <a16:creationId xmlns:a16="http://schemas.microsoft.com/office/drawing/2014/main" id="{7B2686DD-35DD-4800-975E-378A0B9D4579}"/>
              </a:ext>
            </a:extLst>
          </p:cNvPr>
          <p:cNvSpPr txBox="1"/>
          <p:nvPr/>
        </p:nvSpPr>
        <p:spPr>
          <a:xfrm>
            <a:off x="7408223" y="139452"/>
            <a:ext cx="4074481" cy="400110"/>
          </a:xfrm>
          <a:prstGeom prst="rect">
            <a:avLst/>
          </a:prstGeom>
          <a:noFill/>
        </p:spPr>
        <p:txBody>
          <a:bodyPr wrap="square" rtlCol="0">
            <a:spAutoFit/>
          </a:bodyPr>
          <a:lstStyle/>
          <a:p>
            <a:pPr algn="ctr"/>
            <a:r>
              <a:rPr lang="en-US" sz="2000" b="1" u="sng" dirty="0">
                <a:solidFill>
                  <a:schemeClr val="bg1"/>
                </a:solidFill>
                <a:latin typeface="Calibri" panose="020F0502020204030204" pitchFamily="34" charset="0"/>
                <a:cs typeface="Calibri" panose="020F0502020204030204" pitchFamily="34" charset="0"/>
              </a:rPr>
              <a:t>MODEL IMPROVEMENT APPROACH</a:t>
            </a:r>
            <a:endParaRPr lang="en-IN" sz="2000" b="1" u="sng" dirty="0">
              <a:solidFill>
                <a:schemeClr val="bg1"/>
              </a:solidFill>
              <a:latin typeface="Calibri" panose="020F0502020204030204" pitchFamily="34" charset="0"/>
              <a:cs typeface="Calibri" panose="020F0502020204030204" pitchFamily="34" charset="0"/>
            </a:endParaRPr>
          </a:p>
        </p:txBody>
      </p:sp>
      <p:grpSp>
        <p:nvGrpSpPr>
          <p:cNvPr id="43" name="Group 42">
            <a:extLst>
              <a:ext uri="{FF2B5EF4-FFF2-40B4-BE49-F238E27FC236}">
                <a16:creationId xmlns:a16="http://schemas.microsoft.com/office/drawing/2014/main" id="{44CE84FB-9333-401B-B25F-05F0E0728DE5}"/>
              </a:ext>
            </a:extLst>
          </p:cNvPr>
          <p:cNvGrpSpPr/>
          <p:nvPr/>
        </p:nvGrpSpPr>
        <p:grpSpPr>
          <a:xfrm>
            <a:off x="6630151" y="902398"/>
            <a:ext cx="4852553" cy="4224044"/>
            <a:chOff x="6630151" y="895679"/>
            <a:chExt cx="4852553" cy="4224044"/>
          </a:xfrm>
        </p:grpSpPr>
        <p:grpSp>
          <p:nvGrpSpPr>
            <p:cNvPr id="39" name="Group 38">
              <a:extLst>
                <a:ext uri="{FF2B5EF4-FFF2-40B4-BE49-F238E27FC236}">
                  <a16:creationId xmlns:a16="http://schemas.microsoft.com/office/drawing/2014/main" id="{DB43091B-97AF-442C-B523-06291142CA15}"/>
                </a:ext>
              </a:extLst>
            </p:cNvPr>
            <p:cNvGrpSpPr/>
            <p:nvPr/>
          </p:nvGrpSpPr>
          <p:grpSpPr>
            <a:xfrm>
              <a:off x="6630151" y="895679"/>
              <a:ext cx="2377937" cy="2047570"/>
              <a:chOff x="6630151" y="895679"/>
              <a:chExt cx="2377937" cy="2047570"/>
            </a:xfrm>
          </p:grpSpPr>
          <p:sp>
            <p:nvSpPr>
              <p:cNvPr id="31" name="Rectangle: Rounded Corners 30">
                <a:extLst>
                  <a:ext uri="{FF2B5EF4-FFF2-40B4-BE49-F238E27FC236}">
                    <a16:creationId xmlns:a16="http://schemas.microsoft.com/office/drawing/2014/main" id="{CB8A02BF-41C5-4150-B842-736D61EA05AD}"/>
                  </a:ext>
                </a:extLst>
              </p:cNvPr>
              <p:cNvSpPr/>
              <p:nvPr/>
            </p:nvSpPr>
            <p:spPr>
              <a:xfrm>
                <a:off x="6630151" y="895679"/>
                <a:ext cx="2377937" cy="2047570"/>
              </a:xfrm>
              <a:prstGeom prst="roundRect">
                <a:avLst/>
              </a:prstGeom>
              <a:solidFill>
                <a:srgbClr val="F2502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DC642D29-AF35-4B46-BC8B-A1CEA23A81E7}"/>
                  </a:ext>
                </a:extLst>
              </p:cNvPr>
              <p:cNvSpPr txBox="1"/>
              <p:nvPr/>
            </p:nvSpPr>
            <p:spPr>
              <a:xfrm>
                <a:off x="6709410" y="971501"/>
                <a:ext cx="2219418" cy="1731243"/>
              </a:xfrm>
              <a:prstGeom prst="rect">
                <a:avLst/>
              </a:prstGeom>
              <a:noFill/>
            </p:spPr>
            <p:txBody>
              <a:bodyPr wrap="square" rtlCol="0">
                <a:spAutoFit/>
              </a:bodyPr>
              <a:lstStyle/>
              <a:p>
                <a:pPr algn="ctr"/>
                <a:r>
                  <a:rPr lang="en-IN" sz="1200" dirty="0">
                    <a:solidFill>
                      <a:schemeClr val="bg1"/>
                    </a:solidFill>
                  </a:rPr>
                  <a:t>Log-Scale Training</a:t>
                </a:r>
              </a:p>
              <a:p>
                <a:pPr marL="285750" indent="-285750">
                  <a:buFont typeface="Wingdings" panose="05000000000000000000" pitchFamily="2" charset="2"/>
                  <a:buChar char="Ø"/>
                </a:pPr>
                <a:r>
                  <a:rPr lang="en-US" sz="1050" dirty="0">
                    <a:solidFill>
                      <a:schemeClr val="bg1"/>
                    </a:solidFill>
                  </a:rPr>
                  <a:t>Trained models on </a:t>
                </a:r>
                <a:r>
                  <a:rPr lang="en-US" sz="1050" b="1" dirty="0">
                    <a:solidFill>
                      <a:schemeClr val="bg1"/>
                    </a:solidFill>
                  </a:rPr>
                  <a:t>log-transformed purchase amounts</a:t>
                </a:r>
                <a:endParaRPr lang="en-IN" sz="1050" b="1" dirty="0">
                  <a:solidFill>
                    <a:schemeClr val="bg1"/>
                  </a:solidFill>
                </a:endParaRPr>
              </a:p>
              <a:p>
                <a:pPr marL="285750" indent="-285750">
                  <a:buFont typeface="Wingdings" panose="05000000000000000000" pitchFamily="2" charset="2"/>
                  <a:buChar char="Ø"/>
                </a:pPr>
                <a:r>
                  <a:rPr lang="en-US" sz="1050" dirty="0">
                    <a:solidFill>
                      <a:schemeClr val="bg1"/>
                    </a:solidFill>
                  </a:rPr>
                  <a:t>Reduced skewness and impact of extreme values</a:t>
                </a:r>
                <a:endParaRPr lang="en-IN" sz="1050" b="1" dirty="0">
                  <a:solidFill>
                    <a:schemeClr val="bg1"/>
                  </a:solidFill>
                </a:endParaRPr>
              </a:p>
              <a:p>
                <a:pPr marL="285750" indent="-285750">
                  <a:buFont typeface="Wingdings" panose="05000000000000000000" pitchFamily="2" charset="2"/>
                  <a:buChar char="Ø"/>
                </a:pPr>
                <a:r>
                  <a:rPr lang="en-US" sz="1050" dirty="0">
                    <a:solidFill>
                      <a:schemeClr val="bg1"/>
                    </a:solidFill>
                  </a:rPr>
                  <a:t>Improved model stability and prediction consistency</a:t>
                </a:r>
                <a:endParaRPr lang="en-IN" sz="1050" b="1" dirty="0">
                  <a:solidFill>
                    <a:schemeClr val="bg1"/>
                  </a:solidFill>
                </a:endParaRPr>
              </a:p>
              <a:p>
                <a:pPr marL="285750" indent="-285750">
                  <a:buFont typeface="Wingdings" panose="05000000000000000000" pitchFamily="2" charset="2"/>
                  <a:buChar char="Ø"/>
                </a:pPr>
                <a:r>
                  <a:rPr lang="en-US" sz="1050" dirty="0">
                    <a:solidFill>
                      <a:schemeClr val="bg1"/>
                    </a:solidFill>
                  </a:rPr>
                  <a:t>Enabled better learning of relative spending differences</a:t>
                </a:r>
                <a:endParaRPr lang="en-IN" sz="1050" dirty="0">
                  <a:solidFill>
                    <a:schemeClr val="bg1"/>
                  </a:solidFill>
                </a:endParaRPr>
              </a:p>
            </p:txBody>
          </p:sp>
        </p:grpSp>
        <p:grpSp>
          <p:nvGrpSpPr>
            <p:cNvPr id="40" name="Group 39">
              <a:extLst>
                <a:ext uri="{FF2B5EF4-FFF2-40B4-BE49-F238E27FC236}">
                  <a16:creationId xmlns:a16="http://schemas.microsoft.com/office/drawing/2014/main" id="{29042C1E-B3FC-45DA-95C6-05FE034E97AA}"/>
                </a:ext>
              </a:extLst>
            </p:cNvPr>
            <p:cNvGrpSpPr/>
            <p:nvPr/>
          </p:nvGrpSpPr>
          <p:grpSpPr>
            <a:xfrm>
              <a:off x="9104767" y="895679"/>
              <a:ext cx="2377937" cy="2047570"/>
              <a:chOff x="9104767" y="895679"/>
              <a:chExt cx="2377937" cy="2047570"/>
            </a:xfrm>
          </p:grpSpPr>
          <p:sp>
            <p:nvSpPr>
              <p:cNvPr id="32" name="Rectangle: Rounded Corners 31">
                <a:extLst>
                  <a:ext uri="{FF2B5EF4-FFF2-40B4-BE49-F238E27FC236}">
                    <a16:creationId xmlns:a16="http://schemas.microsoft.com/office/drawing/2014/main" id="{D171988B-F92E-4D6E-A59C-B0ABB7B38798}"/>
                  </a:ext>
                </a:extLst>
              </p:cNvPr>
              <p:cNvSpPr/>
              <p:nvPr/>
            </p:nvSpPr>
            <p:spPr>
              <a:xfrm>
                <a:off x="9104767" y="895679"/>
                <a:ext cx="2377937" cy="2047570"/>
              </a:xfrm>
              <a:prstGeom prst="roundRect">
                <a:avLst/>
              </a:prstGeom>
              <a:solidFill>
                <a:srgbClr val="00A4E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86DEF8EF-A1C9-4D58-8291-BCDB13C5E86A}"/>
                  </a:ext>
                </a:extLst>
              </p:cNvPr>
              <p:cNvSpPr txBox="1"/>
              <p:nvPr/>
            </p:nvSpPr>
            <p:spPr>
              <a:xfrm>
                <a:off x="9184026" y="971501"/>
                <a:ext cx="2219418" cy="1569660"/>
              </a:xfrm>
              <a:prstGeom prst="rect">
                <a:avLst/>
              </a:prstGeom>
              <a:noFill/>
            </p:spPr>
            <p:txBody>
              <a:bodyPr wrap="square" rtlCol="0">
                <a:spAutoFit/>
              </a:bodyPr>
              <a:lstStyle/>
              <a:p>
                <a:pPr algn="ctr"/>
                <a:r>
                  <a:rPr lang="en-IN" sz="1200" dirty="0">
                    <a:solidFill>
                      <a:schemeClr val="bg1"/>
                    </a:solidFill>
                  </a:rPr>
                  <a:t>Improved Encoding Strategy</a:t>
                </a:r>
              </a:p>
              <a:p>
                <a:pPr marL="171450" indent="-171450">
                  <a:buFont typeface="Wingdings" panose="05000000000000000000" pitchFamily="2" charset="2"/>
                  <a:buChar char="Ø"/>
                </a:pPr>
                <a:r>
                  <a:rPr lang="en-US" sz="1050" dirty="0">
                    <a:solidFill>
                      <a:schemeClr val="bg1"/>
                    </a:solidFill>
                  </a:rPr>
                  <a:t>Applied </a:t>
                </a:r>
                <a:r>
                  <a:rPr lang="en-US" sz="1050" b="1" dirty="0">
                    <a:solidFill>
                      <a:schemeClr val="bg1"/>
                    </a:solidFill>
                  </a:rPr>
                  <a:t>one-hot encoding</a:t>
                </a:r>
                <a:r>
                  <a:rPr lang="en-US" sz="1050" dirty="0">
                    <a:solidFill>
                      <a:schemeClr val="bg1"/>
                    </a:solidFill>
                  </a:rPr>
                  <a:t> for multi-category variables</a:t>
                </a:r>
              </a:p>
              <a:p>
                <a:pPr marL="171450" indent="-171450">
                  <a:buFont typeface="Wingdings" panose="05000000000000000000" pitchFamily="2" charset="2"/>
                  <a:buChar char="Ø"/>
                </a:pPr>
                <a:r>
                  <a:rPr lang="en-US" sz="1050" dirty="0">
                    <a:solidFill>
                      <a:schemeClr val="bg1"/>
                    </a:solidFill>
                  </a:rPr>
                  <a:t>Used binary encoding for true binary features</a:t>
                </a:r>
              </a:p>
              <a:p>
                <a:pPr marL="171450" indent="-171450">
                  <a:buFont typeface="Wingdings" panose="05000000000000000000" pitchFamily="2" charset="2"/>
                  <a:buChar char="Ø"/>
                </a:pPr>
                <a:r>
                  <a:rPr lang="en-IN" sz="1050" dirty="0">
                    <a:solidFill>
                      <a:schemeClr val="bg1"/>
                    </a:solidFill>
                  </a:rPr>
                  <a:t>Prevented artificial ordinal relationships</a:t>
                </a:r>
                <a:endParaRPr lang="en-US" sz="1050" dirty="0">
                  <a:solidFill>
                    <a:schemeClr val="bg1"/>
                  </a:solidFill>
                </a:endParaRPr>
              </a:p>
              <a:p>
                <a:pPr marL="171450" indent="-171450">
                  <a:buFont typeface="Wingdings" panose="05000000000000000000" pitchFamily="2" charset="2"/>
                  <a:buChar char="Ø"/>
                </a:pPr>
                <a:r>
                  <a:rPr lang="en-US" sz="1050" dirty="0">
                    <a:solidFill>
                      <a:schemeClr val="bg1"/>
                    </a:solidFill>
                  </a:rPr>
                  <a:t>Enhanced interpretability and coefficient reliability</a:t>
                </a:r>
                <a:endParaRPr lang="en-IN" sz="1050" dirty="0">
                  <a:solidFill>
                    <a:schemeClr val="bg1"/>
                  </a:solidFill>
                </a:endParaRPr>
              </a:p>
            </p:txBody>
          </p:sp>
        </p:grpSp>
        <p:grpSp>
          <p:nvGrpSpPr>
            <p:cNvPr id="42" name="Group 41">
              <a:extLst>
                <a:ext uri="{FF2B5EF4-FFF2-40B4-BE49-F238E27FC236}">
                  <a16:creationId xmlns:a16="http://schemas.microsoft.com/office/drawing/2014/main" id="{0F0FDBA5-6D1E-4387-A625-472A574DCB0E}"/>
                </a:ext>
              </a:extLst>
            </p:cNvPr>
            <p:cNvGrpSpPr/>
            <p:nvPr/>
          </p:nvGrpSpPr>
          <p:grpSpPr>
            <a:xfrm>
              <a:off x="6630151" y="3072153"/>
              <a:ext cx="2377937" cy="2047570"/>
              <a:chOff x="6630151" y="3072153"/>
              <a:chExt cx="2377937" cy="2047570"/>
            </a:xfrm>
          </p:grpSpPr>
          <p:sp>
            <p:nvSpPr>
              <p:cNvPr id="33" name="Rectangle: Rounded Corners 32">
                <a:extLst>
                  <a:ext uri="{FF2B5EF4-FFF2-40B4-BE49-F238E27FC236}">
                    <a16:creationId xmlns:a16="http://schemas.microsoft.com/office/drawing/2014/main" id="{9C7BA505-3A0B-4363-B08D-3597C6C94583}"/>
                  </a:ext>
                </a:extLst>
              </p:cNvPr>
              <p:cNvSpPr/>
              <p:nvPr/>
            </p:nvSpPr>
            <p:spPr>
              <a:xfrm>
                <a:off x="6630151" y="3072153"/>
                <a:ext cx="2377937" cy="2047570"/>
              </a:xfrm>
              <a:prstGeom prst="roundRect">
                <a:avLst/>
              </a:prstGeom>
              <a:solidFill>
                <a:srgbClr val="FFB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5131FE08-39B1-4E2F-AEB7-AA8EBC0C2295}"/>
                  </a:ext>
                </a:extLst>
              </p:cNvPr>
              <p:cNvSpPr txBox="1"/>
              <p:nvPr/>
            </p:nvSpPr>
            <p:spPr>
              <a:xfrm>
                <a:off x="6708173" y="3197638"/>
                <a:ext cx="2219418" cy="1569660"/>
              </a:xfrm>
              <a:prstGeom prst="rect">
                <a:avLst/>
              </a:prstGeom>
              <a:noFill/>
            </p:spPr>
            <p:txBody>
              <a:bodyPr wrap="square" rtlCol="0">
                <a:spAutoFit/>
              </a:bodyPr>
              <a:lstStyle/>
              <a:p>
                <a:pPr algn="ctr"/>
                <a:r>
                  <a:rPr lang="en-IN" sz="1200" dirty="0">
                    <a:solidFill>
                      <a:schemeClr val="bg1"/>
                    </a:solidFill>
                  </a:rPr>
                  <a:t>Model Tuning</a:t>
                </a:r>
              </a:p>
              <a:p>
                <a:pPr marL="171450" indent="-171450">
                  <a:buFont typeface="Wingdings" panose="05000000000000000000" pitchFamily="2" charset="2"/>
                  <a:buChar char="Ø"/>
                </a:pPr>
                <a:r>
                  <a:rPr lang="en-US" sz="1050" dirty="0">
                    <a:solidFill>
                      <a:schemeClr val="bg1"/>
                    </a:solidFill>
                  </a:rPr>
                  <a:t>Optimized model parameters to reduce bias and variance</a:t>
                </a:r>
                <a:endParaRPr lang="en-IN" sz="1050" dirty="0">
                  <a:solidFill>
                    <a:schemeClr val="bg1"/>
                  </a:solidFill>
                </a:endParaRPr>
              </a:p>
              <a:p>
                <a:pPr marL="171450" indent="-171450">
                  <a:buFont typeface="Wingdings" panose="05000000000000000000" pitchFamily="2" charset="2"/>
                  <a:buChar char="Ø"/>
                </a:pPr>
                <a:r>
                  <a:rPr lang="en-US" sz="1050" dirty="0">
                    <a:solidFill>
                      <a:schemeClr val="bg1"/>
                    </a:solidFill>
                  </a:rPr>
                  <a:t>Improved learning capacity beyond baseline performance</a:t>
                </a:r>
                <a:endParaRPr lang="en-IN" sz="1050" dirty="0">
                  <a:solidFill>
                    <a:schemeClr val="bg1"/>
                  </a:solidFill>
                </a:endParaRPr>
              </a:p>
              <a:p>
                <a:pPr marL="171450" indent="-171450">
                  <a:buFont typeface="Wingdings" panose="05000000000000000000" pitchFamily="2" charset="2"/>
                  <a:buChar char="Ø"/>
                </a:pPr>
                <a:r>
                  <a:rPr lang="en-US" sz="1050" dirty="0">
                    <a:solidFill>
                      <a:schemeClr val="bg1"/>
                    </a:solidFill>
                  </a:rPr>
                  <a:t>Balanced model complexity and generalization</a:t>
                </a:r>
                <a:endParaRPr lang="en-IN" sz="1050" dirty="0">
                  <a:solidFill>
                    <a:schemeClr val="bg1"/>
                  </a:solidFill>
                </a:endParaRPr>
              </a:p>
              <a:p>
                <a:pPr marL="171450" indent="-171450">
                  <a:buFont typeface="Wingdings" panose="05000000000000000000" pitchFamily="2" charset="2"/>
                  <a:buChar char="Ø"/>
                </a:pPr>
                <a:r>
                  <a:rPr lang="en-US" sz="1050" dirty="0">
                    <a:solidFill>
                      <a:schemeClr val="bg1"/>
                    </a:solidFill>
                  </a:rPr>
                  <a:t>Achieved better fit to underlying data patterns</a:t>
                </a:r>
                <a:endParaRPr lang="en-IN" sz="1050" dirty="0">
                  <a:solidFill>
                    <a:schemeClr val="bg1"/>
                  </a:solidFill>
                </a:endParaRPr>
              </a:p>
            </p:txBody>
          </p:sp>
        </p:grpSp>
        <p:grpSp>
          <p:nvGrpSpPr>
            <p:cNvPr id="41" name="Group 40">
              <a:extLst>
                <a:ext uri="{FF2B5EF4-FFF2-40B4-BE49-F238E27FC236}">
                  <a16:creationId xmlns:a16="http://schemas.microsoft.com/office/drawing/2014/main" id="{5DCD3C3D-3324-484A-83F0-33FE22D26D89}"/>
                </a:ext>
              </a:extLst>
            </p:cNvPr>
            <p:cNvGrpSpPr/>
            <p:nvPr/>
          </p:nvGrpSpPr>
          <p:grpSpPr>
            <a:xfrm>
              <a:off x="9104767" y="3072153"/>
              <a:ext cx="2377937" cy="2047570"/>
              <a:chOff x="9104767" y="3072153"/>
              <a:chExt cx="2377937" cy="2047570"/>
            </a:xfrm>
          </p:grpSpPr>
          <p:sp>
            <p:nvSpPr>
              <p:cNvPr id="34" name="Rectangle: Rounded Corners 33">
                <a:extLst>
                  <a:ext uri="{FF2B5EF4-FFF2-40B4-BE49-F238E27FC236}">
                    <a16:creationId xmlns:a16="http://schemas.microsoft.com/office/drawing/2014/main" id="{AE24ABB9-F713-4FED-BFFF-FB410141EBCA}"/>
                  </a:ext>
                </a:extLst>
              </p:cNvPr>
              <p:cNvSpPr/>
              <p:nvPr/>
            </p:nvSpPr>
            <p:spPr>
              <a:xfrm>
                <a:off x="9104767" y="3072153"/>
                <a:ext cx="2377937" cy="2047570"/>
              </a:xfrm>
              <a:prstGeom prst="roundRect">
                <a:avLst/>
              </a:prstGeom>
              <a:solidFill>
                <a:srgbClr val="7FBA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5A37A1DF-101E-49EC-A7C5-AAC24D6BC33B}"/>
                  </a:ext>
                </a:extLst>
              </p:cNvPr>
              <p:cNvSpPr txBox="1"/>
              <p:nvPr/>
            </p:nvSpPr>
            <p:spPr>
              <a:xfrm>
                <a:off x="9217521" y="3197638"/>
                <a:ext cx="2219418" cy="1569660"/>
              </a:xfrm>
              <a:prstGeom prst="rect">
                <a:avLst/>
              </a:prstGeom>
              <a:noFill/>
            </p:spPr>
            <p:txBody>
              <a:bodyPr wrap="square" rtlCol="0">
                <a:spAutoFit/>
              </a:bodyPr>
              <a:lstStyle/>
              <a:p>
                <a:pPr algn="ctr"/>
                <a:r>
                  <a:rPr lang="en-IN" sz="1200" dirty="0">
                    <a:solidFill>
                      <a:schemeClr val="bg1"/>
                    </a:solidFill>
                  </a:rPr>
                  <a:t>Error-Focused Optimization</a:t>
                </a:r>
              </a:p>
              <a:p>
                <a:pPr marL="171450" indent="-171450">
                  <a:buFont typeface="Wingdings" panose="05000000000000000000" pitchFamily="2" charset="2"/>
                  <a:buChar char="Ø"/>
                </a:pPr>
                <a:r>
                  <a:rPr lang="en-US" sz="1050" dirty="0">
                    <a:solidFill>
                      <a:schemeClr val="bg1"/>
                    </a:solidFill>
                  </a:rPr>
                  <a:t>Evaluated models using </a:t>
                </a:r>
                <a:r>
                  <a:rPr lang="en-US" sz="1050" b="1" dirty="0">
                    <a:solidFill>
                      <a:schemeClr val="bg1"/>
                    </a:solidFill>
                  </a:rPr>
                  <a:t>MAE, MAPE, RMSE, and R²</a:t>
                </a:r>
                <a:endParaRPr lang="en-IN" sz="1050" b="1" dirty="0">
                  <a:solidFill>
                    <a:schemeClr val="bg1"/>
                  </a:solidFill>
                </a:endParaRPr>
              </a:p>
              <a:p>
                <a:pPr marL="171450" indent="-171450">
                  <a:buFont typeface="Wingdings" panose="05000000000000000000" pitchFamily="2" charset="2"/>
                  <a:buChar char="Ø"/>
                </a:pPr>
                <a:r>
                  <a:rPr lang="en-US" sz="1050" dirty="0">
                    <a:solidFill>
                      <a:schemeClr val="bg1"/>
                    </a:solidFill>
                  </a:rPr>
                  <a:t>Focused on reducing business-relevant errors (MAE, MAPE)</a:t>
                </a:r>
                <a:endParaRPr lang="en-IN" sz="1050" b="1" dirty="0">
                  <a:solidFill>
                    <a:schemeClr val="bg1"/>
                  </a:solidFill>
                </a:endParaRPr>
              </a:p>
              <a:p>
                <a:pPr marL="171450" indent="-171450">
                  <a:buFont typeface="Wingdings" panose="05000000000000000000" pitchFamily="2" charset="2"/>
                  <a:buChar char="Ø"/>
                </a:pPr>
                <a:r>
                  <a:rPr lang="en-US" sz="1050" dirty="0">
                    <a:solidFill>
                      <a:schemeClr val="bg1"/>
                    </a:solidFill>
                  </a:rPr>
                  <a:t>Analyzed residuals to detect underfitting</a:t>
                </a:r>
                <a:endParaRPr lang="en-IN" sz="1050" b="1" dirty="0">
                  <a:solidFill>
                    <a:schemeClr val="bg1"/>
                  </a:solidFill>
                </a:endParaRPr>
              </a:p>
              <a:p>
                <a:pPr marL="171450" indent="-171450">
                  <a:buFont typeface="Wingdings" panose="05000000000000000000" pitchFamily="2" charset="2"/>
                  <a:buChar char="Ø"/>
                </a:pPr>
                <a:r>
                  <a:rPr lang="en-US" sz="1050" dirty="0">
                    <a:solidFill>
                      <a:schemeClr val="bg1"/>
                    </a:solidFill>
                  </a:rPr>
                  <a:t>Guided selection of more advanced, non-linear models</a:t>
                </a:r>
                <a:endParaRPr lang="en-IN" sz="1050" dirty="0">
                  <a:solidFill>
                    <a:schemeClr val="bg1"/>
                  </a:solidFill>
                </a:endParaRPr>
              </a:p>
            </p:txBody>
          </p:sp>
        </p:grpSp>
      </p:grpSp>
    </p:spTree>
    <p:extLst>
      <p:ext uri="{BB962C8B-B14F-4D97-AF65-F5344CB8AC3E}">
        <p14:creationId xmlns:p14="http://schemas.microsoft.com/office/powerpoint/2010/main" val="35148260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89">
        <p159:morph option="byObject"/>
      </p:transition>
    </mc:Choice>
    <mc:Fallback>
      <p:transition spd="slow" advTm="89">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0338B-A52C-44F9-A804-7DBAD2001E82}"/>
              </a:ext>
            </a:extLst>
          </p:cNvPr>
          <p:cNvSpPr/>
          <p:nvPr/>
        </p:nvSpPr>
        <p:spPr>
          <a:xfrm>
            <a:off x="0" y="0"/>
            <a:ext cx="12192000" cy="5899202"/>
          </a:xfrm>
          <a:prstGeom prst="roundRect">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1EEBD834-A0E7-49DD-8BEE-0BA58196A0BE}"/>
              </a:ext>
            </a:extLst>
          </p:cNvPr>
          <p:cNvSpPr/>
          <p:nvPr/>
        </p:nvSpPr>
        <p:spPr>
          <a:xfrm>
            <a:off x="5" y="5899202"/>
            <a:ext cx="12191999" cy="985580"/>
          </a:xfrm>
          <a:prstGeom prst="roundRect">
            <a:avLst>
              <a:gd name="adj" fmla="val 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Document with solid fill">
            <a:extLst>
              <a:ext uri="{FF2B5EF4-FFF2-40B4-BE49-F238E27FC236}">
                <a16:creationId xmlns:a16="http://schemas.microsoft.com/office/drawing/2014/main" id="{706B0569-CA6A-44BF-9F8D-C60CAAB2E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97" y="6002559"/>
            <a:ext cx="554324" cy="540327"/>
          </a:xfrm>
          <a:prstGeom prst="rect">
            <a:avLst/>
          </a:prstGeom>
        </p:spPr>
      </p:pic>
      <p:pic>
        <p:nvPicPr>
          <p:cNvPr id="8" name="Graphic 7" descr="Database with solid fill">
            <a:extLst>
              <a:ext uri="{FF2B5EF4-FFF2-40B4-BE49-F238E27FC236}">
                <a16:creationId xmlns:a16="http://schemas.microsoft.com/office/drawing/2014/main" id="{EBF9438C-8364-45BA-A2B7-4E998EDE0D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989" y="5989752"/>
            <a:ext cx="590407" cy="575497"/>
          </a:xfrm>
          <a:prstGeom prst="rect">
            <a:avLst/>
          </a:prstGeom>
        </p:spPr>
      </p:pic>
      <p:pic>
        <p:nvPicPr>
          <p:cNvPr id="10" name="Graphic 9" descr="Research with solid fill">
            <a:extLst>
              <a:ext uri="{FF2B5EF4-FFF2-40B4-BE49-F238E27FC236}">
                <a16:creationId xmlns:a16="http://schemas.microsoft.com/office/drawing/2014/main" id="{DE0FCFC9-65AB-44E7-AD5F-28093D6A0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713" y="6037065"/>
            <a:ext cx="590407" cy="575497"/>
          </a:xfrm>
          <a:prstGeom prst="rect">
            <a:avLst/>
          </a:prstGeom>
        </p:spPr>
      </p:pic>
      <p:pic>
        <p:nvPicPr>
          <p:cNvPr id="12" name="Graphic 11" descr="Single gear with solid fill">
            <a:extLst>
              <a:ext uri="{FF2B5EF4-FFF2-40B4-BE49-F238E27FC236}">
                <a16:creationId xmlns:a16="http://schemas.microsoft.com/office/drawing/2014/main" id="{DC18E3A6-72DB-414F-A854-D292F17EF8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37893" y="5990079"/>
            <a:ext cx="584595" cy="569831"/>
          </a:xfrm>
          <a:prstGeom prst="rect">
            <a:avLst/>
          </a:prstGeom>
        </p:spPr>
      </p:pic>
      <p:pic>
        <p:nvPicPr>
          <p:cNvPr id="14" name="Graphic 13" descr="Brain in head with solid fill">
            <a:extLst>
              <a:ext uri="{FF2B5EF4-FFF2-40B4-BE49-F238E27FC236}">
                <a16:creationId xmlns:a16="http://schemas.microsoft.com/office/drawing/2014/main" id="{DFB44E1D-D5AA-4942-AD68-FFD36245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50113" y="6002776"/>
            <a:ext cx="584595" cy="569832"/>
          </a:xfrm>
          <a:prstGeom prst="rect">
            <a:avLst/>
          </a:prstGeom>
        </p:spPr>
      </p:pic>
      <p:pic>
        <p:nvPicPr>
          <p:cNvPr id="22" name="Graphic 21" descr="Puzzle pieces with solid fill">
            <a:extLst>
              <a:ext uri="{FF2B5EF4-FFF2-40B4-BE49-F238E27FC236}">
                <a16:creationId xmlns:a16="http://schemas.microsoft.com/office/drawing/2014/main" id="{BBD82A88-B704-4C56-B4CF-3755E6E29E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07160" y="5911275"/>
            <a:ext cx="665437" cy="648632"/>
          </a:xfrm>
          <a:prstGeom prst="rect">
            <a:avLst/>
          </a:prstGeom>
        </p:spPr>
      </p:pic>
      <p:pic>
        <p:nvPicPr>
          <p:cNvPr id="15" name="Graphic 14" descr="Warning with solid fill">
            <a:extLst>
              <a:ext uri="{FF2B5EF4-FFF2-40B4-BE49-F238E27FC236}">
                <a16:creationId xmlns:a16="http://schemas.microsoft.com/office/drawing/2014/main" id="{B2D02278-5170-457C-8CAC-6C5B7A4314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56129" y="5930932"/>
            <a:ext cx="665439" cy="648633"/>
          </a:xfrm>
          <a:prstGeom prst="rect">
            <a:avLst/>
          </a:prstGeom>
        </p:spPr>
      </p:pic>
      <p:pic>
        <p:nvPicPr>
          <p:cNvPr id="7" name="Graphic 6" descr="Gauge with solid fill">
            <a:extLst>
              <a:ext uri="{FF2B5EF4-FFF2-40B4-BE49-F238E27FC236}">
                <a16:creationId xmlns:a16="http://schemas.microsoft.com/office/drawing/2014/main" id="{9E90DCD3-C959-4350-A96C-031D97FC5C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552036" y="5923976"/>
            <a:ext cx="586872" cy="572051"/>
          </a:xfrm>
          <a:prstGeom prst="rect">
            <a:avLst/>
          </a:prstGeom>
        </p:spPr>
      </p:pic>
      <p:pic>
        <p:nvPicPr>
          <p:cNvPr id="11" name="Graphic 10" descr="Playbook with solid fill">
            <a:extLst>
              <a:ext uri="{FF2B5EF4-FFF2-40B4-BE49-F238E27FC236}">
                <a16:creationId xmlns:a16="http://schemas.microsoft.com/office/drawing/2014/main" id="{F1B7BBAE-D2A6-4AB9-95C4-D4338FD3365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350661" y="5935492"/>
            <a:ext cx="665439" cy="648633"/>
          </a:xfrm>
          <a:prstGeom prst="rect">
            <a:avLst/>
          </a:prstGeom>
        </p:spPr>
      </p:pic>
      <p:pic>
        <p:nvPicPr>
          <p:cNvPr id="9" name="Picture 8">
            <a:extLst>
              <a:ext uri="{FF2B5EF4-FFF2-40B4-BE49-F238E27FC236}">
                <a16:creationId xmlns:a16="http://schemas.microsoft.com/office/drawing/2014/main" id="{2564B4F4-4C04-4450-925F-EBFD3D33D0D3}"/>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40429"/>
            <a:ext cx="12192000" cy="5858773"/>
          </a:xfrm>
          <a:prstGeom prst="rect">
            <a:avLst/>
          </a:prstGeom>
        </p:spPr>
      </p:pic>
      <p:sp>
        <p:nvSpPr>
          <p:cNvPr id="3" name="Flowchart: Connector 2">
            <a:extLst>
              <a:ext uri="{FF2B5EF4-FFF2-40B4-BE49-F238E27FC236}">
                <a16:creationId xmlns:a16="http://schemas.microsoft.com/office/drawing/2014/main" id="{6DDB08F0-86FB-44CB-84E9-8163356D8E32}"/>
              </a:ext>
            </a:extLst>
          </p:cNvPr>
          <p:cNvSpPr/>
          <p:nvPr/>
        </p:nvSpPr>
        <p:spPr>
          <a:xfrm>
            <a:off x="7215350" y="5170953"/>
            <a:ext cx="1089961" cy="1100599"/>
          </a:xfrm>
          <a:prstGeom prst="flowChartConnector">
            <a:avLst/>
          </a:prstGeom>
          <a:solidFill>
            <a:schemeClr val="accent2">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Graphic 15" descr="Classroom with solid fill">
            <a:extLst>
              <a:ext uri="{FF2B5EF4-FFF2-40B4-BE49-F238E27FC236}">
                <a16:creationId xmlns:a16="http://schemas.microsoft.com/office/drawing/2014/main" id="{2F5BF5D2-B902-4E23-914C-8B1B4E566A0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506031" y="5477833"/>
            <a:ext cx="573721" cy="559232"/>
          </a:xfrm>
          <a:prstGeom prst="rect">
            <a:avLst/>
          </a:prstGeom>
        </p:spPr>
      </p:pic>
    </p:spTree>
    <p:extLst>
      <p:ext uri="{BB962C8B-B14F-4D97-AF65-F5344CB8AC3E}">
        <p14:creationId xmlns:p14="http://schemas.microsoft.com/office/powerpoint/2010/main" val="4461308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961">
        <p159:morph option="byObject"/>
      </p:transition>
    </mc:Choice>
    <mc:Fallback>
      <p:transition spd="slow" advTm="961">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635</TotalTime>
  <Words>1525</Words>
  <Application>Microsoft Office PowerPoint</Application>
  <PresentationFormat>Widescreen</PresentationFormat>
  <Paragraphs>205</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DEEPAK BEHERA</dc:creator>
  <cp:lastModifiedBy>DEEPAK BEHERA</cp:lastModifiedBy>
  <cp:revision>430</cp:revision>
  <dcterms:created xsi:type="dcterms:W3CDTF">2026-01-22T16:19:54Z</dcterms:created>
  <dcterms:modified xsi:type="dcterms:W3CDTF">2026-02-09T15:54:05Z</dcterms:modified>
</cp:coreProperties>
</file>